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4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5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6.xml" ContentType="application/vnd.openxmlformats-officedocument.drawingml.chart+xml"/>
  <Override PartName="/ppt/notesSlides/notesSlide40.xml" ContentType="application/vnd.openxmlformats-officedocument.presentationml.notesSlide+xml"/>
  <Override PartName="/ppt/charts/chart7.xml" ContentType="application/vnd.openxmlformats-officedocument.drawingml.chart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rts/chart8.xml" ContentType="application/vnd.openxmlformats-officedocument.drawingml.chart+xml"/>
  <Override PartName="/ppt/notesSlides/notesSlide51.xml" ContentType="application/vnd.openxmlformats-officedocument.presentationml.notesSlide+xml"/>
  <Override PartName="/ppt/charts/chart9.xml" ContentType="application/vnd.openxmlformats-officedocument.drawingml.chart+xml"/>
  <Override PartName="/ppt/notesSlides/notesSlide52.xml" ContentType="application/vnd.openxmlformats-officedocument.presentationml.notesSlide+xml"/>
  <Override PartName="/ppt/charts/chart10.xml" ContentType="application/vnd.openxmlformats-officedocument.drawingml.chart+xml"/>
  <Override PartName="/ppt/notesSlides/notesSlide53.xml" ContentType="application/vnd.openxmlformats-officedocument.presentationml.notesSlide+xml"/>
  <Override PartName="/ppt/charts/chart11.xml" ContentType="application/vnd.openxmlformats-officedocument.drawingml.chart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rts/chart12.xml" ContentType="application/vnd.openxmlformats-officedocument.drawingml.chart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17" r:id="rId43"/>
    <p:sldId id="318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F"/>
                </a:solidFill>
                <a:latin typeface="Arial"/>
              </a:defRPr>
            </a:pPr>
            <a:r>
              <a:rPr lang="pt-BR" sz="1400" b="0" i="0" u="none" strike="noStrike">
                <a:solidFill>
                  <a:srgbClr val="0B2E4F"/>
                </a:solidFill>
                <a:latin typeface="Arial"/>
              </a:rPr>
              <a:t>Mesma produção máxima, formas diferentes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Schaefer (pico em 0,50 K)</c:v>
                </c:pt>
              </c:strCache>
            </c:strRef>
          </c:tx>
          <c:spPr>
            <a:ln w="3810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3.9600000000000003E-2</c:v>
                </c:pt>
                <c:pt idx="1">
                  <c:v>7.8399999999999997E-2</c:v>
                </c:pt>
                <c:pt idx="2">
                  <c:v>0.1164</c:v>
                </c:pt>
                <c:pt idx="3">
                  <c:v>0.15359999999999999</c:v>
                </c:pt>
                <c:pt idx="4">
                  <c:v>0.19</c:v>
                </c:pt>
                <c:pt idx="5">
                  <c:v>0.22559999999999999</c:v>
                </c:pt>
                <c:pt idx="6">
                  <c:v>0.26040000000000002</c:v>
                </c:pt>
                <c:pt idx="7">
                  <c:v>0.2944</c:v>
                </c:pt>
                <c:pt idx="8">
                  <c:v>0.3276</c:v>
                </c:pt>
                <c:pt idx="9">
                  <c:v>0.36</c:v>
                </c:pt>
                <c:pt idx="10">
                  <c:v>0.3916</c:v>
                </c:pt>
                <c:pt idx="11">
                  <c:v>0.4224</c:v>
                </c:pt>
                <c:pt idx="12">
                  <c:v>0.45240000000000002</c:v>
                </c:pt>
                <c:pt idx="13">
                  <c:v>0.48159999999999997</c:v>
                </c:pt>
                <c:pt idx="14">
                  <c:v>0.51</c:v>
                </c:pt>
                <c:pt idx="15">
                  <c:v>0.53759999999999997</c:v>
                </c:pt>
                <c:pt idx="16">
                  <c:v>0.56440000000000001</c:v>
                </c:pt>
                <c:pt idx="17">
                  <c:v>0.59040000000000004</c:v>
                </c:pt>
                <c:pt idx="18">
                  <c:v>0.61560000000000004</c:v>
                </c:pt>
                <c:pt idx="19">
                  <c:v>0.64</c:v>
                </c:pt>
                <c:pt idx="20">
                  <c:v>0.66359999999999997</c:v>
                </c:pt>
                <c:pt idx="21">
                  <c:v>0.68640000000000001</c:v>
                </c:pt>
                <c:pt idx="22">
                  <c:v>0.70840000000000003</c:v>
                </c:pt>
                <c:pt idx="23">
                  <c:v>0.72960000000000003</c:v>
                </c:pt>
                <c:pt idx="24">
                  <c:v>0.75</c:v>
                </c:pt>
                <c:pt idx="25">
                  <c:v>0.76959999999999995</c:v>
                </c:pt>
                <c:pt idx="26">
                  <c:v>0.78839999999999999</c:v>
                </c:pt>
                <c:pt idx="27">
                  <c:v>0.80640000000000001</c:v>
                </c:pt>
                <c:pt idx="28">
                  <c:v>0.8236</c:v>
                </c:pt>
                <c:pt idx="29">
                  <c:v>0.84</c:v>
                </c:pt>
                <c:pt idx="30">
                  <c:v>0.85560000000000003</c:v>
                </c:pt>
                <c:pt idx="31">
                  <c:v>0.87039999999999995</c:v>
                </c:pt>
                <c:pt idx="32">
                  <c:v>0.88439999999999996</c:v>
                </c:pt>
                <c:pt idx="33">
                  <c:v>0.89759999999999995</c:v>
                </c:pt>
                <c:pt idx="34">
                  <c:v>0.91</c:v>
                </c:pt>
                <c:pt idx="35">
                  <c:v>0.92159999999999997</c:v>
                </c:pt>
                <c:pt idx="36">
                  <c:v>0.93240000000000001</c:v>
                </c:pt>
                <c:pt idx="37">
                  <c:v>0.94240000000000002</c:v>
                </c:pt>
                <c:pt idx="38">
                  <c:v>0.9516</c:v>
                </c:pt>
                <c:pt idx="39">
                  <c:v>0.96</c:v>
                </c:pt>
                <c:pt idx="40">
                  <c:v>0.96760000000000002</c:v>
                </c:pt>
                <c:pt idx="41">
                  <c:v>0.97440000000000004</c:v>
                </c:pt>
                <c:pt idx="42">
                  <c:v>0.98040000000000005</c:v>
                </c:pt>
                <c:pt idx="43">
                  <c:v>0.98560000000000003</c:v>
                </c:pt>
                <c:pt idx="44">
                  <c:v>0.99</c:v>
                </c:pt>
                <c:pt idx="45">
                  <c:v>0.99360000000000004</c:v>
                </c:pt>
                <c:pt idx="46">
                  <c:v>0.99639999999999995</c:v>
                </c:pt>
                <c:pt idx="47">
                  <c:v>0.99839999999999995</c:v>
                </c:pt>
                <c:pt idx="48">
                  <c:v>0.99960000000000004</c:v>
                </c:pt>
                <c:pt idx="49">
                  <c:v>1</c:v>
                </c:pt>
                <c:pt idx="50">
                  <c:v>0.99960000000000004</c:v>
                </c:pt>
                <c:pt idx="51">
                  <c:v>0.99839999999999995</c:v>
                </c:pt>
                <c:pt idx="52">
                  <c:v>0.99639999999999995</c:v>
                </c:pt>
                <c:pt idx="53">
                  <c:v>0.99360000000000004</c:v>
                </c:pt>
                <c:pt idx="54">
                  <c:v>0.99</c:v>
                </c:pt>
                <c:pt idx="55">
                  <c:v>0.98560000000000003</c:v>
                </c:pt>
                <c:pt idx="56">
                  <c:v>0.98040000000000005</c:v>
                </c:pt>
                <c:pt idx="57">
                  <c:v>0.97440000000000004</c:v>
                </c:pt>
                <c:pt idx="58">
                  <c:v>0.96760000000000002</c:v>
                </c:pt>
                <c:pt idx="59">
                  <c:v>0.96</c:v>
                </c:pt>
                <c:pt idx="60">
                  <c:v>0.9516</c:v>
                </c:pt>
                <c:pt idx="61">
                  <c:v>0.94240000000000002</c:v>
                </c:pt>
                <c:pt idx="62">
                  <c:v>0.93240000000000001</c:v>
                </c:pt>
                <c:pt idx="63">
                  <c:v>0.92159999999999997</c:v>
                </c:pt>
                <c:pt idx="64">
                  <c:v>0.91</c:v>
                </c:pt>
                <c:pt idx="65">
                  <c:v>0.89759999999999995</c:v>
                </c:pt>
                <c:pt idx="66">
                  <c:v>0.88439999999999996</c:v>
                </c:pt>
                <c:pt idx="67">
                  <c:v>0.87039999999999995</c:v>
                </c:pt>
                <c:pt idx="68">
                  <c:v>0.85560000000000003</c:v>
                </c:pt>
                <c:pt idx="69">
                  <c:v>0.84</c:v>
                </c:pt>
                <c:pt idx="70">
                  <c:v>0.8236</c:v>
                </c:pt>
                <c:pt idx="71">
                  <c:v>0.80640000000000001</c:v>
                </c:pt>
                <c:pt idx="72">
                  <c:v>0.78839999999999999</c:v>
                </c:pt>
                <c:pt idx="73">
                  <c:v>0.76959999999999995</c:v>
                </c:pt>
                <c:pt idx="74">
                  <c:v>0.75</c:v>
                </c:pt>
                <c:pt idx="75">
                  <c:v>0.72960000000000003</c:v>
                </c:pt>
                <c:pt idx="76">
                  <c:v>0.70840000000000003</c:v>
                </c:pt>
                <c:pt idx="77">
                  <c:v>0.68640000000000001</c:v>
                </c:pt>
                <c:pt idx="78">
                  <c:v>0.66359999999999997</c:v>
                </c:pt>
                <c:pt idx="79">
                  <c:v>0.64</c:v>
                </c:pt>
                <c:pt idx="80">
                  <c:v>0.61560000000000004</c:v>
                </c:pt>
                <c:pt idx="81">
                  <c:v>0.59040000000000004</c:v>
                </c:pt>
                <c:pt idx="82">
                  <c:v>0.56440000000000001</c:v>
                </c:pt>
                <c:pt idx="83">
                  <c:v>0.53759999999999997</c:v>
                </c:pt>
                <c:pt idx="84">
                  <c:v>0.51</c:v>
                </c:pt>
                <c:pt idx="85">
                  <c:v>0.48159999999999997</c:v>
                </c:pt>
                <c:pt idx="86">
                  <c:v>0.45240000000000002</c:v>
                </c:pt>
                <c:pt idx="87">
                  <c:v>0.4224</c:v>
                </c:pt>
                <c:pt idx="88">
                  <c:v>0.3916</c:v>
                </c:pt>
                <c:pt idx="89">
                  <c:v>0.36</c:v>
                </c:pt>
                <c:pt idx="90">
                  <c:v>0.3276</c:v>
                </c:pt>
                <c:pt idx="91">
                  <c:v>0.2944</c:v>
                </c:pt>
                <c:pt idx="92">
                  <c:v>0.26040000000000002</c:v>
                </c:pt>
                <c:pt idx="93">
                  <c:v>0.22559999999999999</c:v>
                </c:pt>
                <c:pt idx="94">
                  <c:v>0.19</c:v>
                </c:pt>
                <c:pt idx="95">
                  <c:v>0.15359999999999999</c:v>
                </c:pt>
                <c:pt idx="96">
                  <c:v>0.1164</c:v>
                </c:pt>
                <c:pt idx="97">
                  <c:v>7.8399999999999997E-2</c:v>
                </c:pt>
                <c:pt idx="98">
                  <c:v>3.9600000000000003E-2</c:v>
                </c:pt>
                <c:pt idx="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FA-4D98-A498-E58A5E66F2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Fox (pico em 0,37 K)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Sheet1!$C$2:$C$101</c:f>
              <c:numCache>
                <c:formatCode>General</c:formatCode>
                <c:ptCount val="100"/>
                <c:pt idx="0">
                  <c:v>0.12520000000000001</c:v>
                </c:pt>
                <c:pt idx="1">
                  <c:v>0.2127</c:v>
                </c:pt>
                <c:pt idx="2">
                  <c:v>0.28599999999999998</c:v>
                </c:pt>
                <c:pt idx="3">
                  <c:v>0.35</c:v>
                </c:pt>
                <c:pt idx="4">
                  <c:v>0.40720000000000001</c:v>
                </c:pt>
                <c:pt idx="5">
                  <c:v>0.45889999999999997</c:v>
                </c:pt>
                <c:pt idx="6">
                  <c:v>0.50600000000000001</c:v>
                </c:pt>
                <c:pt idx="7">
                  <c:v>0.54930000000000001</c:v>
                </c:pt>
                <c:pt idx="8">
                  <c:v>0.58909999999999996</c:v>
                </c:pt>
                <c:pt idx="9">
                  <c:v>0.62590000000000001</c:v>
                </c:pt>
                <c:pt idx="10">
                  <c:v>0.66</c:v>
                </c:pt>
                <c:pt idx="11">
                  <c:v>0.69159999999999999</c:v>
                </c:pt>
                <c:pt idx="12">
                  <c:v>0.72099999999999997</c:v>
                </c:pt>
                <c:pt idx="13">
                  <c:v>0.74819999999999998</c:v>
                </c:pt>
                <c:pt idx="14">
                  <c:v>0.77349999999999997</c:v>
                </c:pt>
                <c:pt idx="15">
                  <c:v>0.79700000000000004</c:v>
                </c:pt>
                <c:pt idx="16">
                  <c:v>0.81879999999999997</c:v>
                </c:pt>
                <c:pt idx="17">
                  <c:v>0.83899999999999997</c:v>
                </c:pt>
                <c:pt idx="18">
                  <c:v>0.85770000000000002</c:v>
                </c:pt>
                <c:pt idx="19">
                  <c:v>0.875</c:v>
                </c:pt>
                <c:pt idx="20">
                  <c:v>0.89090000000000003</c:v>
                </c:pt>
                <c:pt idx="21">
                  <c:v>0.90549999999999997</c:v>
                </c:pt>
                <c:pt idx="22">
                  <c:v>0.91879999999999995</c:v>
                </c:pt>
                <c:pt idx="23">
                  <c:v>0.93100000000000005</c:v>
                </c:pt>
                <c:pt idx="24">
                  <c:v>0.94210000000000005</c:v>
                </c:pt>
                <c:pt idx="25">
                  <c:v>0.95199999999999996</c:v>
                </c:pt>
                <c:pt idx="26">
                  <c:v>0.96099999999999997</c:v>
                </c:pt>
                <c:pt idx="27">
                  <c:v>0.96889999999999998</c:v>
                </c:pt>
                <c:pt idx="28">
                  <c:v>0.9758</c:v>
                </c:pt>
                <c:pt idx="29">
                  <c:v>0.98180000000000001</c:v>
                </c:pt>
                <c:pt idx="30">
                  <c:v>0.9869</c:v>
                </c:pt>
                <c:pt idx="31">
                  <c:v>0.99109999999999998</c:v>
                </c:pt>
                <c:pt idx="32">
                  <c:v>0.99450000000000005</c:v>
                </c:pt>
                <c:pt idx="33">
                  <c:v>0.99709999999999999</c:v>
                </c:pt>
                <c:pt idx="34">
                  <c:v>0.99880000000000002</c:v>
                </c:pt>
                <c:pt idx="35">
                  <c:v>0.99980000000000002</c:v>
                </c:pt>
                <c:pt idx="36">
                  <c:v>1</c:v>
                </c:pt>
                <c:pt idx="37">
                  <c:v>0.99950000000000006</c:v>
                </c:pt>
                <c:pt idx="38">
                  <c:v>0.99819999999999998</c:v>
                </c:pt>
                <c:pt idx="39">
                  <c:v>0.99629999999999996</c:v>
                </c:pt>
                <c:pt idx="40">
                  <c:v>0.99370000000000003</c:v>
                </c:pt>
                <c:pt idx="41">
                  <c:v>0.99039999999999995</c:v>
                </c:pt>
                <c:pt idx="42">
                  <c:v>0.98650000000000004</c:v>
                </c:pt>
                <c:pt idx="43">
                  <c:v>0.9819</c:v>
                </c:pt>
                <c:pt idx="44">
                  <c:v>0.9768</c:v>
                </c:pt>
                <c:pt idx="45">
                  <c:v>0.97099999999999997</c:v>
                </c:pt>
                <c:pt idx="46">
                  <c:v>0.96460000000000001</c:v>
                </c:pt>
                <c:pt idx="47">
                  <c:v>0.9577</c:v>
                </c:pt>
                <c:pt idx="48">
                  <c:v>0.95020000000000004</c:v>
                </c:pt>
                <c:pt idx="49">
                  <c:v>0.94210000000000005</c:v>
                </c:pt>
                <c:pt idx="50">
                  <c:v>0.9335</c:v>
                </c:pt>
                <c:pt idx="51">
                  <c:v>0.92430000000000001</c:v>
                </c:pt>
                <c:pt idx="52">
                  <c:v>0.91469999999999996</c:v>
                </c:pt>
                <c:pt idx="53">
                  <c:v>0.90449999999999997</c:v>
                </c:pt>
                <c:pt idx="54">
                  <c:v>0.89380000000000004</c:v>
                </c:pt>
                <c:pt idx="55">
                  <c:v>0.88260000000000005</c:v>
                </c:pt>
                <c:pt idx="56">
                  <c:v>0.871</c:v>
                </c:pt>
                <c:pt idx="57">
                  <c:v>0.85880000000000001</c:v>
                </c:pt>
                <c:pt idx="58">
                  <c:v>0.84619999999999995</c:v>
                </c:pt>
                <c:pt idx="59">
                  <c:v>0.83309999999999995</c:v>
                </c:pt>
                <c:pt idx="60">
                  <c:v>0.8196</c:v>
                </c:pt>
                <c:pt idx="61">
                  <c:v>0.80569999999999997</c:v>
                </c:pt>
                <c:pt idx="62">
                  <c:v>0.79120000000000001</c:v>
                </c:pt>
                <c:pt idx="63">
                  <c:v>0.77639999999999998</c:v>
                </c:pt>
                <c:pt idx="64">
                  <c:v>0.7611</c:v>
                </c:pt>
                <c:pt idx="65">
                  <c:v>0.74550000000000005</c:v>
                </c:pt>
                <c:pt idx="66">
                  <c:v>0.72940000000000005</c:v>
                </c:pt>
                <c:pt idx="67">
                  <c:v>0.71289999999999998</c:v>
                </c:pt>
                <c:pt idx="68">
                  <c:v>0.69599999999999995</c:v>
                </c:pt>
                <c:pt idx="69">
                  <c:v>0.67869999999999997</c:v>
                </c:pt>
                <c:pt idx="70">
                  <c:v>0.66100000000000003</c:v>
                </c:pt>
                <c:pt idx="71">
                  <c:v>0.64290000000000003</c:v>
                </c:pt>
                <c:pt idx="72">
                  <c:v>0.62450000000000006</c:v>
                </c:pt>
                <c:pt idx="73">
                  <c:v>0.60570000000000002</c:v>
                </c:pt>
                <c:pt idx="74">
                  <c:v>0.58650000000000002</c:v>
                </c:pt>
                <c:pt idx="75">
                  <c:v>0.56699999999999995</c:v>
                </c:pt>
                <c:pt idx="76">
                  <c:v>0.54710000000000003</c:v>
                </c:pt>
                <c:pt idx="77">
                  <c:v>0.52680000000000005</c:v>
                </c:pt>
                <c:pt idx="78">
                  <c:v>0.50619999999999998</c:v>
                </c:pt>
                <c:pt idx="79">
                  <c:v>0.48530000000000001</c:v>
                </c:pt>
                <c:pt idx="80">
                  <c:v>0.46400000000000002</c:v>
                </c:pt>
                <c:pt idx="81">
                  <c:v>0.44230000000000003</c:v>
                </c:pt>
                <c:pt idx="82">
                  <c:v>0.4204</c:v>
                </c:pt>
                <c:pt idx="83">
                  <c:v>0.39810000000000001</c:v>
                </c:pt>
                <c:pt idx="84">
                  <c:v>0.3755</c:v>
                </c:pt>
                <c:pt idx="85">
                  <c:v>0.35260000000000002</c:v>
                </c:pt>
                <c:pt idx="86">
                  <c:v>0.32929999999999998</c:v>
                </c:pt>
                <c:pt idx="87">
                  <c:v>0.30580000000000002</c:v>
                </c:pt>
                <c:pt idx="88">
                  <c:v>0.28189999999999998</c:v>
                </c:pt>
                <c:pt idx="89">
                  <c:v>0.25779999999999997</c:v>
                </c:pt>
                <c:pt idx="90">
                  <c:v>0.23330000000000001</c:v>
                </c:pt>
                <c:pt idx="91">
                  <c:v>0.20849999999999999</c:v>
                </c:pt>
                <c:pt idx="92">
                  <c:v>0.1835</c:v>
                </c:pt>
                <c:pt idx="93">
                  <c:v>0.15809999999999999</c:v>
                </c:pt>
                <c:pt idx="94">
                  <c:v>0.13250000000000001</c:v>
                </c:pt>
                <c:pt idx="95">
                  <c:v>0.1065</c:v>
                </c:pt>
                <c:pt idx="96">
                  <c:v>8.0299999999999996E-2</c:v>
                </c:pt>
                <c:pt idx="97">
                  <c:v>5.3800000000000001E-2</c:v>
                </c:pt>
                <c:pt idx="98">
                  <c:v>2.7E-2</c:v>
                </c:pt>
                <c:pt idx="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FA-4D98-A498-E58A5E66F2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Biomassa relativa (B/K)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0.1"/>
      </c:val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Produção / MSY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D2A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F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B2E4F"/>
                </a:solidFill>
                <a:latin typeface="Arial"/>
              </a:rPr>
              <a:t>Quatro formas, mesmo MSY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 = 0,5 (pico 0,25)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0.36</c:v>
                </c:pt>
                <c:pt idx="1">
                  <c:v>0.48570000000000002</c:v>
                </c:pt>
                <c:pt idx="2">
                  <c:v>0.57279999999999998</c:v>
                </c:pt>
                <c:pt idx="3">
                  <c:v>0.64</c:v>
                </c:pt>
                <c:pt idx="4">
                  <c:v>0.69440000000000002</c:v>
                </c:pt>
                <c:pt idx="5">
                  <c:v>0.73980000000000001</c:v>
                </c:pt>
                <c:pt idx="6">
                  <c:v>0.77829999999999999</c:v>
                </c:pt>
                <c:pt idx="7">
                  <c:v>0.81140000000000001</c:v>
                </c:pt>
                <c:pt idx="8">
                  <c:v>0.84</c:v>
                </c:pt>
                <c:pt idx="9">
                  <c:v>0.8649</c:v>
                </c:pt>
                <c:pt idx="10">
                  <c:v>0.88660000000000005</c:v>
                </c:pt>
                <c:pt idx="11">
                  <c:v>0.90559999999999996</c:v>
                </c:pt>
                <c:pt idx="12">
                  <c:v>0.92220000000000002</c:v>
                </c:pt>
                <c:pt idx="13">
                  <c:v>0.93669999999999998</c:v>
                </c:pt>
                <c:pt idx="14">
                  <c:v>0.94920000000000004</c:v>
                </c:pt>
                <c:pt idx="15">
                  <c:v>0.96</c:v>
                </c:pt>
                <c:pt idx="16">
                  <c:v>0.96919999999999995</c:v>
                </c:pt>
                <c:pt idx="17">
                  <c:v>0.97709999999999997</c:v>
                </c:pt>
                <c:pt idx="18">
                  <c:v>0.98360000000000003</c:v>
                </c:pt>
                <c:pt idx="19">
                  <c:v>0.9889</c:v>
                </c:pt>
                <c:pt idx="20">
                  <c:v>0.99299999999999999</c:v>
                </c:pt>
                <c:pt idx="21">
                  <c:v>0.99619999999999997</c:v>
                </c:pt>
                <c:pt idx="22">
                  <c:v>0.99829999999999997</c:v>
                </c:pt>
                <c:pt idx="23">
                  <c:v>0.99960000000000004</c:v>
                </c:pt>
                <c:pt idx="24">
                  <c:v>1</c:v>
                </c:pt>
                <c:pt idx="25">
                  <c:v>0.99960000000000004</c:v>
                </c:pt>
                <c:pt idx="26">
                  <c:v>0.99850000000000005</c:v>
                </c:pt>
                <c:pt idx="27">
                  <c:v>0.99660000000000004</c:v>
                </c:pt>
                <c:pt idx="28">
                  <c:v>0.99409999999999998</c:v>
                </c:pt>
                <c:pt idx="29">
                  <c:v>0.9909</c:v>
                </c:pt>
                <c:pt idx="30">
                  <c:v>0.98709999999999998</c:v>
                </c:pt>
                <c:pt idx="31">
                  <c:v>0.98270000000000002</c:v>
                </c:pt>
                <c:pt idx="32">
                  <c:v>0.9778</c:v>
                </c:pt>
                <c:pt idx="33">
                  <c:v>0.97240000000000004</c:v>
                </c:pt>
                <c:pt idx="34">
                  <c:v>0.96640000000000004</c:v>
                </c:pt>
                <c:pt idx="35">
                  <c:v>0.96</c:v>
                </c:pt>
                <c:pt idx="36">
                  <c:v>0.95309999999999995</c:v>
                </c:pt>
                <c:pt idx="37">
                  <c:v>0.94579999999999997</c:v>
                </c:pt>
                <c:pt idx="38">
                  <c:v>0.93799999999999994</c:v>
                </c:pt>
                <c:pt idx="39">
                  <c:v>0.92979999999999996</c:v>
                </c:pt>
                <c:pt idx="40">
                  <c:v>0.92120000000000002</c:v>
                </c:pt>
                <c:pt idx="41">
                  <c:v>0.9123</c:v>
                </c:pt>
                <c:pt idx="42">
                  <c:v>0.90300000000000002</c:v>
                </c:pt>
                <c:pt idx="43">
                  <c:v>0.89329999999999998</c:v>
                </c:pt>
                <c:pt idx="44">
                  <c:v>0.88329999999999997</c:v>
                </c:pt>
                <c:pt idx="45">
                  <c:v>0.87290000000000001</c:v>
                </c:pt>
                <c:pt idx="46">
                  <c:v>0.86229999999999996</c:v>
                </c:pt>
                <c:pt idx="47">
                  <c:v>0.85129999999999995</c:v>
                </c:pt>
                <c:pt idx="48">
                  <c:v>0.84</c:v>
                </c:pt>
                <c:pt idx="49">
                  <c:v>0.82840000000000003</c:v>
                </c:pt>
                <c:pt idx="50">
                  <c:v>0.81659999999999999</c:v>
                </c:pt>
                <c:pt idx="51">
                  <c:v>0.8044</c:v>
                </c:pt>
                <c:pt idx="52">
                  <c:v>0.79200000000000004</c:v>
                </c:pt>
                <c:pt idx="53">
                  <c:v>0.77939999999999998</c:v>
                </c:pt>
                <c:pt idx="54">
                  <c:v>0.76649999999999996</c:v>
                </c:pt>
                <c:pt idx="55">
                  <c:v>0.75329999999999997</c:v>
                </c:pt>
                <c:pt idx="56">
                  <c:v>0.7399</c:v>
                </c:pt>
                <c:pt idx="57">
                  <c:v>0.72629999999999995</c:v>
                </c:pt>
                <c:pt idx="58">
                  <c:v>0.71250000000000002</c:v>
                </c:pt>
                <c:pt idx="59">
                  <c:v>0.69840000000000002</c:v>
                </c:pt>
                <c:pt idx="60">
                  <c:v>0.68410000000000004</c:v>
                </c:pt>
                <c:pt idx="61">
                  <c:v>0.66959999999999997</c:v>
                </c:pt>
                <c:pt idx="62">
                  <c:v>0.65490000000000004</c:v>
                </c:pt>
                <c:pt idx="63">
                  <c:v>0.64</c:v>
                </c:pt>
                <c:pt idx="64">
                  <c:v>0.62490000000000001</c:v>
                </c:pt>
                <c:pt idx="65">
                  <c:v>0.60960000000000003</c:v>
                </c:pt>
                <c:pt idx="66">
                  <c:v>0.59409999999999996</c:v>
                </c:pt>
                <c:pt idx="67">
                  <c:v>0.57850000000000001</c:v>
                </c:pt>
                <c:pt idx="68">
                  <c:v>0.56259999999999999</c:v>
                </c:pt>
                <c:pt idx="69">
                  <c:v>0.54659999999999997</c:v>
                </c:pt>
                <c:pt idx="70">
                  <c:v>0.53049999999999997</c:v>
                </c:pt>
                <c:pt idx="71">
                  <c:v>0.5141</c:v>
                </c:pt>
                <c:pt idx="72">
                  <c:v>0.49759999999999999</c:v>
                </c:pt>
                <c:pt idx="73">
                  <c:v>0.48089999999999999</c:v>
                </c:pt>
                <c:pt idx="74">
                  <c:v>0.46410000000000001</c:v>
                </c:pt>
                <c:pt idx="75">
                  <c:v>0.4471</c:v>
                </c:pt>
                <c:pt idx="76">
                  <c:v>0.43</c:v>
                </c:pt>
                <c:pt idx="77">
                  <c:v>0.41270000000000001</c:v>
                </c:pt>
                <c:pt idx="78">
                  <c:v>0.39529999999999998</c:v>
                </c:pt>
                <c:pt idx="79">
                  <c:v>0.37769999999999998</c:v>
                </c:pt>
                <c:pt idx="80">
                  <c:v>0.36</c:v>
                </c:pt>
                <c:pt idx="81">
                  <c:v>0.3422</c:v>
                </c:pt>
                <c:pt idx="82">
                  <c:v>0.32419999999999999</c:v>
                </c:pt>
                <c:pt idx="83">
                  <c:v>0.30609999999999998</c:v>
                </c:pt>
                <c:pt idx="84">
                  <c:v>0.2878</c:v>
                </c:pt>
                <c:pt idx="85">
                  <c:v>0.26939999999999997</c:v>
                </c:pt>
                <c:pt idx="86">
                  <c:v>0.251</c:v>
                </c:pt>
                <c:pt idx="87">
                  <c:v>0.23230000000000001</c:v>
                </c:pt>
                <c:pt idx="88">
                  <c:v>0.21360000000000001</c:v>
                </c:pt>
                <c:pt idx="89">
                  <c:v>0.19470000000000001</c:v>
                </c:pt>
                <c:pt idx="90">
                  <c:v>0.17580000000000001</c:v>
                </c:pt>
                <c:pt idx="91">
                  <c:v>0.15670000000000001</c:v>
                </c:pt>
                <c:pt idx="92">
                  <c:v>0.13750000000000001</c:v>
                </c:pt>
                <c:pt idx="93">
                  <c:v>0.1181</c:v>
                </c:pt>
                <c:pt idx="94">
                  <c:v>9.8699999999999996E-2</c:v>
                </c:pt>
                <c:pt idx="95">
                  <c:v>7.9200000000000007E-2</c:v>
                </c:pt>
                <c:pt idx="96">
                  <c:v>5.9499999999999997E-2</c:v>
                </c:pt>
                <c:pt idx="97">
                  <c:v>3.9800000000000002E-2</c:v>
                </c:pt>
                <c:pt idx="98">
                  <c:v>1.9900000000000001E-2</c:v>
                </c:pt>
                <c:pt idx="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B7D-4246-B128-96A405BD5D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 ≈ 1 · Fox (0,37)</c:v>
                </c:pt>
              </c:strCache>
            </c:strRef>
          </c:tx>
          <c:spPr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Sheet1!$C$2:$C$101</c:f>
              <c:numCache>
                <c:formatCode>General</c:formatCode>
                <c:ptCount val="100"/>
                <c:pt idx="0">
                  <c:v>0.12520000000000001</c:v>
                </c:pt>
                <c:pt idx="1">
                  <c:v>0.21260000000000001</c:v>
                </c:pt>
                <c:pt idx="2">
                  <c:v>0.28589999999999999</c:v>
                </c:pt>
                <c:pt idx="3">
                  <c:v>0.35</c:v>
                </c:pt>
                <c:pt idx="4">
                  <c:v>0.40710000000000002</c:v>
                </c:pt>
                <c:pt idx="5">
                  <c:v>0.45879999999999999</c:v>
                </c:pt>
                <c:pt idx="6">
                  <c:v>0.50600000000000001</c:v>
                </c:pt>
                <c:pt idx="7">
                  <c:v>0.54920000000000002</c:v>
                </c:pt>
                <c:pt idx="8">
                  <c:v>0.58909999999999996</c:v>
                </c:pt>
                <c:pt idx="9">
                  <c:v>0.62590000000000001</c:v>
                </c:pt>
                <c:pt idx="10">
                  <c:v>0.66</c:v>
                </c:pt>
                <c:pt idx="11">
                  <c:v>0.69159999999999999</c:v>
                </c:pt>
                <c:pt idx="12">
                  <c:v>0.72089999999999999</c:v>
                </c:pt>
                <c:pt idx="13">
                  <c:v>0.74819999999999998</c:v>
                </c:pt>
                <c:pt idx="14">
                  <c:v>0.77349999999999997</c:v>
                </c:pt>
                <c:pt idx="15">
                  <c:v>0.79700000000000004</c:v>
                </c:pt>
                <c:pt idx="16">
                  <c:v>0.81879999999999997</c:v>
                </c:pt>
                <c:pt idx="17">
                  <c:v>0.83899999999999997</c:v>
                </c:pt>
                <c:pt idx="18">
                  <c:v>0.85770000000000002</c:v>
                </c:pt>
                <c:pt idx="19">
                  <c:v>0.875</c:v>
                </c:pt>
                <c:pt idx="20">
                  <c:v>0.89090000000000003</c:v>
                </c:pt>
                <c:pt idx="21">
                  <c:v>0.90549999999999997</c:v>
                </c:pt>
                <c:pt idx="22">
                  <c:v>0.91879999999999995</c:v>
                </c:pt>
                <c:pt idx="23">
                  <c:v>0.93100000000000005</c:v>
                </c:pt>
                <c:pt idx="24">
                  <c:v>0.94210000000000005</c:v>
                </c:pt>
                <c:pt idx="25">
                  <c:v>0.95199999999999996</c:v>
                </c:pt>
                <c:pt idx="26">
                  <c:v>0.96099999999999997</c:v>
                </c:pt>
                <c:pt idx="27">
                  <c:v>0.96889999999999998</c:v>
                </c:pt>
                <c:pt idx="28">
                  <c:v>0.9758</c:v>
                </c:pt>
                <c:pt idx="29">
                  <c:v>0.98180000000000001</c:v>
                </c:pt>
                <c:pt idx="30">
                  <c:v>0.9869</c:v>
                </c:pt>
                <c:pt idx="31">
                  <c:v>0.99109999999999998</c:v>
                </c:pt>
                <c:pt idx="32">
                  <c:v>0.99450000000000005</c:v>
                </c:pt>
                <c:pt idx="33">
                  <c:v>0.997</c:v>
                </c:pt>
                <c:pt idx="34">
                  <c:v>0.99880000000000002</c:v>
                </c:pt>
                <c:pt idx="35">
                  <c:v>0.99980000000000002</c:v>
                </c:pt>
                <c:pt idx="36">
                  <c:v>1</c:v>
                </c:pt>
                <c:pt idx="37">
                  <c:v>0.99950000000000006</c:v>
                </c:pt>
                <c:pt idx="38">
                  <c:v>0.99819999999999998</c:v>
                </c:pt>
                <c:pt idx="39">
                  <c:v>0.99629999999999996</c:v>
                </c:pt>
                <c:pt idx="40">
                  <c:v>0.99370000000000003</c:v>
                </c:pt>
                <c:pt idx="41">
                  <c:v>0.99039999999999995</c:v>
                </c:pt>
                <c:pt idx="42">
                  <c:v>0.98650000000000004</c:v>
                </c:pt>
                <c:pt idx="43">
                  <c:v>0.9819</c:v>
                </c:pt>
                <c:pt idx="44">
                  <c:v>0.9768</c:v>
                </c:pt>
                <c:pt idx="45">
                  <c:v>0.97099999999999997</c:v>
                </c:pt>
                <c:pt idx="46">
                  <c:v>0.96460000000000001</c:v>
                </c:pt>
                <c:pt idx="47">
                  <c:v>0.9577</c:v>
                </c:pt>
                <c:pt idx="48">
                  <c:v>0.95020000000000004</c:v>
                </c:pt>
                <c:pt idx="49">
                  <c:v>0.94210000000000005</c:v>
                </c:pt>
                <c:pt idx="50">
                  <c:v>0.9335</c:v>
                </c:pt>
                <c:pt idx="51">
                  <c:v>0.92430000000000001</c:v>
                </c:pt>
                <c:pt idx="52">
                  <c:v>0.91469999999999996</c:v>
                </c:pt>
                <c:pt idx="53">
                  <c:v>0.90449999999999997</c:v>
                </c:pt>
                <c:pt idx="54">
                  <c:v>0.89380000000000004</c:v>
                </c:pt>
                <c:pt idx="55">
                  <c:v>0.88260000000000005</c:v>
                </c:pt>
                <c:pt idx="56">
                  <c:v>0.871</c:v>
                </c:pt>
                <c:pt idx="57">
                  <c:v>0.85880000000000001</c:v>
                </c:pt>
                <c:pt idx="58">
                  <c:v>0.84619999999999995</c:v>
                </c:pt>
                <c:pt idx="59">
                  <c:v>0.83320000000000005</c:v>
                </c:pt>
                <c:pt idx="60">
                  <c:v>0.8196</c:v>
                </c:pt>
                <c:pt idx="61">
                  <c:v>0.80569999999999997</c:v>
                </c:pt>
                <c:pt idx="62">
                  <c:v>0.7913</c:v>
                </c:pt>
                <c:pt idx="63">
                  <c:v>0.77639999999999998</c:v>
                </c:pt>
                <c:pt idx="64">
                  <c:v>0.76119999999999999</c:v>
                </c:pt>
                <c:pt idx="65">
                  <c:v>0.74550000000000005</c:v>
                </c:pt>
                <c:pt idx="66">
                  <c:v>0.72940000000000005</c:v>
                </c:pt>
                <c:pt idx="67">
                  <c:v>0.71289999999999998</c:v>
                </c:pt>
                <c:pt idx="68">
                  <c:v>0.69599999999999995</c:v>
                </c:pt>
                <c:pt idx="69">
                  <c:v>0.67869999999999997</c:v>
                </c:pt>
                <c:pt idx="70">
                  <c:v>0.66100000000000003</c:v>
                </c:pt>
                <c:pt idx="71">
                  <c:v>0.64300000000000002</c:v>
                </c:pt>
                <c:pt idx="72">
                  <c:v>0.62450000000000006</c:v>
                </c:pt>
                <c:pt idx="73">
                  <c:v>0.60570000000000002</c:v>
                </c:pt>
                <c:pt idx="74">
                  <c:v>0.58650000000000002</c:v>
                </c:pt>
                <c:pt idx="75">
                  <c:v>0.56699999999999995</c:v>
                </c:pt>
                <c:pt idx="76">
                  <c:v>0.54710000000000003</c:v>
                </c:pt>
                <c:pt idx="77">
                  <c:v>0.52680000000000005</c:v>
                </c:pt>
                <c:pt idx="78">
                  <c:v>0.50619999999999998</c:v>
                </c:pt>
                <c:pt idx="79">
                  <c:v>0.48530000000000001</c:v>
                </c:pt>
                <c:pt idx="80">
                  <c:v>0.46400000000000002</c:v>
                </c:pt>
                <c:pt idx="81">
                  <c:v>0.44240000000000002</c:v>
                </c:pt>
                <c:pt idx="82">
                  <c:v>0.4204</c:v>
                </c:pt>
                <c:pt idx="83">
                  <c:v>0.39810000000000001</c:v>
                </c:pt>
                <c:pt idx="84">
                  <c:v>0.3755</c:v>
                </c:pt>
                <c:pt idx="85">
                  <c:v>0.35260000000000002</c:v>
                </c:pt>
                <c:pt idx="86">
                  <c:v>0.32940000000000003</c:v>
                </c:pt>
                <c:pt idx="87">
                  <c:v>0.30580000000000002</c:v>
                </c:pt>
                <c:pt idx="88">
                  <c:v>0.28189999999999998</c:v>
                </c:pt>
                <c:pt idx="89">
                  <c:v>0.25779999999999997</c:v>
                </c:pt>
                <c:pt idx="90">
                  <c:v>0.23330000000000001</c:v>
                </c:pt>
                <c:pt idx="91">
                  <c:v>0.20849999999999999</c:v>
                </c:pt>
                <c:pt idx="92">
                  <c:v>0.1835</c:v>
                </c:pt>
                <c:pt idx="93">
                  <c:v>0.15809999999999999</c:v>
                </c:pt>
                <c:pt idx="94">
                  <c:v>0.13250000000000001</c:v>
                </c:pt>
                <c:pt idx="95">
                  <c:v>0.1065</c:v>
                </c:pt>
                <c:pt idx="96">
                  <c:v>8.0299999999999996E-2</c:v>
                </c:pt>
                <c:pt idx="97">
                  <c:v>5.3800000000000001E-2</c:v>
                </c:pt>
                <c:pt idx="98">
                  <c:v>2.7E-2</c:v>
                </c:pt>
                <c:pt idx="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B7D-4246-B128-96A405BD5D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 = 2 · Schaefer (0,50)</c:v>
                </c:pt>
              </c:strCache>
            </c:strRef>
          </c:tx>
          <c:spPr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Sheet1!$D$2:$D$101</c:f>
              <c:numCache>
                <c:formatCode>General</c:formatCode>
                <c:ptCount val="100"/>
                <c:pt idx="0">
                  <c:v>3.9600000000000003E-2</c:v>
                </c:pt>
                <c:pt idx="1">
                  <c:v>7.8399999999999997E-2</c:v>
                </c:pt>
                <c:pt idx="2">
                  <c:v>0.1164</c:v>
                </c:pt>
                <c:pt idx="3">
                  <c:v>0.15359999999999999</c:v>
                </c:pt>
                <c:pt idx="4">
                  <c:v>0.19</c:v>
                </c:pt>
                <c:pt idx="5">
                  <c:v>0.22559999999999999</c:v>
                </c:pt>
                <c:pt idx="6">
                  <c:v>0.26040000000000002</c:v>
                </c:pt>
                <c:pt idx="7">
                  <c:v>0.2944</c:v>
                </c:pt>
                <c:pt idx="8">
                  <c:v>0.3276</c:v>
                </c:pt>
                <c:pt idx="9">
                  <c:v>0.36</c:v>
                </c:pt>
                <c:pt idx="10">
                  <c:v>0.3916</c:v>
                </c:pt>
                <c:pt idx="11">
                  <c:v>0.4224</c:v>
                </c:pt>
                <c:pt idx="12">
                  <c:v>0.45240000000000002</c:v>
                </c:pt>
                <c:pt idx="13">
                  <c:v>0.48159999999999997</c:v>
                </c:pt>
                <c:pt idx="14">
                  <c:v>0.51</c:v>
                </c:pt>
                <c:pt idx="15">
                  <c:v>0.53759999999999997</c:v>
                </c:pt>
                <c:pt idx="16">
                  <c:v>0.56440000000000001</c:v>
                </c:pt>
                <c:pt idx="17">
                  <c:v>0.59040000000000004</c:v>
                </c:pt>
                <c:pt idx="18">
                  <c:v>0.61560000000000004</c:v>
                </c:pt>
                <c:pt idx="19">
                  <c:v>0.64</c:v>
                </c:pt>
                <c:pt idx="20">
                  <c:v>0.66359999999999997</c:v>
                </c:pt>
                <c:pt idx="21">
                  <c:v>0.68640000000000001</c:v>
                </c:pt>
                <c:pt idx="22">
                  <c:v>0.70840000000000003</c:v>
                </c:pt>
                <c:pt idx="23">
                  <c:v>0.72960000000000003</c:v>
                </c:pt>
                <c:pt idx="24">
                  <c:v>0.75</c:v>
                </c:pt>
                <c:pt idx="25">
                  <c:v>0.76959999999999995</c:v>
                </c:pt>
                <c:pt idx="26">
                  <c:v>0.78839999999999999</c:v>
                </c:pt>
                <c:pt idx="27">
                  <c:v>0.80640000000000001</c:v>
                </c:pt>
                <c:pt idx="28">
                  <c:v>0.8236</c:v>
                </c:pt>
                <c:pt idx="29">
                  <c:v>0.84</c:v>
                </c:pt>
                <c:pt idx="30">
                  <c:v>0.85560000000000003</c:v>
                </c:pt>
                <c:pt idx="31">
                  <c:v>0.87039999999999995</c:v>
                </c:pt>
                <c:pt idx="32">
                  <c:v>0.88439999999999996</c:v>
                </c:pt>
                <c:pt idx="33">
                  <c:v>0.89759999999999995</c:v>
                </c:pt>
                <c:pt idx="34">
                  <c:v>0.91</c:v>
                </c:pt>
                <c:pt idx="35">
                  <c:v>0.92159999999999997</c:v>
                </c:pt>
                <c:pt idx="36">
                  <c:v>0.93240000000000001</c:v>
                </c:pt>
                <c:pt idx="37">
                  <c:v>0.94240000000000002</c:v>
                </c:pt>
                <c:pt idx="38">
                  <c:v>0.9516</c:v>
                </c:pt>
                <c:pt idx="39">
                  <c:v>0.96</c:v>
                </c:pt>
                <c:pt idx="40">
                  <c:v>0.96760000000000002</c:v>
                </c:pt>
                <c:pt idx="41">
                  <c:v>0.97440000000000004</c:v>
                </c:pt>
                <c:pt idx="42">
                  <c:v>0.98040000000000005</c:v>
                </c:pt>
                <c:pt idx="43">
                  <c:v>0.98560000000000003</c:v>
                </c:pt>
                <c:pt idx="44">
                  <c:v>0.99</c:v>
                </c:pt>
                <c:pt idx="45">
                  <c:v>0.99360000000000004</c:v>
                </c:pt>
                <c:pt idx="46">
                  <c:v>0.99639999999999995</c:v>
                </c:pt>
                <c:pt idx="47">
                  <c:v>0.99839999999999995</c:v>
                </c:pt>
                <c:pt idx="48">
                  <c:v>0.99960000000000004</c:v>
                </c:pt>
                <c:pt idx="49">
                  <c:v>1</c:v>
                </c:pt>
                <c:pt idx="50">
                  <c:v>0.99960000000000004</c:v>
                </c:pt>
                <c:pt idx="51">
                  <c:v>0.99839999999999995</c:v>
                </c:pt>
                <c:pt idx="52">
                  <c:v>0.99639999999999995</c:v>
                </c:pt>
                <c:pt idx="53">
                  <c:v>0.99360000000000004</c:v>
                </c:pt>
                <c:pt idx="54">
                  <c:v>0.99</c:v>
                </c:pt>
                <c:pt idx="55">
                  <c:v>0.98560000000000003</c:v>
                </c:pt>
                <c:pt idx="56">
                  <c:v>0.98040000000000005</c:v>
                </c:pt>
                <c:pt idx="57">
                  <c:v>0.97440000000000004</c:v>
                </c:pt>
                <c:pt idx="58">
                  <c:v>0.96760000000000002</c:v>
                </c:pt>
                <c:pt idx="59">
                  <c:v>0.96</c:v>
                </c:pt>
                <c:pt idx="60">
                  <c:v>0.9516</c:v>
                </c:pt>
                <c:pt idx="61">
                  <c:v>0.94240000000000002</c:v>
                </c:pt>
                <c:pt idx="62">
                  <c:v>0.93240000000000001</c:v>
                </c:pt>
                <c:pt idx="63">
                  <c:v>0.92159999999999997</c:v>
                </c:pt>
                <c:pt idx="64">
                  <c:v>0.91</c:v>
                </c:pt>
                <c:pt idx="65">
                  <c:v>0.89759999999999995</c:v>
                </c:pt>
                <c:pt idx="66">
                  <c:v>0.88439999999999996</c:v>
                </c:pt>
                <c:pt idx="67">
                  <c:v>0.87039999999999995</c:v>
                </c:pt>
                <c:pt idx="68">
                  <c:v>0.85560000000000003</c:v>
                </c:pt>
                <c:pt idx="69">
                  <c:v>0.84</c:v>
                </c:pt>
                <c:pt idx="70">
                  <c:v>0.8236</c:v>
                </c:pt>
                <c:pt idx="71">
                  <c:v>0.80640000000000001</c:v>
                </c:pt>
                <c:pt idx="72">
                  <c:v>0.78839999999999999</c:v>
                </c:pt>
                <c:pt idx="73">
                  <c:v>0.76959999999999995</c:v>
                </c:pt>
                <c:pt idx="74">
                  <c:v>0.75</c:v>
                </c:pt>
                <c:pt idx="75">
                  <c:v>0.72960000000000003</c:v>
                </c:pt>
                <c:pt idx="76">
                  <c:v>0.70840000000000003</c:v>
                </c:pt>
                <c:pt idx="77">
                  <c:v>0.68640000000000001</c:v>
                </c:pt>
                <c:pt idx="78">
                  <c:v>0.66359999999999997</c:v>
                </c:pt>
                <c:pt idx="79">
                  <c:v>0.64</c:v>
                </c:pt>
                <c:pt idx="80">
                  <c:v>0.61560000000000004</c:v>
                </c:pt>
                <c:pt idx="81">
                  <c:v>0.59040000000000004</c:v>
                </c:pt>
                <c:pt idx="82">
                  <c:v>0.56440000000000001</c:v>
                </c:pt>
                <c:pt idx="83">
                  <c:v>0.53759999999999997</c:v>
                </c:pt>
                <c:pt idx="84">
                  <c:v>0.51</c:v>
                </c:pt>
                <c:pt idx="85">
                  <c:v>0.48159999999999997</c:v>
                </c:pt>
                <c:pt idx="86">
                  <c:v>0.45240000000000002</c:v>
                </c:pt>
                <c:pt idx="87">
                  <c:v>0.4224</c:v>
                </c:pt>
                <c:pt idx="88">
                  <c:v>0.3916</c:v>
                </c:pt>
                <c:pt idx="89">
                  <c:v>0.36</c:v>
                </c:pt>
                <c:pt idx="90">
                  <c:v>0.3276</c:v>
                </c:pt>
                <c:pt idx="91">
                  <c:v>0.2944</c:v>
                </c:pt>
                <c:pt idx="92">
                  <c:v>0.26040000000000002</c:v>
                </c:pt>
                <c:pt idx="93">
                  <c:v>0.22559999999999999</c:v>
                </c:pt>
                <c:pt idx="94">
                  <c:v>0.19</c:v>
                </c:pt>
                <c:pt idx="95">
                  <c:v>0.15359999999999999</c:v>
                </c:pt>
                <c:pt idx="96">
                  <c:v>0.1164</c:v>
                </c:pt>
                <c:pt idx="97">
                  <c:v>7.8399999999999997E-2</c:v>
                </c:pt>
                <c:pt idx="98">
                  <c:v>3.9600000000000003E-2</c:v>
                </c:pt>
                <c:pt idx="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B7D-4246-B128-96A405BD5D6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 = 4 (0,63)</c:v>
                </c:pt>
              </c:strCache>
            </c:strRef>
          </c:tx>
          <c:spPr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  <c:pt idx="99">
                  <c:v>1</c:v>
                </c:pt>
              </c:numCache>
            </c:numRef>
          </c:xVal>
          <c:yVal>
            <c:numRef>
              <c:f>Sheet1!$E$2:$E$101</c:f>
              <c:numCache>
                <c:formatCode>General</c:formatCode>
                <c:ptCount val="100"/>
                <c:pt idx="0">
                  <c:v>2.12E-2</c:v>
                </c:pt>
                <c:pt idx="1">
                  <c:v>4.2299999999999997E-2</c:v>
                </c:pt>
                <c:pt idx="2">
                  <c:v>6.3500000000000001E-2</c:v>
                </c:pt>
                <c:pt idx="3">
                  <c:v>8.4699999999999998E-2</c:v>
                </c:pt>
                <c:pt idx="4">
                  <c:v>0.10580000000000001</c:v>
                </c:pt>
                <c:pt idx="5">
                  <c:v>0.127</c:v>
                </c:pt>
                <c:pt idx="6">
                  <c:v>0.14810000000000001</c:v>
                </c:pt>
                <c:pt idx="7">
                  <c:v>0.16919999999999999</c:v>
                </c:pt>
                <c:pt idx="8">
                  <c:v>0.1903</c:v>
                </c:pt>
                <c:pt idx="9">
                  <c:v>0.2114</c:v>
                </c:pt>
                <c:pt idx="10">
                  <c:v>0.23250000000000001</c:v>
                </c:pt>
                <c:pt idx="11">
                  <c:v>0.2535</c:v>
                </c:pt>
                <c:pt idx="12">
                  <c:v>0.27450000000000002</c:v>
                </c:pt>
                <c:pt idx="13">
                  <c:v>0.29549999999999998</c:v>
                </c:pt>
                <c:pt idx="14">
                  <c:v>0.31640000000000001</c:v>
                </c:pt>
                <c:pt idx="15">
                  <c:v>0.33729999999999999</c:v>
                </c:pt>
                <c:pt idx="16">
                  <c:v>0.35799999999999998</c:v>
                </c:pt>
                <c:pt idx="17">
                  <c:v>0.37880000000000003</c:v>
                </c:pt>
                <c:pt idx="18">
                  <c:v>0.39939999999999998</c:v>
                </c:pt>
                <c:pt idx="19">
                  <c:v>0.4199</c:v>
                </c:pt>
                <c:pt idx="20">
                  <c:v>0.44040000000000001</c:v>
                </c:pt>
                <c:pt idx="21">
                  <c:v>0.4607</c:v>
                </c:pt>
                <c:pt idx="22">
                  <c:v>0.48089999999999999</c:v>
                </c:pt>
                <c:pt idx="23">
                  <c:v>0.50090000000000001</c:v>
                </c:pt>
                <c:pt idx="24">
                  <c:v>0.52090000000000003</c:v>
                </c:pt>
                <c:pt idx="25">
                  <c:v>0.54059999999999997</c:v>
                </c:pt>
                <c:pt idx="26">
                  <c:v>0.56020000000000003</c:v>
                </c:pt>
                <c:pt idx="27">
                  <c:v>0.5796</c:v>
                </c:pt>
                <c:pt idx="28">
                  <c:v>0.5988</c:v>
                </c:pt>
                <c:pt idx="29">
                  <c:v>0.61780000000000002</c:v>
                </c:pt>
                <c:pt idx="30">
                  <c:v>0.63660000000000005</c:v>
                </c:pt>
                <c:pt idx="31">
                  <c:v>0.65510000000000002</c:v>
                </c:pt>
                <c:pt idx="32">
                  <c:v>0.6734</c:v>
                </c:pt>
                <c:pt idx="33">
                  <c:v>0.69130000000000003</c:v>
                </c:pt>
                <c:pt idx="34">
                  <c:v>0.70899999999999996</c:v>
                </c:pt>
                <c:pt idx="35">
                  <c:v>0.72640000000000005</c:v>
                </c:pt>
                <c:pt idx="36">
                  <c:v>0.74350000000000005</c:v>
                </c:pt>
                <c:pt idx="37">
                  <c:v>0.76019999999999999</c:v>
                </c:pt>
                <c:pt idx="38">
                  <c:v>0.77649999999999997</c:v>
                </c:pt>
                <c:pt idx="39">
                  <c:v>0.79239999999999999</c:v>
                </c:pt>
                <c:pt idx="40">
                  <c:v>0.80800000000000005</c:v>
                </c:pt>
                <c:pt idx="41">
                  <c:v>0.82310000000000005</c:v>
                </c:pt>
                <c:pt idx="42">
                  <c:v>0.8377</c:v>
                </c:pt>
                <c:pt idx="43">
                  <c:v>0.85189999999999999</c:v>
                </c:pt>
                <c:pt idx="44">
                  <c:v>0.86560000000000004</c:v>
                </c:pt>
                <c:pt idx="45">
                  <c:v>0.87880000000000003</c:v>
                </c:pt>
                <c:pt idx="46">
                  <c:v>0.89149999999999996</c:v>
                </c:pt>
                <c:pt idx="47">
                  <c:v>0.90359999999999996</c:v>
                </c:pt>
                <c:pt idx="48">
                  <c:v>0.91510000000000002</c:v>
                </c:pt>
                <c:pt idx="49">
                  <c:v>0.92600000000000005</c:v>
                </c:pt>
                <c:pt idx="50">
                  <c:v>0.93620000000000003</c:v>
                </c:pt>
                <c:pt idx="51">
                  <c:v>0.94579999999999997</c:v>
                </c:pt>
                <c:pt idx="52">
                  <c:v>0.95479999999999998</c:v>
                </c:pt>
                <c:pt idx="53">
                  <c:v>0.96299999999999997</c:v>
                </c:pt>
                <c:pt idx="54">
                  <c:v>0.97040000000000004</c:v>
                </c:pt>
                <c:pt idx="55">
                  <c:v>0.97709999999999997</c:v>
                </c:pt>
                <c:pt idx="56">
                  <c:v>0.98299999999999998</c:v>
                </c:pt>
                <c:pt idx="57">
                  <c:v>0.98809999999999998</c:v>
                </c:pt>
                <c:pt idx="58">
                  <c:v>0.99229999999999996</c:v>
                </c:pt>
                <c:pt idx="59">
                  <c:v>0.99560000000000004</c:v>
                </c:pt>
                <c:pt idx="60">
                  <c:v>0.998</c:v>
                </c:pt>
                <c:pt idx="61">
                  <c:v>0.99950000000000006</c:v>
                </c:pt>
                <c:pt idx="62">
                  <c:v>1</c:v>
                </c:pt>
                <c:pt idx="63">
                  <c:v>0.99950000000000006</c:v>
                </c:pt>
                <c:pt idx="64">
                  <c:v>0.99790000000000001</c:v>
                </c:pt>
                <c:pt idx="65">
                  <c:v>0.99529999999999996</c:v>
                </c:pt>
                <c:pt idx="66">
                  <c:v>0.99160000000000004</c:v>
                </c:pt>
                <c:pt idx="67">
                  <c:v>0.98670000000000002</c:v>
                </c:pt>
                <c:pt idx="68">
                  <c:v>0.98070000000000002</c:v>
                </c:pt>
                <c:pt idx="69">
                  <c:v>0.97340000000000004</c:v>
                </c:pt>
                <c:pt idx="70">
                  <c:v>0.96489999999999998</c:v>
                </c:pt>
                <c:pt idx="71">
                  <c:v>0.95509999999999995</c:v>
                </c:pt>
                <c:pt idx="72">
                  <c:v>0.94399999999999995</c:v>
                </c:pt>
                <c:pt idx="73">
                  <c:v>0.93159999999999998</c:v>
                </c:pt>
                <c:pt idx="74">
                  <c:v>0.91769999999999996</c:v>
                </c:pt>
                <c:pt idx="75">
                  <c:v>0.90239999999999998</c:v>
                </c:pt>
                <c:pt idx="76">
                  <c:v>0.88570000000000004</c:v>
                </c:pt>
                <c:pt idx="77">
                  <c:v>0.86750000000000005</c:v>
                </c:pt>
                <c:pt idx="78">
                  <c:v>0.84770000000000001</c:v>
                </c:pt>
                <c:pt idx="79">
                  <c:v>0.82630000000000003</c:v>
                </c:pt>
                <c:pt idx="80">
                  <c:v>0.80330000000000001</c:v>
                </c:pt>
                <c:pt idx="81">
                  <c:v>0.77859999999999996</c:v>
                </c:pt>
                <c:pt idx="82">
                  <c:v>0.75229999999999997</c:v>
                </c:pt>
                <c:pt idx="83">
                  <c:v>0.72409999999999997</c:v>
                </c:pt>
                <c:pt idx="84">
                  <c:v>0.69420000000000004</c:v>
                </c:pt>
                <c:pt idx="85">
                  <c:v>0.66249999999999998</c:v>
                </c:pt>
                <c:pt idx="86">
                  <c:v>0.62880000000000003</c:v>
                </c:pt>
                <c:pt idx="87">
                  <c:v>0.59330000000000005</c:v>
                </c:pt>
                <c:pt idx="88">
                  <c:v>0.55579999999999996</c:v>
                </c:pt>
                <c:pt idx="89">
                  <c:v>0.51619999999999999</c:v>
                </c:pt>
                <c:pt idx="90">
                  <c:v>0.47460000000000002</c:v>
                </c:pt>
                <c:pt idx="91">
                  <c:v>0.43090000000000001</c:v>
                </c:pt>
                <c:pt idx="92">
                  <c:v>0.3851</c:v>
                </c:pt>
                <c:pt idx="93">
                  <c:v>0.33710000000000001</c:v>
                </c:pt>
                <c:pt idx="94">
                  <c:v>0.2868</c:v>
                </c:pt>
                <c:pt idx="95">
                  <c:v>0.23419999999999999</c:v>
                </c:pt>
                <c:pt idx="96">
                  <c:v>0.17929999999999999</c:v>
                </c:pt>
                <c:pt idx="97">
                  <c:v>0.122</c:v>
                </c:pt>
                <c:pt idx="98">
                  <c:v>6.2199999999999998E-2</c:v>
                </c:pt>
                <c:pt idx="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B7D-4246-B128-96A405BD5D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Biomassa relativa (B/K)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0.1"/>
      </c:val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Produção / MSY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D2A3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(t)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900</c:v>
                </c:pt>
                <c:pt idx="8">
                  <c:v>1000</c:v>
                </c:pt>
                <c:pt idx="9">
                  <c:v>1500</c:v>
                </c:pt>
                <c:pt idx="10">
                  <c:v>2000</c:v>
                </c:pt>
                <c:pt idx="11">
                  <c:v>2500</c:v>
                </c:pt>
                <c:pt idx="12">
                  <c:v>3000</c:v>
                </c:pt>
                <c:pt idx="13">
                  <c:v>800</c:v>
                </c:pt>
                <c:pt idx="14">
                  <c:v>500</c:v>
                </c:pt>
                <c:pt idx="15">
                  <c:v>400</c:v>
                </c:pt>
                <c:pt idx="16">
                  <c:v>500</c:v>
                </c:pt>
                <c:pt idx="17">
                  <c:v>300</c:v>
                </c:pt>
                <c:pt idx="18">
                  <c:v>200</c:v>
                </c:pt>
                <c:pt idx="19">
                  <c:v>900</c:v>
                </c:pt>
                <c:pt idx="20">
                  <c:v>2000</c:v>
                </c:pt>
                <c:pt idx="21">
                  <c:v>2500</c:v>
                </c:pt>
                <c:pt idx="22">
                  <c:v>4500</c:v>
                </c:pt>
                <c:pt idx="23">
                  <c:v>4000</c:v>
                </c:pt>
                <c:pt idx="24">
                  <c:v>2000</c:v>
                </c:pt>
                <c:pt idx="25">
                  <c:v>1800</c:v>
                </c:pt>
                <c:pt idx="26">
                  <c:v>900</c:v>
                </c:pt>
                <c:pt idx="27">
                  <c:v>600</c:v>
                </c:pt>
                <c:pt idx="28">
                  <c:v>300</c:v>
                </c:pt>
                <c:pt idx="29">
                  <c:v>200</c:v>
                </c:pt>
                <c:pt idx="3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E7-4474-B486-262704F85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Captura (t)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15.000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0.99329999999999996</c:v>
                </c:pt>
                <c:pt idx="2">
                  <c:v>0.98329999999999995</c:v>
                </c:pt>
                <c:pt idx="3">
                  <c:v>0.9718</c:v>
                </c:pt>
                <c:pt idx="4">
                  <c:v>0.95620000000000005</c:v>
                </c:pt>
                <c:pt idx="5">
                  <c:v>0.93689999999999996</c:v>
                </c:pt>
                <c:pt idx="6">
                  <c:v>0.91479999999999995</c:v>
                </c:pt>
                <c:pt idx="7">
                  <c:v>0.89070000000000005</c:v>
                </c:pt>
                <c:pt idx="8">
                  <c:v>0.85160000000000002</c:v>
                </c:pt>
                <c:pt idx="9">
                  <c:v>0.81110000000000004</c:v>
                </c:pt>
                <c:pt idx="10">
                  <c:v>0.74509999999999998</c:v>
                </c:pt>
                <c:pt idx="11">
                  <c:v>0.65290000000000004</c:v>
                </c:pt>
                <c:pt idx="12">
                  <c:v>0.5373</c:v>
                </c:pt>
                <c:pt idx="13">
                  <c:v>0.3982</c:v>
                </c:pt>
                <c:pt idx="14">
                  <c:v>0.41170000000000001</c:v>
                </c:pt>
                <c:pt idx="15">
                  <c:v>0.44269999999999998</c:v>
                </c:pt>
                <c:pt idx="16">
                  <c:v>0.48120000000000002</c:v>
                </c:pt>
                <c:pt idx="17">
                  <c:v>0.5141</c:v>
                </c:pt>
                <c:pt idx="18">
                  <c:v>0.56120000000000003</c:v>
                </c:pt>
                <c:pt idx="19">
                  <c:v>0.61499999999999999</c:v>
                </c:pt>
                <c:pt idx="20">
                  <c:v>0.62119999999999997</c:v>
                </c:pt>
                <c:pt idx="21">
                  <c:v>0.55149999999999999</c:v>
                </c:pt>
                <c:pt idx="22">
                  <c:v>0.4481</c:v>
                </c:pt>
                <c:pt idx="23">
                  <c:v>0.2145</c:v>
                </c:pt>
                <c:pt idx="24">
                  <c:v>1.43E-2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AF-4ED3-8C93-A8B5C364B4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18.000</c:v>
                </c:pt>
              </c:strCache>
            </c:strRef>
          </c:tx>
          <c:spPr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0.99439999999999995</c:v>
                </c:pt>
                <c:pt idx="2">
                  <c:v>0.98609999999999998</c:v>
                </c:pt>
                <c:pt idx="3">
                  <c:v>0.97650000000000003</c:v>
                </c:pt>
                <c:pt idx="4">
                  <c:v>0.96350000000000002</c:v>
                </c:pt>
                <c:pt idx="5">
                  <c:v>0.94740000000000002</c:v>
                </c:pt>
                <c:pt idx="6">
                  <c:v>0.92910000000000004</c:v>
                </c:pt>
                <c:pt idx="7">
                  <c:v>0.90920000000000001</c:v>
                </c:pt>
                <c:pt idx="8">
                  <c:v>0.87690000000000001</c:v>
                </c:pt>
                <c:pt idx="9">
                  <c:v>0.84350000000000003</c:v>
                </c:pt>
                <c:pt idx="10">
                  <c:v>0.78920000000000001</c:v>
                </c:pt>
                <c:pt idx="11">
                  <c:v>0.71350000000000002</c:v>
                </c:pt>
                <c:pt idx="12">
                  <c:v>0.61939999999999995</c:v>
                </c:pt>
                <c:pt idx="13">
                  <c:v>0.50760000000000005</c:v>
                </c:pt>
                <c:pt idx="14">
                  <c:v>0.52649999999999997</c:v>
                </c:pt>
                <c:pt idx="15">
                  <c:v>0.56589999999999996</c:v>
                </c:pt>
                <c:pt idx="16">
                  <c:v>0.61070000000000002</c:v>
                </c:pt>
                <c:pt idx="17">
                  <c:v>0.64890000000000003</c:v>
                </c:pt>
                <c:pt idx="18">
                  <c:v>0.69620000000000004</c:v>
                </c:pt>
                <c:pt idx="19">
                  <c:v>0.74629999999999996</c:v>
                </c:pt>
                <c:pt idx="20">
                  <c:v>0.75309999999999999</c:v>
                </c:pt>
                <c:pt idx="21">
                  <c:v>0.69289999999999996</c:v>
                </c:pt>
                <c:pt idx="22">
                  <c:v>0.60399999999999998</c:v>
                </c:pt>
                <c:pt idx="23">
                  <c:v>0.41110000000000002</c:v>
                </c:pt>
                <c:pt idx="24">
                  <c:v>0.25319999999999998</c:v>
                </c:pt>
                <c:pt idx="25">
                  <c:v>0.2072</c:v>
                </c:pt>
                <c:pt idx="26">
                  <c:v>0.158</c:v>
                </c:pt>
                <c:pt idx="27">
                  <c:v>0.15210000000000001</c:v>
                </c:pt>
                <c:pt idx="28">
                  <c:v>0.1545</c:v>
                </c:pt>
                <c:pt idx="29">
                  <c:v>0.17249999999999999</c:v>
                </c:pt>
                <c:pt idx="30">
                  <c:v>0.19650000000000001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AF-4ED3-8C93-A8B5C364B4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18.800</c:v>
                </c:pt>
              </c:strCache>
            </c:strRef>
          </c:tx>
          <c:spPr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1</c:v>
                </c:pt>
                <c:pt idx="1">
                  <c:v>0.99470000000000003</c:v>
                </c:pt>
                <c:pt idx="2">
                  <c:v>0.98670000000000002</c:v>
                </c:pt>
                <c:pt idx="3">
                  <c:v>0.97750000000000004</c:v>
                </c:pt>
                <c:pt idx="4">
                  <c:v>0.96509999999999996</c:v>
                </c:pt>
                <c:pt idx="5">
                  <c:v>0.94969999999999999</c:v>
                </c:pt>
                <c:pt idx="6">
                  <c:v>0.93220000000000003</c:v>
                </c:pt>
                <c:pt idx="7">
                  <c:v>0.91310000000000002</c:v>
                </c:pt>
                <c:pt idx="8">
                  <c:v>0.88219999999999998</c:v>
                </c:pt>
                <c:pt idx="9">
                  <c:v>0.85029999999999994</c:v>
                </c:pt>
                <c:pt idx="10">
                  <c:v>0.79849999999999999</c:v>
                </c:pt>
                <c:pt idx="11">
                  <c:v>0.72629999999999995</c:v>
                </c:pt>
                <c:pt idx="12">
                  <c:v>0.63660000000000005</c:v>
                </c:pt>
                <c:pt idx="13">
                  <c:v>0.53039999999999998</c:v>
                </c:pt>
                <c:pt idx="14">
                  <c:v>0.55000000000000004</c:v>
                </c:pt>
                <c:pt idx="15">
                  <c:v>0.59040000000000004</c:v>
                </c:pt>
                <c:pt idx="16">
                  <c:v>0.63560000000000005</c:v>
                </c:pt>
                <c:pt idx="17">
                  <c:v>0.67400000000000004</c:v>
                </c:pt>
                <c:pt idx="18">
                  <c:v>0.72030000000000005</c:v>
                </c:pt>
                <c:pt idx="19">
                  <c:v>0.76870000000000005</c:v>
                </c:pt>
                <c:pt idx="20">
                  <c:v>0.77500000000000002</c:v>
                </c:pt>
                <c:pt idx="21">
                  <c:v>0.71640000000000004</c:v>
                </c:pt>
                <c:pt idx="22">
                  <c:v>0.63019999999999998</c:v>
                </c:pt>
                <c:pt idx="23">
                  <c:v>0.44550000000000001</c:v>
                </c:pt>
                <c:pt idx="24">
                  <c:v>0.29530000000000001</c:v>
                </c:pt>
                <c:pt idx="25">
                  <c:v>0.25530000000000003</c:v>
                </c:pt>
                <c:pt idx="26">
                  <c:v>0.2155</c:v>
                </c:pt>
                <c:pt idx="27">
                  <c:v>0.21879999999999999</c:v>
                </c:pt>
                <c:pt idx="28">
                  <c:v>0.23230000000000001</c:v>
                </c:pt>
                <c:pt idx="29">
                  <c:v>0.26219999999999999</c:v>
                </c:pt>
                <c:pt idx="30">
                  <c:v>0.29949999999999999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AF-4ED3-8C93-A8B5C364B47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 = 20.000</c:v>
                </c:pt>
              </c:strCache>
            </c:strRef>
          </c:tx>
          <c:spPr>
            <a:ln w="31750" cap="flat">
              <a:solidFill>
                <a:srgbClr val="6C8EB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</c:v>
                </c:pt>
                <c:pt idx="1">
                  <c:v>0.995</c:v>
                </c:pt>
                <c:pt idx="2">
                  <c:v>0.98750000000000004</c:v>
                </c:pt>
                <c:pt idx="3">
                  <c:v>0.9788</c:v>
                </c:pt>
                <c:pt idx="4">
                  <c:v>0.96719999999999995</c:v>
                </c:pt>
                <c:pt idx="5">
                  <c:v>0.95269999999999999</c:v>
                </c:pt>
                <c:pt idx="6">
                  <c:v>0.93630000000000002</c:v>
                </c:pt>
                <c:pt idx="7">
                  <c:v>0.91839999999999999</c:v>
                </c:pt>
                <c:pt idx="8">
                  <c:v>0.88939999999999997</c:v>
                </c:pt>
                <c:pt idx="9">
                  <c:v>0.85950000000000004</c:v>
                </c:pt>
                <c:pt idx="10">
                  <c:v>0.81100000000000005</c:v>
                </c:pt>
                <c:pt idx="11">
                  <c:v>0.74339999999999995</c:v>
                </c:pt>
                <c:pt idx="12">
                  <c:v>0.65959999999999996</c:v>
                </c:pt>
                <c:pt idx="13">
                  <c:v>0.56089999999999995</c:v>
                </c:pt>
                <c:pt idx="14">
                  <c:v>0.58120000000000005</c:v>
                </c:pt>
                <c:pt idx="15">
                  <c:v>0.62239999999999995</c:v>
                </c:pt>
                <c:pt idx="16">
                  <c:v>0.66779999999999995</c:v>
                </c:pt>
                <c:pt idx="17">
                  <c:v>0.70599999999999996</c:v>
                </c:pt>
                <c:pt idx="18">
                  <c:v>0.75060000000000004</c:v>
                </c:pt>
                <c:pt idx="19">
                  <c:v>0.7964</c:v>
                </c:pt>
                <c:pt idx="20">
                  <c:v>0.80169999999999997</c:v>
                </c:pt>
                <c:pt idx="21">
                  <c:v>0.74529999999999996</c:v>
                </c:pt>
                <c:pt idx="22">
                  <c:v>0.66300000000000003</c:v>
                </c:pt>
                <c:pt idx="23">
                  <c:v>0.48899999999999999</c:v>
                </c:pt>
                <c:pt idx="24">
                  <c:v>0.34899999999999998</c:v>
                </c:pt>
                <c:pt idx="25">
                  <c:v>0.31619999999999998</c:v>
                </c:pt>
                <c:pt idx="26">
                  <c:v>0.2873</c:v>
                </c:pt>
                <c:pt idx="27">
                  <c:v>0.3004</c:v>
                </c:pt>
                <c:pt idx="28">
                  <c:v>0.32540000000000002</c:v>
                </c:pt>
                <c:pt idx="29">
                  <c:v>0.3669</c:v>
                </c:pt>
                <c:pt idx="30">
                  <c:v>0.4158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9AF-4ED3-8C93-A8B5C364B47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 = 30.000</c:v>
                </c:pt>
              </c:strCache>
            </c:strRef>
          </c:tx>
          <c:spPr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</c:v>
                </c:pt>
                <c:pt idx="1">
                  <c:v>0.99670000000000003</c:v>
                </c:pt>
                <c:pt idx="2">
                  <c:v>0.99170000000000003</c:v>
                </c:pt>
                <c:pt idx="3">
                  <c:v>0.9859</c:v>
                </c:pt>
                <c:pt idx="4">
                  <c:v>0.97809999999999997</c:v>
                </c:pt>
                <c:pt idx="5">
                  <c:v>0.96850000000000003</c:v>
                </c:pt>
                <c:pt idx="6">
                  <c:v>0.95760000000000001</c:v>
                </c:pt>
                <c:pt idx="7">
                  <c:v>0.94579999999999997</c:v>
                </c:pt>
                <c:pt idx="8">
                  <c:v>0.92669999999999997</c:v>
                </c:pt>
                <c:pt idx="9">
                  <c:v>0.90720000000000001</c:v>
                </c:pt>
                <c:pt idx="10">
                  <c:v>0.87539999999999996</c:v>
                </c:pt>
                <c:pt idx="11">
                  <c:v>0.83140000000000003</c:v>
                </c:pt>
                <c:pt idx="12">
                  <c:v>0.77729999999999999</c:v>
                </c:pt>
                <c:pt idx="13">
                  <c:v>0.71499999999999997</c:v>
                </c:pt>
                <c:pt idx="14">
                  <c:v>0.7349</c:v>
                </c:pt>
                <c:pt idx="15">
                  <c:v>0.77300000000000002</c:v>
                </c:pt>
                <c:pt idx="16">
                  <c:v>0.81200000000000006</c:v>
                </c:pt>
                <c:pt idx="17">
                  <c:v>0.84250000000000003</c:v>
                </c:pt>
                <c:pt idx="18">
                  <c:v>0.87350000000000005</c:v>
                </c:pt>
                <c:pt idx="19">
                  <c:v>0.90249999999999997</c:v>
                </c:pt>
                <c:pt idx="20">
                  <c:v>0.9022</c:v>
                </c:pt>
                <c:pt idx="21">
                  <c:v>0.85919999999999996</c:v>
                </c:pt>
                <c:pt idx="22">
                  <c:v>0.79959999999999998</c:v>
                </c:pt>
                <c:pt idx="23">
                  <c:v>0.68210000000000004</c:v>
                </c:pt>
                <c:pt idx="24">
                  <c:v>0.59179999999999999</c:v>
                </c:pt>
                <c:pt idx="25">
                  <c:v>0.58340000000000003</c:v>
                </c:pt>
                <c:pt idx="26">
                  <c:v>0.58830000000000005</c:v>
                </c:pt>
                <c:pt idx="27">
                  <c:v>0.62360000000000004</c:v>
                </c:pt>
                <c:pt idx="28">
                  <c:v>0.66869999999999996</c:v>
                </c:pt>
                <c:pt idx="29">
                  <c:v>0.7218</c:v>
                </c:pt>
                <c:pt idx="30">
                  <c:v>0.77470000000000006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9AF-4ED3-8C93-A8B5C364B47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Alvo B/K = 0,30</c:v>
                </c:pt>
              </c:strCache>
            </c:strRef>
          </c:tx>
          <c:spPr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  <c:pt idx="27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9AF-4ED3-8C93-A8B5C364B4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B/K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D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 = 0,2</c:v>
                </c:pt>
                <c:pt idx="1">
                  <c:v>r = 0,4</c:v>
                </c:pt>
                <c:pt idx="2">
                  <c:v>r = 0,6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BA-4594-AE46-E59C0D85DF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Posterior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D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 = 0,2</c:v>
                </c:pt>
                <c:pt idx="1">
                  <c:v>r = 0,4</c:v>
                </c:pt>
                <c:pt idx="2">
                  <c:v>r = 0,6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6.25E-2</c:v>
                </c:pt>
                <c:pt idx="1">
                  <c:v>0.75</c:v>
                </c:pt>
                <c:pt idx="2">
                  <c:v>0.1875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BA-4594-AE46-E59C0D85DF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E4F"/>
                </a:solidFill>
                <a:latin typeface="Arial"/>
              </a:defRPr>
            </a:pPr>
            <a:r>
              <a:rPr lang="en-US" sz="1200" b="0" i="0" u="none" strike="noStrike" dirty="0" err="1">
                <a:solidFill>
                  <a:srgbClr val="0B2E4F"/>
                </a:solidFill>
                <a:latin typeface="Arial"/>
              </a:rPr>
              <a:t>Captura</a:t>
            </a:r>
            <a:r>
              <a:rPr lang="en-US" sz="1200" b="0" i="0" u="none" strike="noStrike" dirty="0">
                <a:solidFill>
                  <a:srgbClr val="0B2E4F"/>
                </a:solidFill>
                <a:latin typeface="Arial"/>
              </a:rPr>
              <a:t> </a:t>
            </a:r>
            <a:r>
              <a:rPr lang="en-US" sz="1200" b="0" i="0" u="none" strike="noStrike" dirty="0" err="1">
                <a:solidFill>
                  <a:srgbClr val="0B2E4F"/>
                </a:solidFill>
                <a:latin typeface="Arial"/>
              </a:rPr>
              <a:t>observada</a:t>
            </a:r>
            <a:r>
              <a:rPr lang="en-US" sz="1200" b="0" i="0" u="none" strike="noStrike" dirty="0">
                <a:solidFill>
                  <a:srgbClr val="0B2E4F"/>
                </a:solidFill>
                <a:latin typeface="Arial"/>
              </a:rPr>
              <a:t> (t)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Captura (t)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900</c:v>
                </c:pt>
                <c:pt idx="8">
                  <c:v>1000</c:v>
                </c:pt>
                <c:pt idx="9">
                  <c:v>1500</c:v>
                </c:pt>
                <c:pt idx="10">
                  <c:v>2000</c:v>
                </c:pt>
                <c:pt idx="11">
                  <c:v>2500</c:v>
                </c:pt>
                <c:pt idx="12">
                  <c:v>3000</c:v>
                </c:pt>
                <c:pt idx="13">
                  <c:v>800</c:v>
                </c:pt>
                <c:pt idx="14">
                  <c:v>500</c:v>
                </c:pt>
                <c:pt idx="15">
                  <c:v>400</c:v>
                </c:pt>
                <c:pt idx="16">
                  <c:v>500</c:v>
                </c:pt>
                <c:pt idx="17">
                  <c:v>300</c:v>
                </c:pt>
                <c:pt idx="18">
                  <c:v>200</c:v>
                </c:pt>
                <c:pt idx="19">
                  <c:v>900</c:v>
                </c:pt>
                <c:pt idx="20">
                  <c:v>2000</c:v>
                </c:pt>
                <c:pt idx="21">
                  <c:v>2500</c:v>
                </c:pt>
                <c:pt idx="22">
                  <c:v>4500</c:v>
                </c:pt>
                <c:pt idx="23">
                  <c:v>4000</c:v>
                </c:pt>
                <c:pt idx="24">
                  <c:v>2000</c:v>
                </c:pt>
                <c:pt idx="25">
                  <c:v>1800</c:v>
                </c:pt>
                <c:pt idx="26">
                  <c:v>900</c:v>
                </c:pt>
                <c:pt idx="27">
                  <c:v>600</c:v>
                </c:pt>
                <c:pt idx="28">
                  <c:v>300</c:v>
                </c:pt>
                <c:pt idx="29">
                  <c:v>200</c:v>
                </c:pt>
                <c:pt idx="3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F1-40C9-AAAD-AB1280882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r=0,2; k=15.000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0.99329999999999996</c:v>
                </c:pt>
                <c:pt idx="2">
                  <c:v>0.98470000000000002</c:v>
                </c:pt>
                <c:pt idx="3">
                  <c:v>0.97430000000000005</c:v>
                </c:pt>
                <c:pt idx="4">
                  <c:v>0.95930000000000004</c:v>
                </c:pt>
                <c:pt idx="5">
                  <c:v>0.9405</c:v>
                </c:pt>
                <c:pt idx="6">
                  <c:v>0.91830000000000001</c:v>
                </c:pt>
                <c:pt idx="7">
                  <c:v>0.89329999999999998</c:v>
                </c:pt>
                <c:pt idx="8">
                  <c:v>0.85240000000000005</c:v>
                </c:pt>
                <c:pt idx="9">
                  <c:v>0.81089999999999995</c:v>
                </c:pt>
                <c:pt idx="10">
                  <c:v>0.74160000000000004</c:v>
                </c:pt>
                <c:pt idx="11">
                  <c:v>0.64659999999999995</c:v>
                </c:pt>
                <c:pt idx="12">
                  <c:v>0.52559999999999996</c:v>
                </c:pt>
                <c:pt idx="13">
                  <c:v>0.3755</c:v>
                </c:pt>
                <c:pt idx="14">
                  <c:v>0.36899999999999999</c:v>
                </c:pt>
                <c:pt idx="15">
                  <c:v>0.38229999999999997</c:v>
                </c:pt>
                <c:pt idx="16">
                  <c:v>0.40279999999999999</c:v>
                </c:pt>
                <c:pt idx="17">
                  <c:v>0.41760000000000003</c:v>
                </c:pt>
                <c:pt idx="18">
                  <c:v>0.44619999999999999</c:v>
                </c:pt>
                <c:pt idx="19">
                  <c:v>0.48230000000000001</c:v>
                </c:pt>
                <c:pt idx="20">
                  <c:v>0.4723</c:v>
                </c:pt>
                <c:pt idx="21">
                  <c:v>0.38879999999999998</c:v>
                </c:pt>
                <c:pt idx="22">
                  <c:v>0.26960000000000001</c:v>
                </c:pt>
                <c:pt idx="23">
                  <c:v>8.9999999999999993E-3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76-4531-9DED-56EDFDB32C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r=0,2; k=20.000</c:v>
                </c:pt>
              </c:strCache>
            </c:strRef>
          </c:tx>
          <c:spPr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0.995</c:v>
                </c:pt>
                <c:pt idx="2">
                  <c:v>0.98850000000000005</c:v>
                </c:pt>
                <c:pt idx="3">
                  <c:v>0.98080000000000001</c:v>
                </c:pt>
                <c:pt idx="4">
                  <c:v>0.96950000000000003</c:v>
                </c:pt>
                <c:pt idx="5">
                  <c:v>0.95540000000000003</c:v>
                </c:pt>
                <c:pt idx="6">
                  <c:v>0.93899999999999995</c:v>
                </c:pt>
                <c:pt idx="7">
                  <c:v>0.9204</c:v>
                </c:pt>
                <c:pt idx="8">
                  <c:v>0.8901</c:v>
                </c:pt>
                <c:pt idx="9">
                  <c:v>0.85960000000000003</c:v>
                </c:pt>
                <c:pt idx="10">
                  <c:v>0.80879999999999996</c:v>
                </c:pt>
                <c:pt idx="11">
                  <c:v>0.73970000000000002</c:v>
                </c:pt>
                <c:pt idx="12">
                  <c:v>0.6532</c:v>
                </c:pt>
                <c:pt idx="13">
                  <c:v>0.54849999999999999</c:v>
                </c:pt>
                <c:pt idx="14">
                  <c:v>0.55800000000000005</c:v>
                </c:pt>
                <c:pt idx="15">
                  <c:v>0.58240000000000003</c:v>
                </c:pt>
                <c:pt idx="16">
                  <c:v>0.61099999999999999</c:v>
                </c:pt>
                <c:pt idx="17">
                  <c:v>0.63360000000000005</c:v>
                </c:pt>
                <c:pt idx="18">
                  <c:v>0.66500000000000004</c:v>
                </c:pt>
                <c:pt idx="19">
                  <c:v>0.69950000000000001</c:v>
                </c:pt>
                <c:pt idx="20">
                  <c:v>0.6966</c:v>
                </c:pt>
                <c:pt idx="21">
                  <c:v>0.63880000000000003</c:v>
                </c:pt>
                <c:pt idx="22">
                  <c:v>0.56000000000000005</c:v>
                </c:pt>
                <c:pt idx="23">
                  <c:v>0.38429999999999997</c:v>
                </c:pt>
                <c:pt idx="24">
                  <c:v>0.2316</c:v>
                </c:pt>
                <c:pt idx="25">
                  <c:v>0.16719999999999999</c:v>
                </c:pt>
                <c:pt idx="26">
                  <c:v>0.105</c:v>
                </c:pt>
                <c:pt idx="27">
                  <c:v>7.8799999999999995E-2</c:v>
                </c:pt>
                <c:pt idx="28">
                  <c:v>6.3399999999999998E-2</c:v>
                </c:pt>
                <c:pt idx="29">
                  <c:v>6.0199999999999997E-2</c:v>
                </c:pt>
                <c:pt idx="30">
                  <c:v>6.1499999999999999E-2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76-4531-9DED-56EDFDB32C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r=0,2; k=30.000</c:v>
                </c:pt>
              </c:strCache>
            </c:strRef>
          </c:tx>
          <c:spPr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1</c:v>
                </c:pt>
                <c:pt idx="1">
                  <c:v>0.99670000000000003</c:v>
                </c:pt>
                <c:pt idx="2">
                  <c:v>0.99229999999999996</c:v>
                </c:pt>
                <c:pt idx="3">
                  <c:v>0.98719999999999997</c:v>
                </c:pt>
                <c:pt idx="4">
                  <c:v>0.97970000000000002</c:v>
                </c:pt>
                <c:pt idx="5">
                  <c:v>0.97040000000000004</c:v>
                </c:pt>
                <c:pt idx="6">
                  <c:v>0.95940000000000003</c:v>
                </c:pt>
                <c:pt idx="7">
                  <c:v>0.94720000000000004</c:v>
                </c:pt>
                <c:pt idx="8">
                  <c:v>0.92720000000000002</c:v>
                </c:pt>
                <c:pt idx="9">
                  <c:v>0.90739999999999998</c:v>
                </c:pt>
                <c:pt idx="10">
                  <c:v>0.87419999999999998</c:v>
                </c:pt>
                <c:pt idx="11">
                  <c:v>0.82950000000000002</c:v>
                </c:pt>
                <c:pt idx="12">
                  <c:v>0.77449999999999997</c:v>
                </c:pt>
                <c:pt idx="13">
                  <c:v>0.70940000000000003</c:v>
                </c:pt>
                <c:pt idx="14">
                  <c:v>0.72399999999999998</c:v>
                </c:pt>
                <c:pt idx="15">
                  <c:v>0.74729999999999996</c:v>
                </c:pt>
                <c:pt idx="16">
                  <c:v>0.77170000000000005</c:v>
                </c:pt>
                <c:pt idx="17">
                  <c:v>0.7903</c:v>
                </c:pt>
                <c:pt idx="18">
                  <c:v>0.81340000000000001</c:v>
                </c:pt>
                <c:pt idx="19">
                  <c:v>0.83709999999999996</c:v>
                </c:pt>
                <c:pt idx="20">
                  <c:v>0.83440000000000003</c:v>
                </c:pt>
                <c:pt idx="21">
                  <c:v>0.7954</c:v>
                </c:pt>
                <c:pt idx="22">
                  <c:v>0.74460000000000004</c:v>
                </c:pt>
                <c:pt idx="23">
                  <c:v>0.63260000000000005</c:v>
                </c:pt>
                <c:pt idx="24">
                  <c:v>0.54579999999999995</c:v>
                </c:pt>
                <c:pt idx="25">
                  <c:v>0.52869999999999995</c:v>
                </c:pt>
                <c:pt idx="26">
                  <c:v>0.51849999999999996</c:v>
                </c:pt>
                <c:pt idx="27">
                  <c:v>0.53839999999999999</c:v>
                </c:pt>
                <c:pt idx="28">
                  <c:v>0.56810000000000005</c:v>
                </c:pt>
                <c:pt idx="29">
                  <c:v>0.60719999999999996</c:v>
                </c:pt>
                <c:pt idx="30">
                  <c:v>0.64829999999999999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76-4531-9DED-56EDFDB32C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r=0,4; k=10.000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</c:v>
                </c:pt>
                <c:pt idx="1">
                  <c:v>0.99</c:v>
                </c:pt>
                <c:pt idx="2">
                  <c:v>0.97899999999999998</c:v>
                </c:pt>
                <c:pt idx="3">
                  <c:v>0.96719999999999995</c:v>
                </c:pt>
                <c:pt idx="4">
                  <c:v>0.94989999999999997</c:v>
                </c:pt>
                <c:pt idx="5">
                  <c:v>0.92889999999999995</c:v>
                </c:pt>
                <c:pt idx="6">
                  <c:v>0.90529999999999999</c:v>
                </c:pt>
                <c:pt idx="7">
                  <c:v>0.87960000000000005</c:v>
                </c:pt>
                <c:pt idx="8">
                  <c:v>0.83199999999999996</c:v>
                </c:pt>
                <c:pt idx="9">
                  <c:v>0.78790000000000004</c:v>
                </c:pt>
                <c:pt idx="10">
                  <c:v>0.70469999999999999</c:v>
                </c:pt>
                <c:pt idx="11">
                  <c:v>0.58799999999999997</c:v>
                </c:pt>
                <c:pt idx="12">
                  <c:v>0.43490000000000001</c:v>
                </c:pt>
                <c:pt idx="13">
                  <c:v>0.23319999999999999</c:v>
                </c:pt>
                <c:pt idx="14">
                  <c:v>0.22470000000000001</c:v>
                </c:pt>
                <c:pt idx="15">
                  <c:v>0.24440000000000001</c:v>
                </c:pt>
                <c:pt idx="16">
                  <c:v>0.27829999999999999</c:v>
                </c:pt>
                <c:pt idx="17">
                  <c:v>0.30859999999999999</c:v>
                </c:pt>
                <c:pt idx="18">
                  <c:v>0.3639</c:v>
                </c:pt>
                <c:pt idx="19">
                  <c:v>0.4365</c:v>
                </c:pt>
                <c:pt idx="20">
                  <c:v>0.44490000000000002</c:v>
                </c:pt>
                <c:pt idx="21">
                  <c:v>0.34370000000000001</c:v>
                </c:pt>
                <c:pt idx="22">
                  <c:v>0.18390000000000001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C76-4531-9DED-56EDFDB32C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r=0,4; k=15.000</c:v>
                </c:pt>
              </c:strCache>
            </c:strRef>
          </c:tx>
          <c:spPr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1</c:v>
                </c:pt>
                <c:pt idx="1">
                  <c:v>0.99329999999999996</c:v>
                </c:pt>
                <c:pt idx="2">
                  <c:v>0.98599999999999999</c:v>
                </c:pt>
                <c:pt idx="3">
                  <c:v>0.97819999999999996</c:v>
                </c:pt>
                <c:pt idx="4">
                  <c:v>0.9667</c:v>
                </c:pt>
                <c:pt idx="5">
                  <c:v>0.95289999999999997</c:v>
                </c:pt>
                <c:pt idx="6">
                  <c:v>0.9375</c:v>
                </c:pt>
                <c:pt idx="7">
                  <c:v>0.92100000000000004</c:v>
                </c:pt>
                <c:pt idx="8">
                  <c:v>0.8901</c:v>
                </c:pt>
                <c:pt idx="9">
                  <c:v>0.86250000000000004</c:v>
                </c:pt>
                <c:pt idx="10">
                  <c:v>0.81</c:v>
                </c:pt>
                <c:pt idx="11">
                  <c:v>0.73819999999999997</c:v>
                </c:pt>
                <c:pt idx="12">
                  <c:v>0.64880000000000004</c:v>
                </c:pt>
                <c:pt idx="13">
                  <c:v>0.54</c:v>
                </c:pt>
                <c:pt idx="14">
                  <c:v>0.58599999999999997</c:v>
                </c:pt>
                <c:pt idx="15">
                  <c:v>0.64970000000000006</c:v>
                </c:pt>
                <c:pt idx="16">
                  <c:v>0.71409999999999996</c:v>
                </c:pt>
                <c:pt idx="17">
                  <c:v>0.76239999999999997</c:v>
                </c:pt>
                <c:pt idx="18">
                  <c:v>0.81489999999999996</c:v>
                </c:pt>
                <c:pt idx="19">
                  <c:v>0.8619</c:v>
                </c:pt>
                <c:pt idx="20">
                  <c:v>0.84950000000000003</c:v>
                </c:pt>
                <c:pt idx="21">
                  <c:v>0.76729999999999998</c:v>
                </c:pt>
                <c:pt idx="22">
                  <c:v>0.67210000000000003</c:v>
                </c:pt>
                <c:pt idx="23">
                  <c:v>0.4602</c:v>
                </c:pt>
                <c:pt idx="24">
                  <c:v>0.29289999999999999</c:v>
                </c:pt>
                <c:pt idx="25">
                  <c:v>0.2424</c:v>
                </c:pt>
                <c:pt idx="26">
                  <c:v>0.19589999999999999</c:v>
                </c:pt>
                <c:pt idx="27">
                  <c:v>0.19889999999999999</c:v>
                </c:pt>
                <c:pt idx="28">
                  <c:v>0.22259999999999999</c:v>
                </c:pt>
                <c:pt idx="29">
                  <c:v>0.27189999999999998</c:v>
                </c:pt>
                <c:pt idx="30">
                  <c:v>0.3377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C76-4531-9DED-56EDFDB32C7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Janela final (0,01–0,4)</c:v>
                </c:pt>
              </c:strCache>
            </c:strRef>
          </c:tx>
          <c:spPr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C76-4531-9DED-56EDFDB32C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B/k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Candidato A</c:v>
                </c:pt>
              </c:strCache>
            </c:strRef>
          </c:tx>
          <c:spPr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9500</c:v>
                </c:pt>
                <c:pt idx="1">
                  <c:v>9490</c:v>
                </c:pt>
                <c:pt idx="2">
                  <c:v>9284</c:v>
                </c:pt>
                <c:pt idx="3">
                  <c:v>8850</c:v>
                </c:pt>
                <c:pt idx="4">
                  <c:v>8257</c:v>
                </c:pt>
                <c:pt idx="5">
                  <c:v>7533</c:v>
                </c:pt>
                <c:pt idx="6">
                  <c:v>6876</c:v>
                </c:pt>
                <c:pt idx="7">
                  <c:v>6435</c:v>
                </c:pt>
                <c:pt idx="8">
                  <c:v>6153</c:v>
                </c:pt>
                <c:pt idx="9">
                  <c:v>6000</c:v>
                </c:pt>
                <c:pt idx="10">
                  <c:v>5960</c:v>
                </c:pt>
                <c:pt idx="11">
                  <c:v>6023</c:v>
                </c:pt>
                <c:pt idx="12">
                  <c:v>6131</c:v>
                </c:pt>
                <c:pt idx="13">
                  <c:v>6280</c:v>
                </c:pt>
                <c:pt idx="14">
                  <c:v>6434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C2-46F1-8D66-9875A30C2B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Candidato B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19000</c:v>
                </c:pt>
                <c:pt idx="1">
                  <c:v>18990</c:v>
                </c:pt>
                <c:pt idx="2">
                  <c:v>18782</c:v>
                </c:pt>
                <c:pt idx="3">
                  <c:v>18311</c:v>
                </c:pt>
                <c:pt idx="4">
                  <c:v>17620</c:v>
                </c:pt>
                <c:pt idx="5">
                  <c:v>16739</c:v>
                </c:pt>
                <c:pt idx="6">
                  <c:v>15885</c:v>
                </c:pt>
                <c:pt idx="7">
                  <c:v>15239</c:v>
                </c:pt>
                <c:pt idx="8">
                  <c:v>14764</c:v>
                </c:pt>
                <c:pt idx="9">
                  <c:v>14437</c:v>
                </c:pt>
                <c:pt idx="10">
                  <c:v>14240</c:v>
                </c:pt>
                <c:pt idx="11">
                  <c:v>14161</c:v>
                </c:pt>
                <c:pt idx="12">
                  <c:v>14138</c:v>
                </c:pt>
                <c:pt idx="13">
                  <c:v>14166</c:v>
                </c:pt>
                <c:pt idx="14">
                  <c:v>14213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C2-46F1-8D66-9875A30C2B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Candidato C</c:v>
                </c:pt>
              </c:strCache>
            </c:strRef>
          </c:tx>
          <c:spPr>
            <a:ln w="38100" cap="flat">
              <a:solidFill>
                <a:srgbClr val="F3A71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13571</c:v>
                </c:pt>
                <c:pt idx="1">
                  <c:v>13561</c:v>
                </c:pt>
                <c:pt idx="2">
                  <c:v>13354</c:v>
                </c:pt>
                <c:pt idx="3">
                  <c:v>12898</c:v>
                </c:pt>
                <c:pt idx="4">
                  <c:v>12249</c:v>
                </c:pt>
                <c:pt idx="5">
                  <c:v>11438</c:v>
                </c:pt>
                <c:pt idx="6">
                  <c:v>10676</c:v>
                </c:pt>
                <c:pt idx="7">
                  <c:v>10131</c:v>
                </c:pt>
                <c:pt idx="8">
                  <c:v>9756</c:v>
                </c:pt>
                <c:pt idx="9">
                  <c:v>9523</c:v>
                </c:pt>
                <c:pt idx="10">
                  <c:v>9412</c:v>
                </c:pt>
                <c:pt idx="11">
                  <c:v>9411</c:v>
                </c:pt>
                <c:pt idx="12">
                  <c:v>9460</c:v>
                </c:pt>
                <c:pt idx="13">
                  <c:v>9555</c:v>
                </c:pt>
                <c:pt idx="14">
                  <c:v>9661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C2-46F1-8D66-9875A30C2B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Ano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Biomassa (t)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0B2E4F"/>
                </a:solidFill>
                <a:latin typeface="Arial"/>
              </a:rPr>
              <a:t>Distância (SSQ) para cada q testado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SSQ do candidato A</c:v>
                </c:pt>
              </c:strCache>
            </c:strRef>
          </c:tx>
          <c:spPr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0.75</c:v>
                </c:pt>
                <c:pt idx="1">
                  <c:v>0.77500000000000002</c:v>
                </c:pt>
                <c:pt idx="2">
                  <c:v>0.8</c:v>
                </c:pt>
                <c:pt idx="3">
                  <c:v>0.82499999999999996</c:v>
                </c:pt>
                <c:pt idx="4">
                  <c:v>0.85</c:v>
                </c:pt>
                <c:pt idx="5">
                  <c:v>0.875</c:v>
                </c:pt>
                <c:pt idx="6">
                  <c:v>0.9</c:v>
                </c:pt>
                <c:pt idx="7">
                  <c:v>0.92500000000000004</c:v>
                </c:pt>
                <c:pt idx="8">
                  <c:v>0.95</c:v>
                </c:pt>
                <c:pt idx="9">
                  <c:v>0.97499999999999998</c:v>
                </c:pt>
                <c:pt idx="10">
                  <c:v>1</c:v>
                </c:pt>
                <c:pt idx="11">
                  <c:v>1.0250000000000001</c:v>
                </c:pt>
                <c:pt idx="12">
                  <c:v>1.05</c:v>
                </c:pt>
                <c:pt idx="13">
                  <c:v>1.075</c:v>
                </c:pt>
                <c:pt idx="14">
                  <c:v>1.1000000000000001</c:v>
                </c:pt>
                <c:pt idx="15">
                  <c:v>1.125</c:v>
                </c:pt>
                <c:pt idx="16">
                  <c:v>1.1499999999999999</c:v>
                </c:pt>
                <c:pt idx="17">
                  <c:v>1.175</c:v>
                </c:pt>
                <c:pt idx="18">
                  <c:v>1.2</c:v>
                </c:pt>
                <c:pt idx="19">
                  <c:v>1.2249999999999999</c:v>
                </c:pt>
                <c:pt idx="20">
                  <c:v>1.25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1.2598</c:v>
                </c:pt>
                <c:pt idx="1">
                  <c:v>0.99299999999999999</c:v>
                </c:pt>
                <c:pt idx="2">
                  <c:v>0.76539999999999997</c:v>
                </c:pt>
                <c:pt idx="3">
                  <c:v>0.57369999999999999</c:v>
                </c:pt>
                <c:pt idx="4">
                  <c:v>0.4148</c:v>
                </c:pt>
                <c:pt idx="5">
                  <c:v>0.28610000000000002</c:v>
                </c:pt>
                <c:pt idx="6">
                  <c:v>0.1852</c:v>
                </c:pt>
                <c:pt idx="7">
                  <c:v>0.11</c:v>
                </c:pt>
                <c:pt idx="8">
                  <c:v>5.8299999999999998E-2</c:v>
                </c:pt>
                <c:pt idx="9">
                  <c:v>2.8500000000000001E-2</c:v>
                </c:pt>
                <c:pt idx="10">
                  <c:v>1.89E-2</c:v>
                </c:pt>
                <c:pt idx="11">
                  <c:v>2.81E-2</c:v>
                </c:pt>
                <c:pt idx="12">
                  <c:v>5.4699999999999999E-2</c:v>
                </c:pt>
                <c:pt idx="13">
                  <c:v>9.7500000000000003E-2</c:v>
                </c:pt>
                <c:pt idx="14">
                  <c:v>0.15540000000000001</c:v>
                </c:pt>
                <c:pt idx="15">
                  <c:v>0.22720000000000001</c:v>
                </c:pt>
                <c:pt idx="16">
                  <c:v>0.31219999999999998</c:v>
                </c:pt>
                <c:pt idx="17">
                  <c:v>0.4093</c:v>
                </c:pt>
                <c:pt idx="18">
                  <c:v>0.51790000000000003</c:v>
                </c:pt>
                <c:pt idx="19">
                  <c:v>0.6371</c:v>
                </c:pt>
                <c:pt idx="20">
                  <c:v>0.76619999999999999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442-46AE-9B5F-FED59E7A0B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.25"/>
          <c:min val="0.75"/>
        </c:scaling>
        <c:delete val="0"/>
        <c:axPos val="b"/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150" b="0" i="0" u="none" strike="noStrike">
                    <a:solidFill>
                      <a:srgbClr val="5B6B7B"/>
                    </a:solidFill>
                    <a:latin typeface="Arial"/>
                  </a:rPr>
                  <a:t>q (× 1.000)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  <c:majorUnit val="0.1"/>
      </c:val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150" b="0" i="0" u="none" strike="noStrike">
                    <a:solidFill>
                      <a:srgbClr val="5B6B7B"/>
                    </a:solidFill>
                    <a:latin typeface="Arial"/>
                  </a:rPr>
                  <a:t>SSQ</a:t>
                </a:r>
              </a:p>
            </c:rich>
          </c:tx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CPUE observada</c:v>
                </c:pt>
              </c:strCache>
            </c:strRef>
          </c:tx>
          <c:spPr>
            <a:ln w="31750" cap="flat">
              <a:solidFill>
                <a:srgbClr val="0B2E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2E4F"/>
              </a:solidFill>
              <a:ln w="9525" cap="flat">
                <a:solidFill>
                  <a:srgbClr val="0B2E4F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9.6199999999999992</c:v>
                </c:pt>
                <c:pt idx="1">
                  <c:v>9.1</c:v>
                </c:pt>
                <c:pt idx="2">
                  <c:v>9.57</c:v>
                </c:pt>
                <c:pt idx="3">
                  <c:v>9.19</c:v>
                </c:pt>
                <c:pt idx="4">
                  <c:v>7.64</c:v>
                </c:pt>
                <c:pt idx="5">
                  <c:v>7.15</c:v>
                </c:pt>
                <c:pt idx="6">
                  <c:v>6.91</c:v>
                </c:pt>
                <c:pt idx="7">
                  <c:v>6.35</c:v>
                </c:pt>
                <c:pt idx="8">
                  <c:v>6.15</c:v>
                </c:pt>
                <c:pt idx="9">
                  <c:v>5.8</c:v>
                </c:pt>
                <c:pt idx="10">
                  <c:v>6.17</c:v>
                </c:pt>
                <c:pt idx="11">
                  <c:v>6.21</c:v>
                </c:pt>
                <c:pt idx="12">
                  <c:v>6.15</c:v>
                </c:pt>
                <c:pt idx="13">
                  <c:v>6.57</c:v>
                </c:pt>
                <c:pt idx="14">
                  <c:v>6.56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42-4806-8F46-B24778CC14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Prevista A</c:v>
                </c:pt>
              </c:strCache>
            </c:strRef>
          </c:tx>
          <c:spPr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9.4990000000000006</c:v>
                </c:pt>
                <c:pt idx="1">
                  <c:v>9.4890000000000008</c:v>
                </c:pt>
                <c:pt idx="2">
                  <c:v>9.2829999999999995</c:v>
                </c:pt>
                <c:pt idx="3">
                  <c:v>8.8490000000000002</c:v>
                </c:pt>
                <c:pt idx="4">
                  <c:v>8.2560000000000002</c:v>
                </c:pt>
                <c:pt idx="5">
                  <c:v>7.532</c:v>
                </c:pt>
                <c:pt idx="6">
                  <c:v>6.8760000000000003</c:v>
                </c:pt>
                <c:pt idx="7">
                  <c:v>6.4349999999999996</c:v>
                </c:pt>
                <c:pt idx="8">
                  <c:v>6.1520000000000001</c:v>
                </c:pt>
                <c:pt idx="9">
                  <c:v>5.9989999999999997</c:v>
                </c:pt>
                <c:pt idx="10">
                  <c:v>5.9589999999999996</c:v>
                </c:pt>
                <c:pt idx="11">
                  <c:v>6.0229999999999997</c:v>
                </c:pt>
                <c:pt idx="12">
                  <c:v>6.1310000000000002</c:v>
                </c:pt>
                <c:pt idx="13">
                  <c:v>6.2789999999999999</c:v>
                </c:pt>
                <c:pt idx="14">
                  <c:v>6.4340000000000002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42-4806-8F46-B24778CC14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Prevista B</c:v>
                </c:pt>
              </c:strCache>
            </c:strRef>
          </c:tx>
          <c:spPr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8.5389999999999997</c:v>
                </c:pt>
                <c:pt idx="1">
                  <c:v>8.5350000000000001</c:v>
                </c:pt>
                <c:pt idx="2">
                  <c:v>8.4410000000000007</c:v>
                </c:pt>
                <c:pt idx="3">
                  <c:v>8.23</c:v>
                </c:pt>
                <c:pt idx="4">
                  <c:v>7.9189999999999996</c:v>
                </c:pt>
                <c:pt idx="5">
                  <c:v>7.5229999999999997</c:v>
                </c:pt>
                <c:pt idx="6">
                  <c:v>7.1390000000000002</c:v>
                </c:pt>
                <c:pt idx="7">
                  <c:v>6.8490000000000002</c:v>
                </c:pt>
                <c:pt idx="8">
                  <c:v>6.6360000000000001</c:v>
                </c:pt>
                <c:pt idx="9">
                  <c:v>6.4889999999999999</c:v>
                </c:pt>
                <c:pt idx="10">
                  <c:v>6.4</c:v>
                </c:pt>
                <c:pt idx="11">
                  <c:v>6.3639999999999999</c:v>
                </c:pt>
                <c:pt idx="12">
                  <c:v>6.3540000000000001</c:v>
                </c:pt>
                <c:pt idx="13">
                  <c:v>6.367</c:v>
                </c:pt>
                <c:pt idx="14">
                  <c:v>6.3879999999999999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A42-4806-8F46-B24778CC14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Prevista C</c:v>
                </c:pt>
              </c:strCache>
            </c:strRef>
          </c:tx>
          <c:spPr>
            <a:ln w="31750" cap="flat">
              <a:solidFill>
                <a:srgbClr val="F3A7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A712"/>
              </a:solidFill>
              <a:ln w="9525" cap="flat">
                <a:solidFill>
                  <a:srgbClr val="F3A712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8.9489999999999998</c:v>
                </c:pt>
                <c:pt idx="1">
                  <c:v>8.9420000000000002</c:v>
                </c:pt>
                <c:pt idx="2">
                  <c:v>8.8049999999999997</c:v>
                </c:pt>
                <c:pt idx="3">
                  <c:v>8.5050000000000008</c:v>
                </c:pt>
                <c:pt idx="4">
                  <c:v>8.077</c:v>
                </c:pt>
                <c:pt idx="5">
                  <c:v>7.5419999999999998</c:v>
                </c:pt>
                <c:pt idx="6">
                  <c:v>7.04</c:v>
                </c:pt>
                <c:pt idx="7">
                  <c:v>6.681</c:v>
                </c:pt>
                <c:pt idx="8">
                  <c:v>6.4329999999999998</c:v>
                </c:pt>
                <c:pt idx="9">
                  <c:v>6.2789999999999999</c:v>
                </c:pt>
                <c:pt idx="10">
                  <c:v>6.2060000000000004</c:v>
                </c:pt>
                <c:pt idx="11">
                  <c:v>6.2050000000000001</c:v>
                </c:pt>
                <c:pt idx="12">
                  <c:v>6.2380000000000004</c:v>
                </c:pt>
                <c:pt idx="13">
                  <c:v>6.3</c:v>
                </c:pt>
                <c:pt idx="14">
                  <c:v>6.37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A42-4806-8F46-B24778CC14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Ano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5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B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B6B7B"/>
                    </a:solidFill>
                    <a:latin typeface="Arial"/>
                  </a:rPr>
                  <a:t>Índice (CPUE)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0B2E4F"/>
                </a:solidFill>
                <a:latin typeface="Arial"/>
              </a:rPr>
              <a:t>Soma dos resíduos² (log): menor = melhor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SSQ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9C-4FB0-AD2B-29F408900627}"/>
              </c:ext>
            </c:extLst>
          </c:dPt>
          <c:dPt>
            <c:idx val="1"/>
            <c:invertIfNegative val="0"/>
            <c:bubble3D val="0"/>
            <c:spPr>
              <a:solidFill>
                <a:srgbClr val="F3A7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9C-4FB0-AD2B-29F408900627}"/>
              </c:ext>
            </c:extLst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9C-4FB0-AD2B-29F40890062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D2A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Candidato A</c:v>
                </c:pt>
                <c:pt idx="1">
                  <c:v>Candidato C</c:v>
                </c:pt>
                <c:pt idx="2">
                  <c:v>Candidato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1.9E-2</c:v>
                </c:pt>
                <c:pt idx="1">
                  <c:v>3.9E-2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49C-4FB0-AD2B-29F4089006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0B2E4F"/>
                </a:solidFill>
                <a:latin typeface="Arial"/>
              </a:rPr>
              <a:t>Resíduos da CPUE (RMSE = 3,1%)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Resíduo (log)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2.4E-2</c:v>
                </c:pt>
                <c:pt idx="1">
                  <c:v>-3.2000000000000001E-2</c:v>
                </c:pt>
                <c:pt idx="2">
                  <c:v>4.1000000000000002E-2</c:v>
                </c:pt>
                <c:pt idx="3">
                  <c:v>0.05</c:v>
                </c:pt>
                <c:pt idx="4">
                  <c:v>-6.4000000000000001E-2</c:v>
                </c:pt>
                <c:pt idx="5">
                  <c:v>-3.7999999999999999E-2</c:v>
                </c:pt>
                <c:pt idx="6">
                  <c:v>1.9E-2</c:v>
                </c:pt>
                <c:pt idx="7">
                  <c:v>-3.0000000000000001E-3</c:v>
                </c:pt>
                <c:pt idx="8">
                  <c:v>5.0000000000000001E-3</c:v>
                </c:pt>
                <c:pt idx="9">
                  <c:v>-3.5000000000000003E-2</c:v>
                </c:pt>
                <c:pt idx="10">
                  <c:v>2.7E-2</c:v>
                </c:pt>
                <c:pt idx="11">
                  <c:v>1.6E-2</c:v>
                </c:pt>
                <c:pt idx="12">
                  <c:v>-1.7000000000000001E-2</c:v>
                </c:pt>
                <c:pt idx="13">
                  <c:v>0.02</c:v>
                </c:pt>
                <c:pt idx="14">
                  <c:v>-8.9999999999999993E-3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D0-4D58-88FA-56127E7C7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50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curso apresenta três métodos de avaliação de estoques para situações com poucos dados. Todos partem da mesma ideia — o modelo de produção excedente — e diferem no tipo de informação que usam: DB-SRA (captura + biologia + depleção), CMSY++ (captura + resiliência + janelas de depleção) e JABBA (captura + índice de abundância).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métodos compartilham o mesmo 'motor' (modelo de produção excedente). A parte bayesiana vem antes do CMSY++ porque CMSY++ e JABBA rodam no JAGS, com prior, verossimilhança e MCMC.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bloco: a base comum dos três métodos.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à direita mostra a captura em equilíbrio em função do esforço de pesca. No começo, mais esforço gera mais captura. A partir do Fmsy, o estoque não repõe o que é retirado e a captura de equilíbrio cai. A avaliação de estoque tenta localizar a pescaria nessa curva.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o que acontece com a biomassa pode ser escrito como um balanço: entradas (crescimento dos indivíduos e recrutamento de novos) e saídas (mortalidade natural e captura). Os modelos de produção excedente juntam crescimento, recrutamento e mortalidade natural num único termo: a produção excedente.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contábil simples. Em 1951: 1000 + 100 + 200 − 100 − 300 = 900 t. Em 1952: 900 + 200 + 100 − 200 − 300 = 700 t. A biomassa cai porque Y + M &gt; G + R. Os modelos de produção não separam G, R e M: eles resumem tudo em uma função da própria biomassa.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resume a capacidade do ecossistema. No aquário lotado, falta espaço e comida, e a população não cresce mais. No aquário com poucos peixes, sobra recurso e a população cresce rápido. Nos modelos, K é a biomassa virgem.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é a 'velocidade' da população. O crescimento não é constante: devagar no início, rápido no meio e devagar de novo perto de K. r está ligado à história de vida: crescimento, maturação, longevidade e fecundidade.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equação logística junta r e K. O gráfico mostra uma população com r = 0,2 e K = 20.000 t partindo de uma biomassa pequena: cresce devagar, acelera e depois freia até estabilizar em K. A maior inclinação (maior produção) acontece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Schaefer subtraiu a captura da logística. No equilíbrio a biomassa não muda, então a captura é igual à produção. Isolando Y temos a parábola de rendimento. O topo da parábola é o MSY = rK/4, em Bmsy = K/2, com Fmsy = r/2. No exemplo r = 0,2 e K = 20.000 t: MSY = 1.000 t em B = 10.000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modelo de Fox a produção é r·B·ln(K/B). O máximo acontece em B = K/e ≈ 0,37K, com MSY = rK/e e Fmsy = r. No gráfico as duas curvas foram escaladas para o mesmo MSY, para comparar só a 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Pella-Tomlinson generaliza Schaefer e Fox. O parâmetro m move o pico da produção: Bmsy/K = m^(−1/(m−1)). m = 2 dá Schaefer (0,5); m → 1 dá Fox (0,37). Muitos peixes têm o pico abaixo de 0,5K. Fletcher (1978) reescreveu esse mesmo modelo em função do MSY — é a forma que o DB-SRA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'mistério' que conduz o curso: os pontos de referência dependem de r e K, que não observamos. Os três métodos respondem de formas diferentes. DB-SRA: resolve K dado uma depleção assumida. CMSY++: filtra pares (r,k). JABBA: estima r e K usando um índice de abundância.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série fictícia foi usada nos slides originais do curso (exemplo com r = 0,2 e K = 20.000 t). Vamos passá-la pelo DB-SRA e pelo CMSY++ para comparar. Repare: dois ciclos de expansão e um colapso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DB-SRA (Dick &amp; MacCall, 2011).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DB-SRA nasceu da Stock Reduction Analysis (SRA), que reconstrói a biomassa a partir da captura, e do DCAC de MacCall. Dick &amp; MacCall (2011) combinaram as duas ideias com uma função de produção nova (híbrida Schaefer-PTF), pensada para funcionar bem em biomassas baixas.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sabemos quanto foi retirado e quão depletado o estoque está hoje, existe um único K que, junto com a função de produção, reproduz essa depleção. Estoque grande demais: as capturas mal fazem cócegas e B/K final fica alto. Pequeno demais: o estoque colapsa. O DB-SRA procura o K intermediário que acerta a depleção assumida.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equação de biomassa do DB-SRA é a mesma ideia de sempre (ontem + produção − captura), com um atraso: a produção depende da biomassa de a anos atrás. A produção segue a forma de Pella-Tomlinson reescrita por Fletcher, em função do MSY e do expoente n (que define Bmsy/K). Se n = 2 (Bmsy/K = 0,5) é Schaefer e γ = 4. Para Bmsy/K &lt; 0,5 o método usa uma curva híbrida.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cada rodada Monte Carlo sorteamos M, Fmsy/M, Bmsy/K e Bt/K das distribuições escolhidas. K não tem distribuição: é a incógnita, encontrada por busca numérica. As distribuições mostradas são as de referência do artigo original; devem ser ajustadas ao conhecimento da espécie.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encontrar K em uma rodada, tudo é conta direta. Fmsy e Umsy dependem só de M e Fmsy/M. Bmsy e MSY precisam de K. OFL usa a biomassa do ano de referência B_T. Essas contas se repetem em todas as rodadas aceitas.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laços encaixados: (1) sorteio dos parâmetros, (2) busca de K para cada sorteio, (3) projeção da biomassa para cada K testado. A rodada entra no resultado só se passar pelos critérios. O padrão de rejeição 'esculpe' as distribuições finais — é uma verossimilhança implícita.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didático com a série 1950–1980. Com M = 0,2 e Fmsy/M = 0,8: Fmsy = 0,16. Umsy = [0,16/0,36]·(1 − e^−0,36) = 0,444 × 0,302 = 0,134. Como Bmsy/K = 0,5, MSY = 0,134 × 0,5 × K = 0,067 K. Ainda falta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camada 3 do algoritmo, feita na mão. Com K = 20.000: MSY = 0,134 × 0,5 × 20.000 = 1.343,7 t. Por causa do atraso de 2 anos, a produção de 1951 e 1952 usa a biomassa de 1949 e 1950, que era K, e P(K) = 0. Em 1953 a produção usa B1951 = 19.900: P = 4 × 1.343,7 × 0,995 × 0,005 = 26,7 t. Repetindo até 1980, B/K = 0,416, acima do alvo 0,30. O DB-SRA então testa outro K — é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Mesmas entradas (M = 0,2; Fmsy/M = 0,8; Bmsy/K = 0,5), K diferente. K = 30.000 termina em 0,78 (alto). K = 15.000 colapsa em 1975 (biomassa negativa): rodada rejeitada. Entre 18.000 (0,20) e 20.000 (0,42) está o K que dá 0,30: aproximadamente 18.800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Trajetória aceita com K ≈ 18.804 t: B/K = 0,30 em 1980, nunca negativa e nunca acima de K. Resultados desta rodada: Bmsy = 9.402 t, MSY = 1.263 t/ano, OFL = 0,134 × 5.641 = 758 t. Note que em 1973–74 a captura (4.000 e 2.000 t) passou muito do MSY.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saídas típicas do fishmethods::dbsra: histogramas das entradas sorteadas e aceitas e das quantidades derivadas. Com esta série, a maior parte das rejeições vem de valores baixos de Bt/K. K tem mediana ≈ 23 mil t e MSY ≈ 1,17 mil t/ano.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verde é uma rodada aceita. Todas começam em B/K = 1 e terminam perto do Bt/K sorteado. O intervalo de 95% do MSY vai de ~680 a ~1.630 t/ano: a incerteza das entradas se propaga.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validação de Dick &amp; MacCall contra 31 avaliações completas, MSY e K ficaram, na maioria, entre metade e o dobro do valor de referência. Curiosamente, assumir depleção baixa tende a aproximar o resultado da avaliação completa, porque força mais rejeições informativas.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bloco: antes de CMSY++ e JABBA, precisamos da base bayesiana e da ideia de espaço-estado.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θ representa os parâmetros (r, K, q...). O prior resume o conhecimento prévio (FishBase, outras avaliações, biologia). A verossimilhança mede o ajuste aos dados. O posterior fica entre os dois, puxado para onde os dados são mais informativos. No gráfico, o prior de r era largo e centrado em 0,25; os dados apontam para ~0,45; o posterior concentra perto de 0,43.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discreto para fixar o mecanismo. Nos modelos reais θ é contínuo e tem várias dimensões (r, K, q, biomassa de cada ano), então não dá para montar essa tabela. É por isso que usamos MCMC.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cadeia passeia pelo espaço de parâmetros e passa mais tempo onde a posterior é alta. Depois do burn-in, o histograma dos valores visitados É a posterior. No JABBA, por padrão: 2 cadeias, 30.000 iterações, 5.000 de burn-in, thinning 5 → 10.000 amostras = 10.000 'mundos possíveis'. O gráfico vem do ajuste do exemplo JABBA que veremos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camadas: o estado verdadeiro (biomassa, que nunca vemos) evolui pela equação de produção mais um erro de processo; e o índice observado é uma medida ruidosa desse estado. O modelo estima as duas coisas ao mesmo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cinza é o que a captura sozinha prevê. A azul é a biomassa verdadeira, que se desvia por causa do erro de processo. Os pontos são o índice medido, com erro de observação. Um bom modelo espaço-estado atribui cada desvio à sua fonte. Cuidado: se os dados forem pouco informativos, os dois erros se confundem.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Quarto bloco: CMSY e CMSY++ (Martell &amp; Froese 2013; Froese et al. 2017,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Catch-MSY (2013) introduziu o sorteio de pares (r,k). CMSY (2017) corrigiu vieses (depensação e estimar perto da 'ponta do triângulo') e criou o BSM, versão bayesiana espaço-estado. CMSY++ (2023) usa um prior de MSY para derivar k, um prior conjunto para r e k e uma rede neural para sugerir a depleção.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CMSY não resolve K analiticamente como o DB-SRA. Ele sorteia pares de r e k e simula a biomassa com a captura real. Um par é viável se a biomassa não colapsa, não passa de k e cai dentro das janelas de B/k assumidas. A nuvem de pares viáveis é 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CMSY usa Schaefer (m = 2) com uma correção de depensação abaixo de 25% de k. Uma vez que r e k são conhecidos, MSY = rk/4, Fmsy = r/2 e Bmsy = k/2. F de cada ano é captura dividida pela biomassa.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exatamente a conta dos slides originais do curso, mas agora como um TESTE de um par candidato. r = 0,2 e k = 20.000: B1951 = 20.000 + 0 − 100 = 19.900; B1952 = 19.900 + 19,9 − 150 = 19.769,9 ... B1980 = 1.231 t, B/k = 0,06. O par sobrevive. Mas será o único?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0,2 e k = 15.000 colapsa em 1973 (as capturas de 4.500 e 4.000 t são demais). r = 0,2 e k = 30.000 sobra biomassa: termina em 0,65, acima da janela. r = 0,4 e k = 10.000 também colapsa. Viáveis: (0,2; 20.000) e (0,4; 15.000). O MSY de cada um é rk/4.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Animações dos slides originais: cada trajetória vem de um par (r,k). As barras pretas são as janelas de B/k no início e no fim da série. Trajetórias que colapsam ou terminam fora da janela são descartadas.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de saída gerado para esta aula com a mesma série de captura 1950–1980 e o mesmo filtro Monte Carlo do slide anterior (171 pares viáveis de 3.000 sorteados). A leitura padrão: captura versus MSY, a nuvem de pares (r,k) testados vs. viáveis, trajetória de biomassa (B/Bmsy), F/Fmsy e a curva de equilíbrio (produção vs. B/k, com a captura suavizada em média móvel de 3 anos porque o ano a ano é ruidoso demais). Sempre olhar a nuvem r–k: se ela é larga, o resultado vem mais dos priors do que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trajetória Monte Carlo do painel anterior (mediana dos 171 pares viáveis, suavizada em média móvel de 3 anos), agora só nos dois eixos que definem o status: B/Bmsy no x, F/Fmsy no y. O quadrado é o início (1950, estoque quase virgem e pouco pescado, bem no quadrante verde) e o triângulo é o fim (1980, no quadrante amarelo: biomassa em ~30% de Bmsy, ainda depletada dos picos de captura de 1973-74, mas com F/Fmsy já baixo porque a captura de 1980 despencou para 80 t). A trajetória em loop mostra os ciclos de expansão e retração da pesca ao longo dos 31 anos — repare como ela cruza o quadrante vermelho (sobrepescado E em sobrepesca) durante o pico dos anos 1970.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mais sensível é o prior de depleção: no modo só-captura ele é praticamente o único 'dado de observação'. A queda de captura por troca de alvo (como aconteceu com a cavala em Cabo Verde após 2014) seria lida pelo método como queda de biomassa. O método também só funciona se a captura já chegou perto do MSY em algum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Quinto bloco: JABBA (Winker, Carvalho &amp; Kapur, 2018).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JABBA é da família dos modelos de produção excedente. Herda Pella-Tomlinson/Fletcher na forma da produção e a formulação bayesiana espaço-estado de Meyer &amp; Millar (1999). Diferente de DB-SRA e CMSY++, ele precisa de um índice de abundância: é o índice que separa r de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define a forma. No R, model.type = 'Schaefer', 'Fox', 'Pella' (com BmsyK) ou 'Pella_m' (m estimado). As fórmulas: Bmsy/K = m^(−1/(m−1)); Fmsy = r/(m−1)·(1 − 1/m); MSY = Fmsy·Bmsy. Para m = 2 voltamos a MSY = rK/4 e Fmsy = r/2.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dinâmica de sempre (ontem + produção − captura), escrita em biomassa relativa P = B/K e com erro de processo multiplicativo. A equação de observação liga o índice à biomassa via q. Pontos-chave: ψ é a biomassa relativa no primeiro ano; o erro de observação pode ter partes fixas (SE da padronização) e estimadas.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guia didático. 15 anos de captura e de CPUE. O índice foi gerado a partir do candidato A com ~4% de ruído, mas o modelo não sabe disso. Os três candidatos estão na mesma 'rua' de MSY = rK/4 = 1.000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1: dinâmica pura, igual à do CMSY. Candidato A: B1 = ψ·K = 0,95 × 10.000 = 9.500; B2 = 9.500 + 0,40 × 9.500 × (1 − 0,95) − 200 = 9.500 + 190 − 200 = 9.490; B3 = 9.490 + 193,6 − 400 = 9.283,6. Candidato B: B2 = 19.000 + 190 − 200 = 18.990. Mesma captura, trajetórias em toneladas bem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q̂ é o valor de q que minimiza a distância entre a CPUE prevista (q × B do candidato) e a CPUE observada. Testando q de 0,0008 a 0,0012 no candidato A, o SSQ é mínimo em q = 0,0010 (0,019). Não precisa testar na mão: com erro lognormal, o q ótimo é a média, em log, de CPUE observada / biomassa. Cada candidato tem seu próprio q̂; o que diferencia os candidatos é quão baixo o SSQ consegue chegar — isso é o Passo 4. No JABBA real, q é sorteado pelo MCMC junto com r e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3: com o q̂ de cada candidato, CPUE prevista = q̂ × B. Ano 1: A prevê 9,50 contra 9,62 observado (resíduo +0,013 em log); B prevê 8,54 (resíduo +0,119). No gráfico, A acompanha os pontos; B erra sistematicamente (acima no começo, abaixo no meio): a forma da trajetória não bate, qualquer que seja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4: a nota. SSQ: A = 0,019; C = 0,039; B = 0,080. Com erro lognormal, a verossimilhança cai exponencialmente com o SSQ, então A recebe muito mais peso. No JABBA real, q não é resolvido por essa regressão: ele é sorteado pelo MCMC junto com os outros parâmetros, e a posterior também leva em conta os priors.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posterior do JABBA é o produto de três partes: verossimilhança da CPUE, a dinâmica (com erro de processo) e os priors. O JAGS amostra dessa posterior. Detalhe: o fit_jabba() divide a captura pela média antes de rodar o JAGS (só por estabilidade numérica) e depois reescala K, B e MSY de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Rodamos um MCMC com os priors padrão do JABBA (K ~ lognormal com média 8 × captura máxima e CV = 1; r ~ lognormal com mediana 0,3 e CV 0,5). O modelo recuperou os valores usados para gerar os dados: r ≈ 0,44 e K ≈ 9.500 t. Comparar prior e posterior é o teste honesto de quanto os dados informaram.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B/Bmsy e F/Fmsy com intervalo de 95%. O Kobe resume o status: eixo x = B/Bmsy, eixo y = F/Fmsy. A linha mostra a trajetória da mediana do ano 1 ao 15; a nuvem cinza é a incerteza do último ano. Neste exemplo o estoque está saudável.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Diagnósticos principais do JABBA: resíduos com loess e runs test por índice; RMSE; análise retrospectiva (peels) com Mohn's rho; hindcast com MASE; checagem preditiva posterior (PPC); convergência das cadeias. O DIC só compara modelos com os mesmos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maior limitação é externa ao modelo: a CPUE precisa medir abundância. Na pescaria de cerco multiespecífica, a troca de alvo depois de 2014 é exatamente o caso em que a CPUE nominal pode enganar. Sempre rode cenários (índices, m, priors) e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 os três usam a mesma lógica de produção excedente. A diferença está na informação que 'ancora' o resultado: depleção assumida (DB-SRA), priors de depleção e resiliência (CMSY++) ou o índice de abundância (JABBA). Vale rodar mais de um e comparar.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da parte teórica. Na prática vamos rodar os três métodos no R com a série-exemplo e, depois, com os dados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47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gi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8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7.png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chart" Target="../charts/chart8.xml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45.pn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12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7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3.gif"/><Relationship Id="rId4" Type="http://schemas.openxmlformats.org/officeDocument/2006/relationships/image" Target="../media/image12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CAPACITAÇÃO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estoques com poucos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</a:t>
            </a:r>
            <a:r>
              <a:rPr lang="en-US" sz="2000" dirty="0" err="1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</a:t>
            </a:r>
            <a:endParaRPr lang="en-US" sz="2000" dirty="0">
              <a:solidFill>
                <a:srgbClr val="BFD4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DB-SRA, CMSY++ e JABBA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e Matheus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0" y="64008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tmp/sam/img/image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9712" y="713232"/>
            <a:ext cx="2231136" cy="25511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72600" y="64008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/tmp/sam/img/image4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45752" y="713232"/>
            <a:ext cx="2231136" cy="25511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66560" y="356616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/tmp/sam/img/image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39712" y="3639312"/>
            <a:ext cx="2231136" cy="25511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72600" y="3566160"/>
            <a:ext cx="2377440" cy="2697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3" descr="/tmp/sam/img/image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45752" y="3639312"/>
            <a:ext cx="2231136" cy="2551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que vamos percorrer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" y="2057400"/>
            <a:ext cx="822960" cy="8229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751" y="2238451"/>
            <a:ext cx="460858" cy="46085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excedente: r, K e a curva do MSY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41448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1508" y="2057400"/>
            <a:ext cx="822960" cy="82296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559" y="223845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41448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2532888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578608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biologia + depleção → K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334256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14316" y="2057400"/>
            <a:ext cx="822960" cy="822960"/>
          </a:xfrm>
          <a:prstGeom prst="ellipse">
            <a:avLst/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367" y="2238451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34256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5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4425696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e espaço-estado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471416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Prior, verossimilhança, MCMC e os dois erros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27064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07124" y="2057400"/>
            <a:ext cx="822960" cy="822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175" y="2238451"/>
            <a:ext cx="460858" cy="46085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27064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6318504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364224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 de pares (r, k) que sobrevivem à captura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8119872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99932" y="205740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0983" y="2238451"/>
            <a:ext cx="460858" cy="46085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119872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8211312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257032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CPUE: ajuste bayesiano de r, K e q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0012680" y="178308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492740" y="2057400"/>
            <a:ext cx="822960" cy="82296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3791" y="2238451"/>
            <a:ext cx="460858" cy="46085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12680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2"/>
          <p:cNvSpPr txBox="1"/>
          <p:nvPr/>
        </p:nvSpPr>
        <p:spPr>
          <a:xfrm>
            <a:off x="10104120" y="3429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no R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10149840" y="40690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os métodos com os nossos dados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4D6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713232" y="5504688"/>
            <a:ext cx="548640" cy="54864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33" y="5625389"/>
            <a:ext cx="307238" cy="30723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41732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mesma série de capturas (1950–1980) passa pelo DB-SRA e pelo CMSY++, e no JABBA acrescentamos um índice de abundância. Assim dá para ver o que cada método faz com a informação.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produção excedente: como a biomassa cresce, quanto dá para pescar e por quê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uma avaliação de estoque?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a exploração ótima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quanto pode ser pescado sem comprometer o recurso no futuro.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4015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351221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89888" y="3401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 nível de exploração do MSY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01421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que, no longo prazo, gera a maior captura em peso: o Rendimento Máximo Sustentável.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9560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" y="506669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9888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sobrepesca</a:t>
            </a:r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568696"/>
            <a:ext cx="4663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renovação do estoque (recrutamento + crescimento) não acompanha o que a pesca retira.</a:t>
            </a:r>
            <a:endParaRPr lang="en-US" sz="1400" dirty="0"/>
          </a:p>
        </p:txBody>
      </p:sp>
      <p:pic>
        <p:nvPicPr>
          <p:cNvPr id="21" name="Image 3" descr="/tmp/sam/img/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011680"/>
            <a:ext cx="5394960" cy="355701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09360" y="1417320"/>
            <a:ext cx="2743200" cy="7315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46520" y="14904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captura sobe com o esforço… até certo ponto.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052560" y="5486400"/>
            <a:ext cx="2651760" cy="77724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89720" y="5559552"/>
            <a:ext cx="2377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Fmsy, mais esforço dá MENOS captura.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excedente: o que entra e o que sai da biomassa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2971800"/>
            <a:ext cx="1920240" cy="19202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Biomassa</a:t>
            </a:r>
            <a:endParaRPr lang="en-US" sz="2200" dirty="0"/>
          </a:p>
        </p:txBody>
      </p:sp>
      <p:pic>
        <p:nvPicPr>
          <p:cNvPr id="8" name="Image 0" descr="/tmp/sam/img/image7.g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1737360" cy="118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834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Crescimento</a:t>
            </a:r>
            <a:endParaRPr lang="en-US" sz="1400" dirty="0"/>
          </a:p>
        </p:txBody>
      </p:sp>
      <p:pic>
        <p:nvPicPr>
          <p:cNvPr id="11" name="Image 1" descr="/tmp/sam/img/image6.gif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60520" y="1600200"/>
            <a:ext cx="173736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60520" y="2834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60520" y="2834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Recrutamento</a:t>
            </a:r>
            <a:endParaRPr lang="en-US" sz="1400" dirty="0"/>
          </a:p>
        </p:txBody>
      </p:sp>
      <p:pic>
        <p:nvPicPr>
          <p:cNvPr id="14" name="Image 2" descr="/tmp/sam/img/image9.gif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4892040"/>
            <a:ext cx="1737360" cy="1188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45079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4507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Mortalidade natural</a:t>
            </a:r>
            <a:endParaRPr lang="en-US" sz="1400" dirty="0"/>
          </a:p>
        </p:txBody>
      </p:sp>
      <p:pic>
        <p:nvPicPr>
          <p:cNvPr id="17" name="Image 3" descr="/tmp/sam/img/image8.gif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60520" y="4892040"/>
            <a:ext cx="1737360" cy="11887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160520" y="450799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160520" y="4507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Captura (pesca)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2286000" y="2926080"/>
            <a:ext cx="365760" cy="32004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 flipH="1">
            <a:off x="3840480" y="2926080"/>
            <a:ext cx="365760" cy="32004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 flipH="1">
            <a:off x="2286000" y="4617720"/>
            <a:ext cx="320040" cy="32004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3886200" y="4617720"/>
            <a:ext cx="320040" cy="32004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492240" y="1645920"/>
            <a:ext cx="5120640" cy="2057400"/>
          </a:xfrm>
          <a:prstGeom prst="roundRect">
            <a:avLst>
              <a:gd name="adj" fmla="val 5333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9340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050" y="195773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33488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do “excedente”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720840" y="2459736"/>
            <a:ext cx="4663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estoque produz mais indivíduos e mais peso do que precisa para se manter. Essa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pode ser colhida pela pesca sem que a biomassa diminua.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492240" y="38862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30" name="Image 5" descr="/tmp/sam/eq/ac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4859" y="4160520"/>
            <a:ext cx="3495403" cy="36510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4922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crescimento · </a:t>
            </a: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recrutamento · </a:t>
            </a: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 · </a:t>
            </a: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mortalidade natural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675120" y="5577840"/>
            <a:ext cx="484632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720840" y="5649329"/>
            <a:ext cx="4831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 + R &gt; Y + M, a biomassa cresce. Se for menor, ela cai.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19" grpId="0" animBg="1"/>
      <p:bldP spid="27" grpId="0" animBg="1"/>
      <p:bldP spid="28" grpId="0" animBg="1"/>
      <p:bldP spid="31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fazendo o balanço da biomassa ano a ano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B1951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18288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0" y="19385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mort. natural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20574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0424160" y="2057400"/>
            <a:ext cx="1188720" cy="640080"/>
          </a:xfrm>
          <a:prstGeom prst="roundRect">
            <a:avLst>
              <a:gd name="adj" fmla="val 2857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416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t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B1952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3886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21031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031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B₁₉₅₁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7033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033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+200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37033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035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035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9037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037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−200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365760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37673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−300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4315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mort. natural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3886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B6B7B"/>
                </a:solidFill>
              </a:rPr>
              <a:t>=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10424160" y="3886200"/>
            <a:ext cx="1188720" cy="640080"/>
          </a:xfrm>
          <a:prstGeom prst="roundRect">
            <a:avLst>
              <a:gd name="adj" fmla="val 2857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42416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t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48640" y="5486400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5669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 anos a biomassa caiu de 1000 t para 700 t, porque as saídas (Y + M) superaram as entradas (G + R).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7498080" y="5440680"/>
            <a:ext cx="4114800" cy="960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35240" y="5513832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não medimos G, R e M separados: o modelo junta tudo num único termo, a produção excedente.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5" grpId="0" animBg="1"/>
      <p:bldP spid="47" grpId="0" animBg="1"/>
      <p:bldP spid="4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 de suporte (K): o teto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de um estoque não explorado não cresce para sempre: ela para em um limite imposto pelo ambiente.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283829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disponível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7069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de alimento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457565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4434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(dentro e entre espécies)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54406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4406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capacidade de suporte: a biomassa que o ecossistema sustenta sem pesca (também chamada B₀).</a:t>
            </a:r>
            <a:endParaRPr lang="en-US" sz="3200" dirty="0"/>
          </a:p>
        </p:txBody>
      </p:sp>
      <p:pic>
        <p:nvPicPr>
          <p:cNvPr id="18" name="Image 3" descr="/tmp/sam/img/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920240"/>
            <a:ext cx="5212080" cy="270662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675120" y="48006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75120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Aquário lotado: perto de K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235440" y="48006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235440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Aquário vazio: longe de K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intrínseca de crescimento (r): a velocidade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14600" cy="33375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7" name="Image 0" descr="/tmp/sam/img/image1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09344"/>
            <a:ext cx="2148840" cy="32278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29000" y="16002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população cresce em forma de S até chegar em K. A velocidade muda ao longo do caminho: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429000" y="2377440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2377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37744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lento: poucos indivíduos se reproduzindo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429000" y="3218688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32186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321868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rápido: muitos reprodutores e ainda sobra recurso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429000" y="4059936"/>
            <a:ext cx="1645920" cy="658368"/>
          </a:xfrm>
          <a:prstGeom prst="roundRect">
            <a:avLst>
              <a:gd name="adj" fmla="val 277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29000" y="40599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K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405993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lento de novo: falta espaço e alimento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0749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taxa intrínseca de crescimento: a taxa máxima (por ano) com que a população cresceria se fosse pequena e sem competição. Espécies de vida curta e maturação precoce (ex.: pequenos pelágicos) têm r alto; espécies longevas têm r baixo.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logística (Verhulst, 1838): r e K na mesma equação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log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406" y="1673352"/>
            <a:ext cx="3134868" cy="888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8036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dB/dt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80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da biomassa no tempo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37560" y="288036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880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intrínseca de crescimento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657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no tempo 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337560" y="3657600"/>
            <a:ext cx="777240" cy="566928"/>
          </a:xfrm>
          <a:prstGeom prst="roundRect">
            <a:avLst>
              <a:gd name="adj" fmla="val 322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657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suporte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477316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883810"/>
            <a:ext cx="281635" cy="28163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89888" y="47731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5385816"/>
            <a:ext cx="5029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(1 − B/K) é o “freio”: quando B é pequeno ele vale quase 1 e o estoque cresce a quase r; quando B chega em K ele vale 0 e o crescimento para.</a:t>
            </a:r>
            <a:endParaRPr lang="en-US" sz="1600" dirty="0"/>
          </a:p>
        </p:txBody>
      </p:sp>
      <p:pic>
        <p:nvPicPr>
          <p:cNvPr id="25" name="Image 2" descr="/tmp/sam/img/image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45920"/>
            <a:ext cx="5212080" cy="334670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766560" y="5212080"/>
            <a:ext cx="4754880" cy="10058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903720" y="5285232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máximo acontece em níveis intermediários de biomassa (no meio da curva em S).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Schaefer (1954): colocando a pesca na equação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Incluímos a captura Y</a:t>
            </a:r>
            <a:endParaRPr lang="en-US" sz="1600" dirty="0"/>
          </a:p>
        </p:txBody>
      </p:sp>
      <p:pic>
        <p:nvPicPr>
          <p:cNvPr id="9" name="Image 0" descr="/tmp/sam/eq/schaefer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48840"/>
            <a:ext cx="2779776" cy="62701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equilíbrio, entrada = saída (dB/dt = 0)</a:t>
            </a:r>
            <a:endParaRPr lang="en-US" sz="1600" dirty="0"/>
          </a:p>
        </p:txBody>
      </p:sp>
      <p:pic>
        <p:nvPicPr>
          <p:cNvPr id="13" name="Image 1" descr="/tmp/sam/eq/eq_z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383280"/>
            <a:ext cx="2359152" cy="57215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Isolando Y: a captura sustentável para cada B</a:t>
            </a:r>
            <a:endParaRPr lang="en-US" sz="1600" dirty="0"/>
          </a:p>
        </p:txBody>
      </p:sp>
      <p:pic>
        <p:nvPicPr>
          <p:cNvPr id="17" name="Image 2" descr="/tmp/sam/eq/schaefer_e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617720"/>
            <a:ext cx="1852313" cy="57215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544068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E3F4F2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3" descr="/tmp/sam/eq/schaefer_ref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103" y="5596128"/>
            <a:ext cx="4044914" cy="531658"/>
          </a:xfrm>
          <a:prstGeom prst="rect">
            <a:avLst/>
          </a:prstGeom>
        </p:spPr>
      </p:pic>
      <p:pic>
        <p:nvPicPr>
          <p:cNvPr id="20" name="Image 4" descr="/tmp/sam/img/image1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600200"/>
            <a:ext cx="5120640" cy="32918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766560" y="5120640"/>
            <a:ext cx="4754880" cy="10972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903720" y="5193792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uma parábola simétrica: a maior captura sustentável (MSY) acontece em B = K/2 (50% de K).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 (1970): produção máxima mais cedo, em ~37%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/tmp/sam/eq/fox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281646" cy="7628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de Schaefer (captura de equilíbrio = produção), mas o “freio” é logarítmico: ln(K/B).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E3F4F2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/tmp/sam/eq/fox_ref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71" y="3794760"/>
            <a:ext cx="4543697" cy="42454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66344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486460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" y="4975250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89888" y="48646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prática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5477256"/>
            <a:ext cx="4937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assimétrica: o estoque rende o máximo com biomassa menor (37% de K) e aguenta relativamente melhor quando está baixo.</a:t>
            </a:r>
            <a:endParaRPr lang="en-US" sz="160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1018097253"/>
              </p:ext>
            </p:extLst>
          </p:nvPr>
        </p:nvGraphicFramePr>
        <p:xfrm>
          <a:off x="6217920" y="1554480"/>
          <a:ext cx="53949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Pella-Tomlinson: o parâmetro m posiciona o pico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/tmp/sam/eq/p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4160520" cy="724989"/>
          </a:xfrm>
          <a:prstGeom prst="rect">
            <a:avLst/>
          </a:prstGeom>
        </p:spPr>
      </p:pic>
      <p:pic>
        <p:nvPicPr>
          <p:cNvPr id="7" name="Image 1" descr="/tmp/sam/eq/bmsy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88920"/>
            <a:ext cx="2337816" cy="6679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5468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controla onde fica o pico da produção: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476856"/>
              </p:ext>
            </p:extLst>
          </p:nvPr>
        </p:nvGraphicFramePr>
        <p:xfrm>
          <a:off x="640080" y="3657600"/>
          <a:ext cx="5303520" cy="1645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 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bem à esquerda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à direita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978093925"/>
              </p:ext>
            </p:extLst>
          </p:nvPr>
        </p:nvGraphicFramePr>
        <p:xfrm>
          <a:off x="6217920" y="1554480"/>
          <a:ext cx="539496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 e K, tudo sai. Mas… e se não conhecemos r e K?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0" cy="2011680"/>
          </a:xfrm>
          <a:prstGeom prst="roundRect">
            <a:avLst>
              <a:gd name="adj" fmla="val 6364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soubéssemos r e K…</a:t>
            </a:r>
            <a:endParaRPr lang="en-US" sz="1600" dirty="0"/>
          </a:p>
        </p:txBody>
      </p:sp>
      <p:pic>
        <p:nvPicPr>
          <p:cNvPr id="8" name="Image 0" descr="/tmp/sam/eq/schaefer_ref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43" y="2331720"/>
            <a:ext cx="3677194" cy="48332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…os pontos de referência sairiam direto.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48840" y="3977640"/>
            <a:ext cx="1371600" cy="13716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4279392"/>
            <a:ext cx="768096" cy="7680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5486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vida real quase nunca temos r e K. Cada método resolve esse problema de um jeito: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486400" y="160020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8756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210" y="191201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27648" y="18013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2414016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M + uma depleção atual assumida. Para cada sorteio, RESOLVE o K que fecha a conta.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0" y="3172968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87568" y="3374136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210" y="3484778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27648" y="33741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986784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resiliência + janelas de depleção. SORTEIA pares (r, k) e fica com os que sobrevivem.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0" y="4745736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87568" y="4946904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8210" y="5057546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27648" y="494690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0" y="5559552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captura + índice de abundância (CPUE). AJUSTA r, K e q para explicar a captura e o índice ao mesmo tempo.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0136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série-exemplo de capturas (fictícia, 1950–1980)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08760"/>
          <a:ext cx="749808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60020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30768" y="180136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41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70848" y="1801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1950–1962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2414016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Pesca cresce de 100 t para 3.000 t.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0" y="315468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30768" y="335584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410" y="346649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70848" y="3355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1963–1968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3968496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despenca e o estoque se recupera.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229600" y="470916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30768" y="491032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1410" y="5020970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70848" y="4910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1972–1980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458200" y="5522976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4.500 e 4.000 t e depois colapso das capturas (80 t em 1980).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DB-SRA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Depletion-Based Stock Reduction Analysis: da captura e de uma depleção assumida até K, MSY e OFL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DB-SRA e para que ele serve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Kimura et al.: reconstruir a biomassa a partir da captura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estocástica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Walters et al.: sorteio de parâmetros (Monte Carlo)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MacCall: captura média corrigida pela depleção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457200" cy="457200"/>
          </a:xfrm>
          <a:prstGeom prst="ellipse">
            <a:avLst/>
          </a:prstGeom>
          <a:solidFill>
            <a:srgbClr val="F3A7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8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 &amp; MacCall: junta tudo com uma nova função de produção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7024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380890"/>
            <a:ext cx="281635" cy="28163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89888" y="4270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estima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82896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sustentável e pontos de referência de manejo: K, Bmsy, Fmsy, MSY e o limite de sobrepesca (OFL = captura ao pescar o estoque atual no Fmsy).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72200" y="40690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3368" y="427024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010" y="4380890"/>
            <a:ext cx="281635" cy="28163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013448" y="4270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precisa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4882896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 de capturas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natural (M) e idade de maturação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ideia da depleção atual (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 recente)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índice de abundância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Raciocínio central: só um K “fecha a conta”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46304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338" y="160385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série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(estoque não explorado)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13632" y="2423160"/>
            <a:ext cx="411480" cy="45720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0" y="146304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818" y="160385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912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ano a ano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Retiradas conhecidas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série histórica)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754112" y="2423160"/>
            <a:ext cx="411480" cy="45720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0" y="1691640"/>
            <a:ext cx="3291840" cy="192024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25400">
            <a:solidFill>
              <a:srgbClr val="0B2E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555480" y="1463040"/>
            <a:ext cx="640080" cy="64008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298" y="160385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2960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recente T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= depleção assumida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(ex.: 30% de K)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48640" y="3931920"/>
            <a:ext cx="6400800" cy="2331720"/>
          </a:xfrm>
          <a:prstGeom prst="roundRect">
            <a:avLst>
              <a:gd name="adj" fmla="val 549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4069080"/>
            <a:ext cx="5943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 DB-SRA faz: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tamanho de estoque (K), com essa produtividade, sai de </a:t>
            </a: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K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e, depois de todas essas capturas, termina exatamente em </a:t>
            </a: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 K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?”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269480" y="3931920"/>
            <a:ext cx="4343400" cy="2331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406640" y="4005072"/>
            <a:ext cx="406908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o objetivo é achar K?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Sim! Em cada sorteio, M, Fmsy/M e Bmsy/K ficam fixos e só K é procurado. Achado K, Bmsy, MSY e OFL saem direto. Repetindo 10.000 vezes, temos uma distribuição de K (e de todo o resto).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motor: dinâmica com atraso + produção de Fletcher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1143000"/>
          </a:xfrm>
          <a:prstGeom prst="roundRect">
            <a:avLst>
              <a:gd name="adj" fmla="val 96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803" y="1828800"/>
            <a:ext cx="4134394" cy="4212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de ontem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1460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1460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produção gerada pela biomassa de a anos atrás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2852928"/>
            <a:ext cx="1874520" cy="566928"/>
          </a:xfrm>
          <a:prstGeom prst="roundRect">
            <a:avLst>
              <a:gd name="adj" fmla="val 3225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8529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captura de ontem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84448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785616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3896258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89888" y="378561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atraso “a”?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398264"/>
            <a:ext cx="5303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recruta leva “a” anos (maturação) para se reproduzir: a produção de hoje vem dos reprodutores de a anos atrás.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5029200"/>
            <a:ext cx="5760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pic>
        <p:nvPicPr>
          <p:cNvPr id="20" name="Image 2" descr="/tmp/sam/eq/fletc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74920"/>
            <a:ext cx="3048000" cy="476794"/>
          </a:xfrm>
          <a:prstGeom prst="rect">
            <a:avLst/>
          </a:prstGeom>
        </p:spPr>
      </p:pic>
      <p:pic>
        <p:nvPicPr>
          <p:cNvPr id="21" name="Image 3" descr="/tmp/sam/eq/gam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696712"/>
            <a:ext cx="2800023" cy="478101"/>
          </a:xfrm>
          <a:prstGeom prst="rect">
            <a:avLst/>
          </a:prstGeom>
        </p:spPr>
      </p:pic>
      <p:pic>
        <p:nvPicPr>
          <p:cNvPr id="22" name="Image 4" descr="/tmp/sam/fig/db_hyb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1554480"/>
            <a:ext cx="5029200" cy="316382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675120" y="4937760"/>
            <a:ext cx="4892040" cy="13716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812280" y="5010912"/>
            <a:ext cx="4617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híbrida: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Bmsy/K &lt; 0,5, abaixo de um “ponto de junção” a curva vira uma reta (Schaefer). Isso evita que o estoque se recupere rápido demais quando está muito baixo.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entradas sorteadas, uma incógnita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pic>
        <p:nvPicPr>
          <p:cNvPr id="8" name="Image 0" descr="/tmp/sam/fig/d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1554480" cy="8503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natural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 centrada na melhor estimativa (desvio log ≈ 0,4)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9748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9748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Fmsy/M</a:t>
            </a:r>
            <a:endParaRPr lang="en-US" sz="2400" dirty="0"/>
          </a:p>
        </p:txBody>
      </p:sp>
      <p:pic>
        <p:nvPicPr>
          <p:cNvPr id="15" name="Image 1" descr="/tmp/sam/fig/d_F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377440"/>
            <a:ext cx="1554480" cy="85039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0720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Fmsy / M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280720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Lognormal, média ≈ 0,8 (desvio log ≈ 0,2)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10896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10896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4632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4632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Bmsy/K</a:t>
            </a:r>
            <a:endParaRPr lang="en-US" sz="2400" dirty="0"/>
          </a:p>
        </p:txBody>
      </p:sp>
      <p:pic>
        <p:nvPicPr>
          <p:cNvPr id="22" name="Image 2" descr="/tmp/sam/fig/d_B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377440"/>
            <a:ext cx="1554480" cy="85039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5604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o pico da produção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495604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média ≈ 0,4 (0,25 para linguados)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25780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25780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995160" y="164592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9516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Bt/K</a:t>
            </a:r>
            <a:endParaRPr lang="en-US" sz="2400" dirty="0"/>
          </a:p>
        </p:txBody>
      </p:sp>
      <p:pic>
        <p:nvPicPr>
          <p:cNvPr id="29" name="Image 3" descr="/tmp/sam/fig/d_B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2377440"/>
            <a:ext cx="1554480" cy="85039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104888" y="33375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no ano recente T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7104888" y="393192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Beta, média definida pelo analista (dp ≈ 0,1)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7406640" y="47091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406640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sorteado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235440" y="1645920"/>
            <a:ext cx="2377440" cy="3429000"/>
          </a:xfrm>
          <a:prstGeom prst="roundRect">
            <a:avLst>
              <a:gd name="adj" fmla="val 4615"/>
            </a:avLst>
          </a:prstGeom>
          <a:solidFill>
            <a:srgbClr val="FFF4D6"/>
          </a:solidFill>
          <a:ln w="25400">
            <a:solidFill>
              <a:srgbClr val="F3A712"/>
            </a:solidFill>
            <a:prstDash val="dash"/>
          </a:ln>
        </p:spPr>
      </p:sp>
      <p:sp>
        <p:nvSpPr>
          <p:cNvPr id="35" name="Text 29"/>
          <p:cNvSpPr txBox="1"/>
          <p:nvPr/>
        </p:nvSpPr>
        <p:spPr>
          <a:xfrm>
            <a:off x="923544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800" dirty="0"/>
          </a:p>
        </p:txBody>
      </p:sp>
      <p:sp>
        <p:nvSpPr>
          <p:cNvPr id="36" name="Shape 30"/>
          <p:cNvSpPr/>
          <p:nvPr/>
        </p:nvSpPr>
        <p:spPr>
          <a:xfrm>
            <a:off x="10012680" y="2423160"/>
            <a:ext cx="822960" cy="82296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3731" y="2604211"/>
            <a:ext cx="460858" cy="46085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32688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virgem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9372600" y="3703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sorteado: é resolvido numericamente para bater com o Bt/K sorteado.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548640" y="5349240"/>
            <a:ext cx="11064240" cy="91440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85800" y="5422392"/>
            <a:ext cx="10789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é, de longe, a entrada mais influente. Depleção assumida mais alta → MSY e captura sustentável maiores. Sempre teste mais de um cenário (ex.: 0,2 / 0,3 / 0,4).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 K, as quantidades de manejo saem direto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47088"/>
            <a:ext cx="329184" cy="32918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0" descr="/tmp/sam/eq/fmsy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55866"/>
            <a:ext cx="1756954" cy="5116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16733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por pesca no MSY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duas entradas sorteadas. Não depende de K.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3" name="Image 1" descr="/tmp/sam/eq/ums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680281"/>
            <a:ext cx="3409406" cy="54646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261518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exploração no MSY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2953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F instantânea em fração capturada por ano (equação de Baranov). Não depende de K.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48386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730752"/>
            <a:ext cx="329184" cy="329184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8" name="Image 2" descr="/tmp/sam/eq/bmsy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638441"/>
            <a:ext cx="1717766" cy="5138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52160" y="355701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no MSY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852160" y="3895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de K onde a produção é máxima.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442569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672584"/>
            <a:ext cx="329184" cy="329184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3" name="Image 3" descr="/tmp/sam/eq/msy_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4696750"/>
            <a:ext cx="2057400" cy="2808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852160" y="44988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máximo sustentável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852160" y="4837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ótima × biomassa a que ela se aplica.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536752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EF4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5614416"/>
            <a:ext cx="329184" cy="3291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8" name="Image 4" descr="/tmp/sam/eq/ofl_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5638582"/>
            <a:ext cx="1815737" cy="28085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852160" y="54406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sobrepesca (OFL)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852160" y="57790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ao pescar o estoque ATUAL (biomassa no ano T) na taxa ótima.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em três camadas, uma dentro da outra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4663440"/>
          </a:xfrm>
          <a:prstGeom prst="roundRect">
            <a:avLst>
              <a:gd name="adj" fmla="val 3137"/>
            </a:avLst>
          </a:prstGeom>
          <a:solidFill>
            <a:srgbClr val="E4EBF3"/>
          </a:solidFill>
          <a:ln w="1905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· Sorteio </a:t>
            </a: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(10.000 vezes)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M, Fmsy/M, Bmsy/K e Bt/K-alvo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6035040" cy="3566160"/>
          </a:xfrm>
          <a:prstGeom prst="roundRect">
            <a:avLst>
              <a:gd name="adj" fmla="val 4103"/>
            </a:avLst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· Busca por K </a:t>
            </a: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(várias tentativas por rodada)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71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um K, compara o B/K final com o alvo, ajusta K e tenta de novo (como uma bisseção)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3657600"/>
            <a:ext cx="53035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· Projeção </a:t>
            </a: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(uma vez por K testado)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a série de capturas ano a ano:</a:t>
            </a:r>
            <a:endParaRPr lang="en-US" sz="1600" dirty="0"/>
          </a:p>
        </p:txBody>
      </p:sp>
      <p:pic>
        <p:nvPicPr>
          <p:cNvPr id="15" name="Image 0" descr="/tmp/sam/eq/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75" y="4617720"/>
            <a:ext cx="3031889" cy="30893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50876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a trajetória e o B/K no ano 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rodada é aceita se: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680960" y="21945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22951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75320" y="21488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sempre positiva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estoque não colapsa com aquelas capturas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680960" y="306324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316382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75320" y="3017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nunca acima de K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é o teto (tolerância pequena)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7680960" y="393192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40325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75320" y="38862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no ano T bate com o alvo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tolerância (ex.: ±0,01)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490118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75320" y="47548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converge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número máximo de tentativas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7680960" y="5669280"/>
            <a:ext cx="393192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818120" y="57424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rodadas rejeitadas também informam!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(1/4): o que não depende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desta rodada (sorteadas):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0,20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= 0,80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alvo = 0,30 (1980)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2316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anos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2587752"/>
            <a:ext cx="1783080" cy="420624"/>
          </a:xfrm>
          <a:prstGeom prst="roundRect">
            <a:avLst>
              <a:gd name="adj" fmla="val 43478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58775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 = 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 → n = 2 (Schaefer) e γ = 4: assim evitamos resolver n numericamente.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50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200" dirty="0"/>
          </a:p>
        </p:txBody>
      </p:sp>
      <p:pic>
        <p:nvPicPr>
          <p:cNvPr id="22" name="Image 0" descr="/tmp/sam/eq/ex_fm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432" y="3994785"/>
            <a:ext cx="2743200" cy="29489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48640" y="477316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773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200" dirty="0"/>
          </a:p>
        </p:txBody>
      </p:sp>
      <p:pic>
        <p:nvPicPr>
          <p:cNvPr id="25" name="Image 1" descr="/tmp/sam/eq/ex_ums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4708698"/>
            <a:ext cx="4720808" cy="481149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48640" y="559612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55961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200" dirty="0"/>
          </a:p>
        </p:txBody>
      </p:sp>
      <p:pic>
        <p:nvPicPr>
          <p:cNvPr id="28" name="Image 2" descr="/tmp/sam/eq/ex_ms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5633847"/>
            <a:ext cx="3515868" cy="29489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675120" y="1600200"/>
            <a:ext cx="4937760" cy="2103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12280" y="1673352"/>
            <a:ext cx="46634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</a:t>
            </a: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Umsy NÃO dependem de K!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só usam M e Fmsy/M. Já o MSY em toneladas depende de K: aqui só sabemos que MSY = 6,7% de K.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675120" y="397764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87628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930" y="4289450"/>
            <a:ext cx="281635" cy="28163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516368" y="4178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Umsy &lt; Fmsy?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6903720" y="4791456"/>
            <a:ext cx="4480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é uma taxa instantânea. Durante o ano, a mortalidade natural (M) também “come” parte dos peixes. Por isso, a fração efetivamente capturada no ano (13,4%) é menor que F (16%).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(2/4): projetando a biomassa na mão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desta tentativa: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testado = 20.000 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59152" y="19385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0,20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9664" y="19385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9664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= 0,80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414016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4140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Bmsy/K = 0,50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59152" y="2414016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9152" y="24140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anos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69664" y="2414016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9664" y="24140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B₁₉₅₀ = 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20" name="Image 0" descr="/tmp/sam/eq/db_msy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44952"/>
            <a:ext cx="3088059" cy="224681"/>
          </a:xfrm>
          <a:prstGeom prst="rect">
            <a:avLst/>
          </a:prstGeom>
        </p:spPr>
      </p:pic>
      <p:pic>
        <p:nvPicPr>
          <p:cNvPr id="21" name="Image 1" descr="/tmp/sam/eq/db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2094847" cy="40527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38328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(Bmsy/K = 0,5 → n = 2, γ = 4)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649426"/>
              </p:ext>
            </p:extLst>
          </p:nvPr>
        </p:nvGraphicFramePr>
        <p:xfrm>
          <a:off x="548640" y="4206240"/>
          <a:ext cx="5394960" cy="21945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B(t−2)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(1949)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(1950)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6217920" y="14432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(captura observada da série):</a:t>
            </a:r>
            <a:endParaRPr lang="en-US" sz="1500" dirty="0"/>
          </a:p>
        </p:txBody>
      </p:sp>
      <p:pic>
        <p:nvPicPr>
          <p:cNvPr id="25" name="Image 2" descr="/tmp/sam/eq/db_b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19" y="1870845"/>
            <a:ext cx="4949802" cy="232275"/>
          </a:xfrm>
          <a:prstGeom prst="rect">
            <a:avLst/>
          </a:prstGeom>
        </p:spPr>
      </p:pic>
      <p:pic>
        <p:nvPicPr>
          <p:cNvPr id="26" name="Image 3" descr="/tmp/sam/eq/db_b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404" y="2240062"/>
            <a:ext cx="4982832" cy="2338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01404" y="244904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zero: a biomassa parental (de 2 anos atrás) ainda era K, e P(K) = 0.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6217920" y="4069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assim até 1980, sempre usando a captura observada de cada ano.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6217920" y="4617720"/>
            <a:ext cx="5394960" cy="132588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355080" y="4690872"/>
            <a:ext cx="51206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 teste: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B₁₉₈₀/K = 8.317 / 20.000 = 0,416. O alvo sorteado era 0,30: o estoque terminou “cheio demais”, então K = 20.000 é grande demais. A busca testa um K menor e refaz toda a conta.</a:t>
            </a:r>
            <a:endParaRPr lang="en-US" sz="1600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3250ABE-FDB4-8D3A-DDBB-3C3485832516}"/>
              </a:ext>
            </a:extLst>
          </p:cNvPr>
          <p:cNvSpPr/>
          <p:nvPr/>
        </p:nvSpPr>
        <p:spPr>
          <a:xfrm>
            <a:off x="7566532" y="3721041"/>
            <a:ext cx="755432" cy="2926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Image 5" descr="/tmp/sam/eq/db_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695" y="3749212"/>
            <a:ext cx="5788804" cy="250589"/>
          </a:xfrm>
          <a:prstGeom prst="rect">
            <a:avLst/>
          </a:prstGeom>
        </p:spPr>
      </p:pic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F41D802-6021-81C3-7F52-F0C7016D08DF}"/>
              </a:ext>
            </a:extLst>
          </p:cNvPr>
          <p:cNvSpPr/>
          <p:nvPr/>
        </p:nvSpPr>
        <p:spPr>
          <a:xfrm>
            <a:off x="6217919" y="3154680"/>
            <a:ext cx="774007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Image 4" descr="/tmp/sam/eq/db_p51.png">
            <a:extLst>
              <a:ext uri="{FF2B5EF4-FFF2-40B4-BE49-F238E27FC236}">
                <a16:creationId xmlns:a16="http://schemas.microsoft.com/office/drawing/2014/main" id="{F40B800A-4834-76CE-5D26-59B6D0AD6E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113878"/>
            <a:ext cx="4364180" cy="425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30" grpId="0" animBg="1"/>
      <p:bldP spid="32" grpId="0" animBg="1"/>
      <p:bldP spid="33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(3/4): testando vários valores de 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08760"/>
          <a:ext cx="649224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902887"/>
              </p:ext>
            </p:extLst>
          </p:nvPr>
        </p:nvGraphicFramePr>
        <p:xfrm>
          <a:off x="7208520" y="1280160"/>
          <a:ext cx="4434840" cy="301142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testado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(0,067K)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em 1980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2.015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alto demais 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1.344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alto 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1.008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REJEITADO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1.209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demais ↑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1.263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ACERTOU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4428744"/>
            <a:ext cx="4434840" cy="1834896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4428744"/>
            <a:ext cx="4160520" cy="176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da busca: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grande → as capturas pesam pouco e B/K termina alto. K pequeno → as capturas pesam muito e o estoque cai demais (ou colapsa). O K certo fica entre os dois.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passo a passo (4/4): a rodada aceita e o manejo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617518"/>
              </p:ext>
            </p:extLst>
          </p:nvPr>
        </p:nvGraphicFramePr>
        <p:xfrm>
          <a:off x="548640" y="1600200"/>
          <a:ext cx="5852160" cy="362102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(t)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Produção (t)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 (t)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18.554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9.976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11.854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3492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= 0 em 1951–52: efeito do atraso de a = 2 anos (os reprodutores ainda eram K).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20840" y="1600200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160020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6002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18.804 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720840" y="2313432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2313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Bmsy = 0,5K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31343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9.402 t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720840" y="3026664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30266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MSY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0266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1.263 t/ano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20840" y="3739896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37398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 / Umsy</a:t>
            </a:r>
            <a:endParaRPr lang="en-US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373989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0,16 / 0,134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720840" y="4453128"/>
            <a:ext cx="4892040" cy="603504"/>
          </a:xfrm>
          <a:prstGeom prst="roundRect">
            <a:avLst>
              <a:gd name="adj" fmla="val 1515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44531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OFL = Umsy × B₁₉₈₀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445312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758 t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6720840" y="5257800"/>
            <a:ext cx="4892040" cy="10058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5330952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= um K.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rodadas com entradas diferentes = uma distribuição para K, MSY, OFL…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(1/2): sorteados × aceitos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6" name="Image 0" descr="/tmp/sam/fig/db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508760"/>
            <a:ext cx="7986045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60020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1364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29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53728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2414016"/>
            <a:ext cx="27432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branca = tudo que foi sorteado. Barra azul = o que sobreviveu aos critérios. A razão entre elas é a taxa de aceitação local.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412480" y="3840480"/>
            <a:ext cx="3200400" cy="2423160"/>
          </a:xfrm>
          <a:prstGeom prst="roundRect">
            <a:avLst>
              <a:gd name="adj" fmla="val 4528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13648" y="40416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290" y="415229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253728" y="40416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aqui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641080" y="4654296"/>
            <a:ext cx="27432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3.481 de 4.000 rodadas aceitas (87%). As rejeições se concentram em Bt/K baixo: depleções inalcançáveis sem colapso.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577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feita para esta aula com a série-exemplo: M ~ LN(0,2; 0,4), Fmsy/M ~ LN(0,8; 0,2), Bmsy/K ~ Beta(0,4; 0,1), Bt/K ~ Beta(0,3; 0,1), a = 2.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(2/2): trajetórias e pontos de referência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6" name="Image 0" descr="/tmp/sam/fig/db_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400800" cy="3904488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150683"/>
              </p:ext>
            </p:extLst>
          </p:nvPr>
        </p:nvGraphicFramePr>
        <p:xfrm>
          <a:off x="7178040" y="1645920"/>
          <a:ext cx="4434840" cy="24688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14.707 – 39.149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 (t)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5.717 – 14.049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(t/ano)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 – 1.628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 – 0,35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OFL (t)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 – 2.162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4562764"/>
            <a:ext cx="4434840" cy="1700876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4710544"/>
            <a:ext cx="4160520" cy="1479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não é um número, é uma distribuição. Para manejo, pode-se usar a mediana ou um percentil mais conservador (ex.: 25%) do OFL.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DB-SRA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DB-SRA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Depleção assumida manda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Bt/K é o input mais sensível e quase sempre o menos conhecido.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“Viagem só de ida”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melhor quando o estoque caiu de forma contínua. Colapsos seguidos de recuperação atrapalham.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precisa ser boa</a:t>
            </a:r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incompleta ou com viés vai direto para K e para todos os pontos de referência.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Estoques perto de K</a:t>
            </a:r>
            <a:endParaRPr lang="en-US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depleção = pouca informação: o método tende a dar MSY alto demais.</a:t>
            </a: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Fmsy/M fracamente informado</a:t>
            </a:r>
            <a:endParaRPr lang="en-US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de captura quase não informa esse parâmetro: ele reflete o prior.</a:t>
            </a:r>
            <a:endParaRPr lang="en-US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índice nem erro de processo</a:t>
            </a:r>
            <a:endParaRPr lang="en-US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CPUE e não trata variação ambiental no recrutamento.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e espaço-estado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comum do CMSY++ e do JABBA: prior, verossimilhança, posterior, MCMC e os dois tipos de erro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bayesiana: juntar o que já sabíamos com o que os dados dizem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ba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551" y="1737360"/>
            <a:ext cx="4970417" cy="4343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74320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8152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 p(θ)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267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sabíamos ANTES dos dados. Ex.: r de uma espécie de resiliência média fica entre 0,2 e 0,8.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039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Verossimilhança  p(dados | θ)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4154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bem o modelo, com o valor θ, explica os dados observados.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5120640"/>
            <a:ext cx="48463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1926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 p(θ | dados)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6041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ATUALIZADO: prior × verossimilhança, normalizado.</a:t>
            </a:r>
            <a:endParaRPr lang="en-US" sz="1600" dirty="0"/>
          </a:p>
        </p:txBody>
      </p:sp>
      <p:pic>
        <p:nvPicPr>
          <p:cNvPr id="17" name="Image 1" descr="/tmp/sam/fig/bayes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569200"/>
            <a:ext cx="6217920" cy="3692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bolso: três valores possíveis de 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146966"/>
              </p:ext>
            </p:extLst>
          </p:nvPr>
        </p:nvGraphicFramePr>
        <p:xfrm>
          <a:off x="548640" y="1345692"/>
          <a:ext cx="6675120" cy="270052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candidato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Verossimilhança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× Verossim.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 / 0,40 = 0,06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 / 0,40 = 0,75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0,075 / 0,40 = 0,19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Multiplique prior × verossimilhança em cada linha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4846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tudo (0,40): é a constante de normalização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553212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532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cada linha pela soma → posterior soma 1</a:t>
            </a:r>
            <a:endParaRPr lang="en-US" sz="16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498080" y="155448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3"/>
          <p:cNvSpPr/>
          <p:nvPr/>
        </p:nvSpPr>
        <p:spPr>
          <a:xfrm>
            <a:off x="7498080" y="5074920"/>
            <a:ext cx="4114800" cy="1188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35240" y="5148072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“puxaram” a probabilidade para r = 0,4, mas o prior ainda pesa nas outras opções.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BAYES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MCMC: como o computador “monta” a posterior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/tmp/sam/fig/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406640" cy="2624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" y="47283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</a:t>
            </a: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conjunto de parâmetros perto do atual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33756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2044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082" y="472836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6052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</a:t>
            </a:r>
            <a:endParaRPr lang="en-US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verossimilhança do novo com o atual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12648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0936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002" y="472836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ou não</a:t>
            </a:r>
            <a:endParaRPr lang="en-US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→ aceita; pior → aceita às vezes (com probabilidade)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8915400" y="443484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098280" y="4617720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922" y="4728362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73836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</a:t>
            </a:r>
            <a:endParaRPr lang="en-US" dirty="0"/>
          </a:p>
        </p:txBody>
      </p:sp>
      <p:sp>
        <p:nvSpPr>
          <p:cNvPr id="26" name="Text 19"/>
          <p:cNvSpPr txBox="1"/>
          <p:nvPr/>
        </p:nvSpPr>
        <p:spPr>
          <a:xfrm>
            <a:off x="9098280" y="5257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dezenas de milhares de vezes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8138160" y="15544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83667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366760" y="21488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Burn-in: </a:t>
            </a: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descartado, antes da cadeia estabilizar.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Thinning: </a:t>
            </a: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1 a cada n amostras.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Cadeias: </a:t>
            </a: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2–3 em paralelo e checar se concordam.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JAGS: </a:t>
            </a: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que faz tudo isso no CMSY++ e no JABBA.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ESPAÇO-ESTADO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espaço-estado: o que existe × o que medimos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(estado oculto)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85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(o que medimos)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258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470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0116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6517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432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758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8404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4805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B₃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720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I₃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834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04688" y="2606040"/>
            <a:ext cx="786384" cy="914"/>
          </a:xfrm>
          <a:prstGeom prst="line">
            <a:avLst/>
          </a:prstGeom>
          <a:noFill/>
          <a:ln w="31750">
            <a:solidFill>
              <a:srgbClr val="0B2E4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6692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6309360" y="2103120"/>
            <a:ext cx="1005840" cy="10058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B₄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400800" y="4389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CE9E3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I₄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812280" y="3154680"/>
            <a:ext cx="914" cy="118872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8580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7406640" y="2240280"/>
            <a:ext cx="731520" cy="7315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574" y="2401214"/>
            <a:ext cx="409651" cy="409651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7406640" y="443484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574" y="4595774"/>
            <a:ext cx="409651" cy="409651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48640" y="5669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 de processo: a natureza desvia da equação (recrutamento, ambiente…)</a:t>
            </a:r>
            <a:endParaRPr lang="en-US" sz="16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5989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 de observação: a medida desvia da biomassa (amostragem, frota…)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8412480" y="1600200"/>
            <a:ext cx="3200400" cy="4663440"/>
          </a:xfrm>
          <a:prstGeom prst="roundRect">
            <a:avLst>
              <a:gd name="adj" fmla="val 3429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613648" y="180136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290" y="1912010"/>
            <a:ext cx="281635" cy="281635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9253728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só a captura?</a:t>
            </a:r>
            <a:endParaRPr lang="en-US" dirty="0"/>
          </a:p>
        </p:txBody>
      </p:sp>
      <p:sp>
        <p:nvSpPr>
          <p:cNvPr id="48" name="Text 43"/>
          <p:cNvSpPr txBox="1"/>
          <p:nvPr/>
        </p:nvSpPr>
        <p:spPr>
          <a:xfrm>
            <a:off x="8641080" y="2414016"/>
            <a:ext cx="274320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biomassa dependesse só da captura, bastaria a equação. Mas: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recrutamento varia muito entre anos;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ambiente muda a produtividade;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captura tem erro de registro.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espaço-estado deixa a biomassa real “desviar” da equação a cada ano.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ESPAÇO-ESTADO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de processo × erro de observação, na prática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pic>
        <p:nvPicPr>
          <p:cNvPr id="6" name="Image 0" descr="/tmp/sam/fig/proc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675120" cy="3621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60020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7808" y="180136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450" y="19120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47888" y="18013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processo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2414016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azul se afasta da cinza: a população REAL mudou por causa da natureza.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406640" y="324612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07808" y="34472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450" y="355793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47888" y="34472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observação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4059936"/>
            <a:ext cx="3749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pontos se afastam da linha azul: NOSSA MEDIDA errou, a população não.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406640" y="4937760"/>
            <a:ext cx="4206240" cy="13258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543800" y="501091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os dois evita que um ano de CPUE esquisita “arraste” a trajetória inteira.</a:t>
            </a:r>
            <a:endParaRPr lang="en-US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ilustrativa: mesma série de capturas; modelo determinístico (cinza), biomassa com erro de processo (azul) e índice com erro de observação (pontos).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CMSY++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+ resiliência: sorteando pares (r, k) e ficando com os que a história de captura permite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CMSY++ e para que ele serve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Kimura &amp; Tagart: reconstruir B a partir da captura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Catch-MSY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Martell &amp; Froese: sortear pares (r, k) e filtrar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 + BSM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Froese et al.: corrige vieses e cria a versão bayesiana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457200" cy="45720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84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063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Froese et al.: priors melhores, rede neural, tudo no JAGS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27024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380890"/>
            <a:ext cx="281635" cy="28163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89888" y="42702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82896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estoques do mundo nunca foi avaliada: não há índice nem dados de idade. Quase sempre há captura.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343400" y="406908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44568" y="427024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210" y="4380890"/>
            <a:ext cx="281635" cy="28163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184648" y="42702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</a:t>
            </a:r>
            <a:endParaRPr lang="en-US" dirty="0"/>
          </a:p>
        </p:txBody>
      </p:sp>
      <p:sp>
        <p:nvSpPr>
          <p:cNvPr id="32" name="Text 28"/>
          <p:cNvSpPr txBox="1"/>
          <p:nvPr/>
        </p:nvSpPr>
        <p:spPr>
          <a:xfrm>
            <a:off x="4572000" y="4882896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MSY, Fmsy, Bmsy e o estado do estoque (B/Bmsy, F/Fmsy) a partir de captura + resiliência.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8138160" y="4069080"/>
            <a:ext cx="3474720" cy="219456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75320" y="4142232"/>
            <a:ext cx="32004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2.000 avaliações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já usaram o método (~80% na versão CMSY++).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princípio: não resolver k, mas SORTEAR pares (r, k) e filtrar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9037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Sorteia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 (r, k) dos priors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3639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783080"/>
            <a:ext cx="548640" cy="5486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19037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5196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Simula</a:t>
            </a:r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ano a ano com a captura observada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97103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190378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8660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Testa</a:t>
            </a:r>
            <a:endParaRPr lang="en-US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trajetória cabe nas janelas de B/k?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805672" y="2240280"/>
            <a:ext cx="228600" cy="365760"/>
          </a:xfrm>
          <a:prstGeom prst="rightArrow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52560" y="16002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35440" y="1783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6141" y="190378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2124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Guarda</a:t>
            </a:r>
            <a:endParaRPr lang="en-US" dirty="0"/>
          </a:p>
        </p:txBody>
      </p:sp>
      <p:sp>
        <p:nvSpPr>
          <p:cNvPr id="28" name="Text 22"/>
          <p:cNvSpPr txBox="1"/>
          <p:nvPr/>
        </p:nvSpPr>
        <p:spPr>
          <a:xfrm>
            <a:off x="923544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pares “viáveis” e repete milhares de vezes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 r: resiliência (FishBase)</a:t>
            </a:r>
            <a:endParaRPr lang="en-US" sz="1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738807"/>
              </p:ext>
            </p:extLst>
          </p:nvPr>
        </p:nvGraphicFramePr>
        <p:xfrm>
          <a:off x="548640" y="3977640"/>
          <a:ext cx="5303520" cy="18288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Resiliência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de r (ano⁻¹)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– 1,5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– 0,8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 – 0,5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0,015 – 0,1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4"/>
          <p:cNvSpPr txBox="1"/>
          <p:nvPr/>
        </p:nvSpPr>
        <p:spPr>
          <a:xfrm>
            <a:off x="630936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de depleção (B/k): prior de biomassa</a:t>
            </a:r>
            <a:endParaRPr lang="en-US" sz="15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150696"/>
              </p:ext>
            </p:extLst>
          </p:nvPr>
        </p:nvGraphicFramePr>
        <p:xfrm>
          <a:off x="6309360" y="3977640"/>
          <a:ext cx="5303520" cy="14630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assumido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(pouco explorado)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– 0,9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– 0,6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(muito explorado)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 – 0,4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 25"/>
          <p:cNvSpPr txBox="1"/>
          <p:nvPr/>
        </p:nvSpPr>
        <p:spPr>
          <a:xfrm>
            <a:off x="6309360" y="5532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Aplicadas no início, (opcional) no meio e no fim da série.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por trás: Schaefer (com um freio em biomassa baixa)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217920" cy="10972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cmsy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219" y="1691640"/>
            <a:ext cx="4470763" cy="783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Bₜ₊₁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do próximo ano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5176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deste ano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278892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27889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2788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intrínseca: a entrada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3375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suporte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651760" y="3337560"/>
            <a:ext cx="566928" cy="438912"/>
          </a:xfrm>
          <a:prstGeom prst="roundRect">
            <a:avLst>
              <a:gd name="adj" fmla="val 41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51760" y="33375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captura: a saída pela pesca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3931920"/>
            <a:ext cx="6217920" cy="1143000"/>
          </a:xfrm>
          <a:prstGeom prst="roundRect">
            <a:avLst>
              <a:gd name="adj" fmla="val 9600"/>
            </a:avLst>
          </a:prstGeom>
          <a:solidFill>
            <a:srgbClr val="FCE9E3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977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B/k &lt; 0,25 (depensação):</a:t>
            </a:r>
            <a:endParaRPr lang="en-US" sz="1350" dirty="0"/>
          </a:p>
        </p:txBody>
      </p:sp>
      <p:pic>
        <p:nvPicPr>
          <p:cNvPr id="25" name="Image 1" descr="/tmp/sam/eq/cmsy_d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631" y="4315968"/>
            <a:ext cx="3415937" cy="52251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48640" y="52120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4·B/k vai de 0 (colapso) a 1 (em B/k = 0,25): estoques muito baixos crescem mais devagar.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132320" y="1600200"/>
            <a:ext cx="4480560" cy="2651760"/>
          </a:xfrm>
          <a:prstGeom prst="roundRect">
            <a:avLst>
              <a:gd name="adj" fmla="val 4828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6092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 r e k, o manejo sai fácil: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498080" y="2240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</a:t>
            </a: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r·k / 4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7498080" y="2715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Fmsy = </a:t>
            </a: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/ 2</a:t>
            </a:r>
            <a:endParaRPr lang="en-US" sz="1900" dirty="0"/>
          </a:p>
        </p:txBody>
      </p:sp>
      <p:sp>
        <p:nvSpPr>
          <p:cNvPr id="31" name="Text 27"/>
          <p:cNvSpPr txBox="1"/>
          <p:nvPr/>
        </p:nvSpPr>
        <p:spPr>
          <a:xfrm>
            <a:off x="7498080" y="3191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Bmsy = </a:t>
            </a: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/ 2</a:t>
            </a:r>
            <a:endParaRPr lang="en-US" sz="190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36667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F(t) = </a:t>
            </a: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C(t) / B(t)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7132320" y="4526280"/>
            <a:ext cx="4480560" cy="13716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269480" y="4599432"/>
            <a:ext cx="42062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curva de Schaefer que vimos: simétrica, com pico em k/2.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(1/2): testando um par (r, k) na mão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43559703"/>
              </p:ext>
            </p:extLst>
          </p:nvPr>
        </p:nvGraphicFramePr>
        <p:xfrm>
          <a:off x="365760" y="1508760"/>
          <a:ext cx="49377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4754880" cy="2103120"/>
          </a:xfrm>
          <a:prstGeom prst="roundRect">
            <a:avLst>
              <a:gd name="adj" fmla="val 521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deste exemplo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548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entre 0,1 e 0,8 (resiliência baixa/média)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entre 5.000 e 60.000 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inicial (1950) = 1,0 (virgem)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final (1980) entre 0,01 e 0,4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testado: r = 0,2 e k = 20.000 t</a:t>
            </a:r>
            <a:endParaRPr lang="en-US" sz="1700" dirty="0"/>
          </a:p>
        </p:txBody>
      </p:sp>
      <p:pic>
        <p:nvPicPr>
          <p:cNvPr id="11" name="Image 0" descr="/tmp/sam/eq/ex_cmsy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067979"/>
            <a:ext cx="5266575" cy="458922"/>
          </a:xfrm>
          <a:prstGeom prst="rect">
            <a:avLst/>
          </a:prstGeom>
        </p:spPr>
      </p:pic>
      <p:pic>
        <p:nvPicPr>
          <p:cNvPr id="12" name="Image 1" descr="/tmp/sam/eq/ex_cmsy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768486"/>
            <a:ext cx="5266575" cy="4442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6928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assim até 1980. Em cada ano também sai a mortalidade por pesca:</a:t>
            </a:r>
            <a:endParaRPr lang="en-US" sz="1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605505"/>
              </p:ext>
            </p:extLst>
          </p:nvPr>
        </p:nvGraphicFramePr>
        <p:xfrm>
          <a:off x="5669280" y="3931920"/>
          <a:ext cx="5943600" cy="15849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C/B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5669280" y="5623560"/>
            <a:ext cx="5943600" cy="658368"/>
          </a:xfrm>
          <a:prstGeom prst="wedgeRoundRectCallout">
            <a:avLst/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669280" y="5706705"/>
            <a:ext cx="60622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B/k final = 0,06: está dentro da janela [0,01 – 0,4] → par VIÁVEL.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(2/2): quais pares sobrevivem à história de captura?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686938952"/>
              </p:ext>
            </p:extLst>
          </p:nvPr>
        </p:nvGraphicFramePr>
        <p:xfrm>
          <a:off x="365760" y="1508760"/>
          <a:ext cx="630936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045525"/>
              </p:ext>
            </p:extLst>
          </p:nvPr>
        </p:nvGraphicFramePr>
        <p:xfrm>
          <a:off x="6903720" y="1600200"/>
          <a:ext cx="4709160" cy="230428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B/k 1980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VIÁVEL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da janela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colapsa (1973)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VIÁVEL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903720" y="4331854"/>
            <a:ext cx="4709160" cy="1931785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0" y="4215383"/>
            <a:ext cx="44348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pares viáveis, com MSY diferentes (1.000 e 1.500 t). Não existe “o” par certo: existe uma nuvem de pares compatíveis. Por isso o CMSY testa milhares de pares e resume a nuvem.</a:t>
            </a:r>
            <a:endParaRPr lang="en-US" sz="1600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11B218E-98BF-AE3B-01BE-15383FFA20CC}"/>
              </a:ext>
            </a:extLst>
          </p:cNvPr>
          <p:cNvCxnSpPr>
            <a:cxnSpLocks/>
          </p:cNvCxnSpPr>
          <p:nvPr/>
        </p:nvCxnSpPr>
        <p:spPr>
          <a:xfrm>
            <a:off x="5680363" y="5412510"/>
            <a:ext cx="73891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trajetórias: milhares de testes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pic>
        <p:nvPicPr>
          <p:cNvPr id="6" name="Image 0" descr="/tmp/sam/img/image27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577840" cy="3136392"/>
          </a:xfrm>
          <a:prstGeom prst="rect">
            <a:avLst/>
          </a:prstGeom>
        </p:spPr>
      </p:pic>
      <p:pic>
        <p:nvPicPr>
          <p:cNvPr id="7" name="Image 1" descr="/tmp/sam/img/image28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577840" cy="31272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800600"/>
            <a:ext cx="53949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800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(r, k) gera uma trajetória de B/k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09360" y="4800600"/>
            <a:ext cx="5394960" cy="384048"/>
          </a:xfrm>
          <a:prstGeom prst="roundRect">
            <a:avLst>
              <a:gd name="adj" fmla="val 4761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4800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ficam as que passam pelas janelas (barras pretas)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194560" y="5394960"/>
            <a:ext cx="7772400" cy="8686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331720" y="5468112"/>
            <a:ext cx="7498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CMSY pode testar mais de 10.000 trajetórias — todas precisam ser compatíveis com a história de captura.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609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gráficas: como ler o painel do CMSY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pic>
        <p:nvPicPr>
          <p:cNvPr id="6" name="Image 0" descr="/tmp/sam/fig/cmsy_pai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" y="1148776"/>
            <a:ext cx="8049049" cy="5252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645920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746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1554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Captura e MSY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captura passou do MSY em algum período?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955280" y="2578608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26791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49640" y="24871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e C · Nuvem de (r, k)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larga = resultado dominado pelos priors, não pelos dados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955280" y="3511296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361188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49640" y="341985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Tamanho do estoque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estoque está em relação ao Bmsy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7955280" y="4443984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454456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549640" y="435254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F/Fmsy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pesca está acima da taxa sustentável?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7955280" y="5376672"/>
            <a:ext cx="457200" cy="4572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5477256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549640" y="52852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Curva de equilíbrio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 captura suavizada com a curva de produção teórica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gráfico de Kobe: status do estoque em um só ponto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pic>
        <p:nvPicPr>
          <p:cNvPr id="6" name="Image 0" descr="/tmp/sam/fig/cmsy_k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989320" cy="52212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720840" y="136952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eixos, quatro quadrantes: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horizontal (B/Bmsy)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estoque;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vertical (F/Fmsy) diz se a pesca atual é sustentável.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(1, 1) é a meta teórica — nem sempre alcançável nem desejável se manter exatamente ali.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20840" y="3026664"/>
            <a:ext cx="310896" cy="31089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37" y="3095061"/>
            <a:ext cx="174102" cy="1741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804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· Saudável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acima de Bmsy e F abaixo de Fmsy: dentro da meta.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720840" y="5383320"/>
            <a:ext cx="310896" cy="310896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37" y="5451717"/>
            <a:ext cx="174102" cy="1741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78040" y="53284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 · </a:t>
            </a:r>
            <a:r>
              <a:rPr lang="en-US" sz="1600" b="1" dirty="0" err="1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Sobrepescado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 baixa mas pesca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contida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720840" y="3828840"/>
            <a:ext cx="310896" cy="310896"/>
          </a:xfrm>
          <a:prstGeom prst="ellipse">
            <a:avLst/>
          </a:prstGeom>
          <a:solidFill>
            <a:srgbClr val="F6A15C"/>
          </a:solidFill>
          <a:ln w="12700">
            <a:solidFill>
              <a:srgbClr val="F6A15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37" y="3897237"/>
            <a:ext cx="174102" cy="1741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78040" y="37739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 · </a:t>
            </a:r>
            <a:r>
              <a:rPr lang="en-US" sz="1600" b="1" dirty="0" err="1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</a:t>
            </a: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b="1" dirty="0" err="1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sobrepesca</a:t>
            </a:r>
            <a:endParaRPr lang="en-US" sz="1600" b="1" dirty="0">
              <a:solidFill>
                <a:srgbClr val="0B2E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ainda alta, mas F já passou de Fmsy: alerta.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720840" y="4606080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237" y="4674477"/>
            <a:ext cx="174102" cy="1741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78040" y="45512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· </a:t>
            </a:r>
            <a:r>
              <a:rPr lang="en-US" sz="1600" b="1" dirty="0" err="1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</a:t>
            </a: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b="1" dirty="0" err="1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sobrepesca</a:t>
            </a: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600" b="1" dirty="0" err="1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Sobrepescado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abaixo de Bmsy E F acima de Fmsy: pior quadrante.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CMSY++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CMSY++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raciocínio circular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prior de B/k diz “sobrepescado”, o resultado tende a dizer “sobrepescado”.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pouco identificável</a:t>
            </a: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 ajusta para caber na janela de depleção, e pode ir para o limite do prior.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captura ≠ queda de biomassa</a:t>
            </a:r>
            <a:endParaRPr lang="en-US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alvo, mercado ou retração da frota também derrubam a captura.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Schaefer é simplificação</a:t>
            </a:r>
            <a:endParaRPr lang="en-US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subestimar a biomassa necessária para sustentar capturas em abundância baixa.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podem forçar formas irreais</a:t>
            </a:r>
            <a:endParaRPr lang="en-US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de biomassa impõem um formato que os dados talvez não sustentem.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Triagem, não avaliação completa</a:t>
            </a:r>
            <a:endParaRPr lang="en-US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leitura precaucionária quando nada melhor é viável.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3A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JABBA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Another Bayesian Biomass Assessment: captura + índice de abundância num modelo bayesiano espaço-estado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651760" cy="2651760"/>
          </a:xfrm>
          <a:prstGeom prst="ellipse">
            <a:avLst/>
          </a:prstGeom>
          <a:solidFill>
            <a:srgbClr val="163E63"/>
          </a:solidFill>
          <a:ln w="38100">
            <a:solidFill>
              <a:srgbClr val="F3A71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97480"/>
            <a:ext cx="1280160" cy="1280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o JABBA e o que ele tenta resolver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607040" cy="0"/>
          </a:xfrm>
          <a:prstGeom prst="line">
            <a:avLst/>
          </a:prstGeom>
          <a:noFill/>
          <a:ln w="38100">
            <a:solidFill>
              <a:srgbClr val="D5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1954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Pella-Tomlinson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6636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1978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Fletcher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640" y="1801368"/>
            <a:ext cx="420624" cy="420624"/>
          </a:xfrm>
          <a:prstGeom prst="ellipse">
            <a:avLst/>
          </a:prstGeom>
          <a:solidFill>
            <a:srgbClr val="0B2E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Meyer &amp; Millar: Bayes espaço-estado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46920" y="1801368"/>
            <a:ext cx="420624" cy="42062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29718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JABBA: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combinação de produtividade (r) e tamanho de estoque (K) explica, AO MESMO TEMPO, quanto foi retirado (captura) e o que o índice de abundância mostrou ao longo do tempo?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6360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4746650"/>
            <a:ext cx="281635" cy="28163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8988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exige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de capturas + pelo menos um índice de abundância (CPUE), com ou sem erro-padrão.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29768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463600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490" y="4746650"/>
            <a:ext cx="281635" cy="28163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13892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452628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K, depleção inicial (ψ), q e variâncias: com defaults razoáveis, mas ajustáveis.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8046720" y="4434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247888" y="4636008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530" y="4746650"/>
            <a:ext cx="281635" cy="28163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887968" y="4636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8275320" y="5248656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Pella-Tomlinson generalizado, espaço-estado, MCMC no JAGS, rodado a partir do 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produção no JABBA: Pella-Tomlinson generalizado (r, K, m)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pic>
        <p:nvPicPr>
          <p:cNvPr id="6" name="Image 0" descr="/tmp/sam/eq/p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3605784" cy="628323"/>
          </a:xfrm>
          <a:prstGeom prst="rect">
            <a:avLst/>
          </a:prstGeom>
        </p:spPr>
      </p:pic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274921"/>
              </p:ext>
            </p:extLst>
          </p:nvPr>
        </p:nvGraphicFramePr>
        <p:xfrm>
          <a:off x="548640" y="2743200"/>
          <a:ext cx="548640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Bmsy/K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(1,001)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 (BmsyK = 0,4)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Pella_m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 (com prior)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referência:</a:t>
            </a:r>
            <a:endParaRPr lang="en-US" sz="1500" dirty="0"/>
          </a:p>
        </p:txBody>
      </p:sp>
      <p:pic>
        <p:nvPicPr>
          <p:cNvPr id="9" name="Image 1" descr="/tmp/sam/eq/jb_bms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12080"/>
            <a:ext cx="1769364" cy="276279"/>
          </a:xfrm>
          <a:prstGeom prst="rect">
            <a:avLst/>
          </a:prstGeom>
        </p:spPr>
      </p:pic>
      <p:pic>
        <p:nvPicPr>
          <p:cNvPr id="10" name="Image 2" descr="/tmp/sam/eq/jb_fms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5120640"/>
            <a:ext cx="1975104" cy="440871"/>
          </a:xfrm>
          <a:prstGeom prst="rect">
            <a:avLst/>
          </a:prstGeom>
        </p:spPr>
      </p:pic>
      <p:pic>
        <p:nvPicPr>
          <p:cNvPr id="11" name="Image 3" descr="/tmp/sam/eq/jb_ms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806440"/>
            <a:ext cx="1826187" cy="252766"/>
          </a:xfrm>
          <a:prstGeom prst="rect">
            <a:avLst/>
          </a:prstGeom>
        </p:spPr>
      </p:pic>
      <p:pic>
        <p:nvPicPr>
          <p:cNvPr id="12" name="Image 4" descr="/tmp/sam/eq/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5669280"/>
            <a:ext cx="674043" cy="495735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6400800" y="164592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660196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610" y="1957730"/>
            <a:ext cx="281635" cy="28163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242048" y="18470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JABBA ESTIMA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6629400" y="2459736"/>
            <a:ext cx="47548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K (produção)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de cada índice (capturabilidade)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= B₁/K (depleção inicial)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variâncias de processo e de observação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6400800" y="402336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6601968" y="422452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2610" y="4335170"/>
            <a:ext cx="281635" cy="28163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242048" y="42245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sai DERIVADO</a:t>
            </a:r>
            <a:endParaRPr lang="en-US" sz="1600" dirty="0"/>
          </a:p>
        </p:txBody>
      </p:sp>
      <p:sp>
        <p:nvSpPr>
          <p:cNvPr id="22" name="Text 12"/>
          <p:cNvSpPr txBox="1"/>
          <p:nvPr/>
        </p:nvSpPr>
        <p:spPr>
          <a:xfrm>
            <a:off x="6629400" y="4837176"/>
            <a:ext cx="47548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MSY, Bmsy, Fmsy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F, B/Bmsy e F/Fmsy de cada ano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Kobe, projeções sob diferentes capturas (TACs)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equações do JABBA: processo e observação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148840"/>
          </a:xfrm>
          <a:prstGeom prst="roundRect">
            <a:avLst>
              <a:gd name="adj" fmla="val 5957"/>
            </a:avLst>
          </a:prstGeom>
          <a:solidFill>
            <a:srgbClr val="E4EBF3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2651760" cy="384048"/>
          </a:xfrm>
          <a:prstGeom prst="roundRect">
            <a:avLst>
              <a:gd name="adj" fmla="val 4761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· biomassa ano a ano</a:t>
            </a:r>
            <a:endParaRPr lang="en-US" sz="1200" dirty="0"/>
          </a:p>
        </p:txBody>
      </p:sp>
      <p:pic>
        <p:nvPicPr>
          <p:cNvPr id="9" name="Image 0" descr="/tmp/sam/eq/jb_p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785" y="2240280"/>
            <a:ext cx="6237950" cy="67926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154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B/K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(biomassa relativa)  ·  </a:t>
            </a: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e^η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erro de processo  ·  </a:t>
            </a: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 = ψ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(depleção inicial)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5760720" cy="2331720"/>
          </a:xfrm>
          <a:prstGeom prst="roundRect">
            <a:avLst>
              <a:gd name="adj" fmla="val 5490"/>
            </a:avLst>
          </a:prstGeom>
          <a:solidFill>
            <a:srgbClr val="FCE9E3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4069080"/>
            <a:ext cx="2834640" cy="384048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069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· ligação com a CPUE</a:t>
            </a:r>
            <a:endParaRPr lang="en-US" sz="1200" dirty="0"/>
          </a:p>
        </p:txBody>
      </p:sp>
      <p:pic>
        <p:nvPicPr>
          <p:cNvPr id="14" name="Image 1" descr="/tmp/sam/eq/jb_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4617720"/>
            <a:ext cx="1755648" cy="45284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5349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é proporcional à biomassa. q (capturabilidade) só muda a ESCALA; e^ε é o erro de observação.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583680" y="3931920"/>
            <a:ext cx="5029200" cy="2331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20840" y="4005072"/>
            <a:ext cx="475488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importante: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q absorve a escala, só a FORMA do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quanto ele caiu ou subiu. Multiplicar toda a CPUE por 3 não muda nada: o modelo só estima um q três vezes maior.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(1/5): o caminho em uma linha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94560" cy="777240"/>
          </a:xfrm>
          <a:prstGeom prst="chevron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(r, K, m) + captura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1600200"/>
            <a:ext cx="2194560" cy="777240"/>
          </a:xfrm>
          <a:prstGeom prst="chevron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candidato(t)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2194560" cy="777240"/>
          </a:xfrm>
          <a:prstGeom prst="chevron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q̂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1600200"/>
            <a:ext cx="2194560" cy="777240"/>
          </a:xfrm>
          <a:prstGeom prst="chevron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CPUE prevista(t)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09760" y="1600200"/>
            <a:ext cx="2194560" cy="777240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2980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com CPUE observada</a:t>
            </a:r>
            <a:endParaRPr lang="en-US" sz="12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945807"/>
              </p:ext>
            </p:extLst>
          </p:nvPr>
        </p:nvGraphicFramePr>
        <p:xfrm>
          <a:off x="548640" y="2971800"/>
          <a:ext cx="11064240" cy="104241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CPUE obs.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0,40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10.000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0632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632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B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0632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0,20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20.000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577840" y="420624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EEF4F8"/>
          </a:solidFill>
          <a:ln w="25400">
            <a:solidFill>
              <a:srgbClr val="F3A7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77840" y="4315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C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4800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0,28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14.286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MSY = 1.000 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83880" y="4206240"/>
            <a:ext cx="3429000" cy="20574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0" y="4279392"/>
            <a:ext cx="31546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têm o MESMO MSY. Olhando só a captura, não dá para escolher. Quem desempata é a CPUE.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(2/5): Passo 1 — cada candidato gera sua biomassa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08760"/>
          <a:ext cx="566928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55448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8" name="Image 0" descr="/tmp/sam/eq/jb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73352"/>
            <a:ext cx="2527881" cy="4367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78408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 (m = 2)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237744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0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A: r = 0,40 · K = 10.000</a:t>
            </a:r>
            <a:endParaRPr lang="en-US" sz="1200" dirty="0"/>
          </a:p>
        </p:txBody>
      </p:sp>
      <p:pic>
        <p:nvPicPr>
          <p:cNvPr id="12" name="Image 1" descr="/tmp/sam/eq/jb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788920"/>
            <a:ext cx="2568484" cy="217170"/>
          </a:xfrm>
          <a:prstGeom prst="rect">
            <a:avLst/>
          </a:prstGeom>
        </p:spPr>
      </p:pic>
      <p:pic>
        <p:nvPicPr>
          <p:cNvPr id="13" name="Image 2" descr="/tmp/sam/eq/jb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90672"/>
            <a:ext cx="3902529" cy="375557"/>
          </a:xfrm>
          <a:prstGeom prst="rect">
            <a:avLst/>
          </a:prstGeom>
        </p:spPr>
      </p:pic>
      <p:pic>
        <p:nvPicPr>
          <p:cNvPr id="14" name="Image 3" descr="/tmp/sam/eq/jbA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520440"/>
            <a:ext cx="4042954" cy="37392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309360" y="39593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assim até o ano 15, com a captura observada de cada ano.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217920" y="4315968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217920" y="4315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B: r = 0,20 · K = 20.000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6309360" y="4690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D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 = 0,95 × 20.000 = 19.000</a:t>
            </a:r>
            <a:endParaRPr lang="en-US" sz="1400" dirty="0"/>
          </a:p>
        </p:txBody>
      </p:sp>
      <p:pic>
        <p:nvPicPr>
          <p:cNvPr id="19" name="Image 4" descr="/tmp/sam/eq/jbB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983480"/>
            <a:ext cx="4188279" cy="37392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217920" y="5486400"/>
            <a:ext cx="5394960" cy="804672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6355080" y="55595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CPUE ainda não entrou! </a:t>
            </a: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r, K e a captura. O candidato C faz a mesma conta com r = 0,28 e K = 14.286.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7" grpId="0" animBg="1"/>
      <p:bldP spid="18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713232"/>
            <a:ext cx="1112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(3/5): Passo 2 — achando o melhor q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821979"/>
              </p:ext>
            </p:extLst>
          </p:nvPr>
        </p:nvGraphicFramePr>
        <p:xfrm>
          <a:off x="487680" y="2606040"/>
          <a:ext cx="5913121" cy="2304288"/>
        </p:xfrm>
        <a:graphic>
          <a:graphicData uri="http://schemas.openxmlformats.org/drawingml/2006/table">
            <a:tbl>
              <a:tblPr/>
              <a:tblGrid>
                <a:gridCol w="143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testado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Prevista ano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SSQ (15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0,019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CPUE observada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029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com q = 0,0010, ano 1: 0,0010 × 9.500 t = 9,50 (observado: 9,62).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4068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486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(dá o mesmo q̂ sem tentativa e erro):</a:t>
            </a:r>
            <a:endParaRPr lang="en-US" sz="1400" dirty="0"/>
          </a:p>
        </p:txBody>
      </p:sp>
      <p:pic>
        <p:nvPicPr>
          <p:cNvPr id="11" name="Image 0" descr="/tmp/sam/eq/q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39" y="5669279"/>
            <a:ext cx="2736533" cy="306647"/>
          </a:xfrm>
          <a:prstGeom prst="rect">
            <a:avLst/>
          </a:prstGeom>
        </p:spPr>
      </p:pic>
      <p:graphicFrame>
        <p:nvGraphicFramePr>
          <p:cNvPr id="12" name="Chart 0"/>
          <p:cNvGraphicFramePr/>
          <p:nvPr/>
        </p:nvGraphicFramePr>
        <p:xfrm>
          <a:off x="6583680" y="1508760"/>
          <a:ext cx="5120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8"/>
          <p:cNvSpPr/>
          <p:nvPr/>
        </p:nvSpPr>
        <p:spPr>
          <a:xfrm>
            <a:off x="6583680" y="5074920"/>
            <a:ext cx="5029200" cy="11887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720840" y="5148072"/>
            <a:ext cx="4754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q̂ = o q no fundo da curva: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0,0010 para A. Para B o fundo fica em q̂ = 0,00045, mas mesmo assim o SSQ não desce de 0,080.</a:t>
            </a:r>
            <a:endParaRPr lang="en-US" sz="160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189B58F-26E5-8996-DA10-D4CE52A975D8}"/>
              </a:ext>
            </a:extLst>
          </p:cNvPr>
          <p:cNvSpPr/>
          <p:nvPr/>
        </p:nvSpPr>
        <p:spPr>
          <a:xfrm>
            <a:off x="1644073" y="1699491"/>
            <a:ext cx="1939636" cy="25861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488B5ED-CADC-99E3-2F07-A889A4D6F2A4}"/>
              </a:ext>
            </a:extLst>
          </p:cNvPr>
          <p:cNvSpPr txBox="1"/>
          <p:nvPr/>
        </p:nvSpPr>
        <p:spPr>
          <a:xfrm>
            <a:off x="487680" y="1457221"/>
            <a:ext cx="6005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está em toneladas; a CPUE, em outra unidade.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converte uma na outra: </a:t>
            </a: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CPUE prevista = q × B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Testamos vários q no candidato A e medimos a distância (SSQ) entre a </a:t>
            </a: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CPUE prevista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</a:t>
            </a: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CPUE </a:t>
            </a:r>
            <a:r>
              <a:rPr lang="en-US" sz="16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(4/5): Passo 3 — CPUE prevista × CPUE observada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pic>
        <p:nvPicPr>
          <p:cNvPr id="6" name="Image 0" descr="/tmp/sam/eq/i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371600" cy="374469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4754880" cy="65836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1, candidato A:</a:t>
            </a:r>
            <a:endParaRPr lang="en-US" sz="1250" dirty="0"/>
          </a:p>
        </p:txBody>
      </p:sp>
      <p:pic>
        <p:nvPicPr>
          <p:cNvPr id="9" name="Image 1" descr="/tmp/sam/eq/cp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01568"/>
            <a:ext cx="3939921" cy="23513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3794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1, candidato B:</a:t>
            </a:r>
            <a:endParaRPr lang="en-US" sz="1250" dirty="0"/>
          </a:p>
        </p:txBody>
      </p:sp>
      <p:pic>
        <p:nvPicPr>
          <p:cNvPr id="11" name="Image 2" descr="/tmp/sam/eq/cp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87368"/>
            <a:ext cx="4116270" cy="23513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48640" y="4709160"/>
            <a:ext cx="4754880" cy="1371600"/>
          </a:xfrm>
          <a:prstGeom prst="wedgeRoundRectCallout">
            <a:avLst/>
          </a:prstGeom>
          <a:solidFill>
            <a:srgbClr val="FCE9E3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685800" y="4782312"/>
            <a:ext cx="4480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a direção!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do candidato vira CPUE prevista, e é ela que comparamos com a CPUE observada. A CPUE observada nunca vira biomassa (q é incógnita).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486400" y="1508760"/>
          <a:ext cx="621792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(5/5): Passo 4 — transformar o erro em nota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pic>
        <p:nvPicPr>
          <p:cNvPr id="6" name="Image 0" descr="/tmp/sam/eq/ss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2962656" cy="624405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365760" y="2514600"/>
          <a:ext cx="51206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760720" y="16002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 = log(CPUE obs.) − log(CPUE prevista). Somando os quadrados dos 15 anos: A erra ~2,9% em média, C ~4,3% e B ~6,4%.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760720" y="2560320"/>
            <a:ext cx="5852160" cy="1783080"/>
          </a:xfrm>
          <a:prstGeom prst="roundRect">
            <a:avLst>
              <a:gd name="adj" fmla="val 7179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89320" y="2606040"/>
            <a:ext cx="5440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A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SSQ  →  maior verossimilhança  →  mais peso na posterior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erro lognormal, a log-verossimilhança é −SSQ/(2σ²) + constante. O candidato A, que erra pouco e sem padrão, é o mais plausível.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760720" y="4572000"/>
            <a:ext cx="5852160" cy="169164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97880" y="4645152"/>
            <a:ext cx="55778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MCMC faz: </a:t>
            </a: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essa conta, para dezenas de milhares de combinações de (r, K, q, ψ, σ…), pesando também os priors. A nuvem de combinações visitadas É a posterior.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junto: a posterior do JABBA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pic>
        <p:nvPicPr>
          <p:cNvPr id="7" name="Image 0" descr="/tmp/sam/eq/post_j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434" y="1874520"/>
            <a:ext cx="7768732" cy="3383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308152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3192170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8988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da CPUE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p(I | B, q, σ)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bem a CPUE prevista bate com a observada (o Passo 4).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29768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308152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319217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3892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 | r, K, ψ, C)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biomassa segue a produção menos a captura, com erro de processo.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046720" y="28803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47888" y="308152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3192170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87968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369417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p(r) p(K) p(q) p(ψ) p(σ)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sabíamos antes: r pela biologia, K ~ 8 × captura máx. por padrão.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5303520"/>
            <a:ext cx="11064240" cy="96012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5376672"/>
            <a:ext cx="10789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 no fit_jabba(): </a:t>
            </a:r>
            <a:r>
              <a:rPr lang="en-US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cadeias × 30.000 iterações, 5.000 de burn-in, thinning 5 → 10.000 amostras. Cada amostra é um “mundo possível” com r, K, q e toda a trajetória de biomassa.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(1/2): ajuste e priors × posteriors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pic>
        <p:nvPicPr>
          <p:cNvPr id="6" name="Image 0" descr="/tmp/sam/fig/jb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120640" cy="3364992"/>
          </a:xfrm>
          <a:prstGeom prst="rect">
            <a:avLst/>
          </a:prstGeom>
        </p:spPr>
      </p:pic>
      <p:pic>
        <p:nvPicPr>
          <p:cNvPr id="7" name="Image 1" descr="/tmp/sam/fig/jb_prior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554480"/>
            <a:ext cx="5943600" cy="2231136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943578"/>
              </p:ext>
            </p:extLst>
          </p:nvPr>
        </p:nvGraphicFramePr>
        <p:xfrm>
          <a:off x="5760720" y="3977640"/>
          <a:ext cx="5852160" cy="159715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(IC 95%)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usado para gerar os 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 (0,34–0,55)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9.481 (7.949–11.672)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MSY (t/ano)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1.049 (982–1.115)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120640"/>
            <a:ext cx="5029200" cy="114300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" y="5193792"/>
            <a:ext cx="47548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muito mais estreita que o prior: a CPUE foi informativa. Se as duas fossem parecidas, o resultado viria só do prior!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760720" y="5577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bayesiano simplificado do exemplo (Schaefer, sem erro de </a:t>
            </a:r>
            <a:r>
              <a:rPr lang="en-US" sz="1150" i="1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Saídas gráficas (2/2): status do estoque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pic>
        <p:nvPicPr>
          <p:cNvPr id="6" name="Image 0" descr="/tmp/sam/fig/jb_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675120" cy="2715768"/>
          </a:xfrm>
          <a:prstGeom prst="rect">
            <a:avLst/>
          </a:prstGeom>
        </p:spPr>
      </p:pic>
      <p:pic>
        <p:nvPicPr>
          <p:cNvPr id="7" name="Image 1" descr="/tmp/sam/fig/jb_k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235885"/>
            <a:ext cx="4663440" cy="39761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48056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E4EBF3"/>
          </a:solidFill>
          <a:ln w="12700">
            <a:solidFill>
              <a:srgbClr val="E4EB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B/Bmsy no ano 15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749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 (1,27–1,41)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3931920" y="4480560"/>
            <a:ext cx="3200400" cy="1783080"/>
          </a:xfrm>
          <a:prstGeom prst="roundRect">
            <a:avLst>
              <a:gd name="adj" fmla="val 6154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605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F/Fmsy no ano 15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160520" y="50749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0,54 (0,48–0,61)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7315200" y="5349240"/>
            <a:ext cx="4343400" cy="914400"/>
          </a:xfrm>
          <a:prstGeom prst="wedgeRoundRectCallout">
            <a:avLst/>
          </a:prstGeom>
          <a:solidFill>
            <a:srgbClr val="E3F4F2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52360" y="542239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no quadrante verde: B &gt; Bmsy e F &lt; Fmsy.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Diagnósticos: o ajuste presta?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08760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754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sinal: resíduos pequenos, oscilando em torno de zero, sem sequência longa de mesmo sinal.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600200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Resíduos e runs test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194560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ou sequências longas = índice e modelo em conflito.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0" y="1600200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1540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SDNR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194560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erro de ajuste (RMSE &lt; 30% é aceitável).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0" y="3172968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788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(Mohn's ρ)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376732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os últimos anos e vê se a estimativa muda muito.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0" y="3172968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1540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Hindcast (MASE)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376732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prevê a CPUE que ele não viu? Melhor que um palpite ingênuo?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0" y="4745736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97880" y="4928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5340096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concordam? Testes de Geweke e Heidelberger.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0" y="4745736"/>
            <a:ext cx="2880360" cy="1435608"/>
          </a:xfrm>
          <a:prstGeom prst="roundRect">
            <a:avLst>
              <a:gd name="adj" fmla="val 764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15400" y="49286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posterior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5340096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informaram algo, ou tudo veio do prior?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JABBA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 JABBA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1957730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que não mede abundância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alvo, hiperestabilidade ou mudança de frota: o modelo lê a forma da CPUE como se fosse abundância.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84708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490" y="1957730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3892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K confundidos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curto, plano ou ruidoso → a posterior de r e K volta a ser o prior.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847088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530" y="1957730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87968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processo “absorve tudo”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5973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σ de processo fica grande, a biomassa se ajusta a qualquer coisa e explica pouco.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" y="428945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pode fixar o resultado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prior forte de depleção inicial condiciona a trajetória inteira.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98848" y="4178808"/>
            <a:ext cx="502920" cy="50292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490" y="428945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3892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é uma escolha biológica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Schaefer, Fox ou Pella mudam Bmsy/K e o status. Teste cenários.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4672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47888" y="4178808"/>
            <a:ext cx="502920" cy="502920"/>
          </a:xfrm>
          <a:prstGeom prst="ellipse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8530" y="4289450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796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podem ser vagos demais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791456"/>
            <a:ext cx="3108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padrão servem para começar, não para terminar: use a biologia da espécie.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métodos lado a lado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918143"/>
              </p:ext>
            </p:extLst>
          </p:nvPr>
        </p:nvGraphicFramePr>
        <p:xfrm>
          <a:off x="548640" y="1502664"/>
          <a:ext cx="11064240" cy="40599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DB-SRA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CMSY++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57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JABBA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M, maturação +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depleção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resiliência + janelas de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+ índice(s) de abundância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acha r / 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K para cada sorteio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Sorteia pares (r, k) e filtra / Bayes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bayesiano à CPUE (MCMC)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da produção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Pella-Tomlinson-Fletcher (híbrido)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Schaefer + depensação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Pella-Tomlinson (Fox, Schaefer, Pella)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processo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manda no resultado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depleção assumida (Bt/K)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priors de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 (e 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forma do índice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B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uso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estimativa de captura sustentável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de status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</a:t>
                      </a: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sustentável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D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quando há um índice confiável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15000"/>
            <a:ext cx="11064240" cy="640080"/>
          </a:xfrm>
          <a:prstGeom prst="wedgeRoundRectCallout">
            <a:avLst/>
          </a:prstGeom>
          <a:solidFill>
            <a:srgbClr val="FFF4D6"/>
          </a:solidFill>
          <a:ln w="19050">
            <a:solidFill>
              <a:srgbClr val="F3A7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7881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r>
              <a:rPr lang="en-US" sz="1450" dirty="0">
                <a:solidFill>
                  <a:srgbClr val="1D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“o melhor” método. Rodar mais de um e comparar (ex.: DB-SRA × CMSY++ × JABBA) mostra quanto o resultado depende das premissas.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praticar no R!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DB-SRA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2651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fishmethods::dbsra()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CMSY++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CMSY++ (Froese et al.) + JAGS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1645920" cy="548640"/>
          </a:xfrm>
          <a:prstGeom prst="roundRect">
            <a:avLst>
              <a:gd name="adj" fmla="val 3333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89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389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JABBA::build_jabba() + fit_jabba()</a:t>
            </a:r>
            <a:endParaRPr lang="en-US" sz="1500" dirty="0"/>
          </a:p>
        </p:txBody>
      </p:sp>
      <p:pic>
        <p:nvPicPr>
          <p:cNvPr id="13" name="Image 0" descr="/tmp/sam/img/image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26" y="435121"/>
            <a:ext cx="2014267" cy="707450"/>
          </a:xfrm>
          <a:prstGeom prst="rect">
            <a:avLst/>
          </a:prstGeom>
        </p:spPr>
      </p:pic>
      <p:pic>
        <p:nvPicPr>
          <p:cNvPr id="14" name="Image 1" descr="/tmp/sam/img/image36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240" y="1353312"/>
            <a:ext cx="4206240" cy="2596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5486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série-exemplo primeiro, depois com os dados reais.</a:t>
            </a:r>
            <a:endParaRPr lang="en-US" sz="16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32F405FF-26E5-AF1B-A8E4-D8B23EC5B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815" y="3950208"/>
            <a:ext cx="2844239" cy="28442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10194</Words>
  <Application>Microsoft Office PowerPoint</Application>
  <PresentationFormat>Widescreen</PresentationFormat>
  <Paragraphs>1251</Paragraphs>
  <Slides>60</Slides>
  <Notes>60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estoques com poucos dados: DB-SRA, CMSY++ e JABBA</dc:title>
  <dc:subject>PptxGenJS Presentation</dc:subject>
  <dc:creator>Lucas e Matheus</dc:creator>
  <cp:lastModifiedBy>matheus Lourenço</cp:lastModifiedBy>
  <cp:revision>11</cp:revision>
  <dcterms:created xsi:type="dcterms:W3CDTF">2026-09-21T23:44:48Z</dcterms:created>
  <dcterms:modified xsi:type="dcterms:W3CDTF">2026-09-24T22:50:44Z</dcterms:modified>
</cp:coreProperties>
</file>