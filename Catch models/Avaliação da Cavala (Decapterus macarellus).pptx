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325" r:id="rId5"/>
    <p:sldId id="338" r:id="rId6"/>
    <p:sldId id="345" r:id="rId7"/>
    <p:sldId id="339" r:id="rId8"/>
    <p:sldId id="340" r:id="rId9"/>
    <p:sldId id="343" r:id="rId10"/>
    <p:sldId id="342" r:id="rId11"/>
    <p:sldId id="341" r:id="rId12"/>
    <p:sldId id="346" r:id="rId13"/>
    <p:sldId id="347" r:id="rId14"/>
    <p:sldId id="348" r:id="rId15"/>
    <p:sldId id="351" r:id="rId16"/>
    <p:sldId id="352" r:id="rId17"/>
    <p:sldId id="354" r:id="rId18"/>
    <p:sldId id="349" r:id="rId19"/>
    <p:sldId id="350" r:id="rId20"/>
    <p:sldId id="355" r:id="rId21"/>
    <p:sldId id="356" r:id="rId22"/>
    <p:sldId id="363" r:id="rId23"/>
    <p:sldId id="357" r:id="rId24"/>
    <p:sldId id="358" r:id="rId25"/>
    <p:sldId id="359" r:id="rId26"/>
    <p:sldId id="360" r:id="rId27"/>
    <p:sldId id="361" r:id="rId28"/>
    <p:sldId id="362" r:id="rId29"/>
    <p:sldId id="3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7292A2E-F333-43FB-9621-5CBBE7FDCDCB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23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7A4CE-17BB-4BB2-AC7B-97495293E2AC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0EF92D-82DD-4142-BCE8-036B91487D2E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6C8F5-2FDA-4718-81AA-24F4816BBD5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8EC616-C518-4358-9496-6C33B2F5FA56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1A476F7-D5C8-1CEC-9F4A-86A24C0BF3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0"/>
            <a:ext cx="5423337" cy="5356522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CBB0B7-F53E-97B4-C0F5-2D1842F1D2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4735" y="726953"/>
            <a:ext cx="3069021" cy="23816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BE1252-9BC4-8186-499A-2A7107C29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4873752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50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5568696"/>
            <a:ext cx="5276088" cy="859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48124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79708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FED2A3BD-B73E-1BD7-6B8B-22C9FB1248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B3FCFB4-857F-ED0B-D469-F2A392F06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42482" y="0"/>
            <a:ext cx="204951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604BC-34A9-95A0-8560-88E75471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1255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F2F08ED-0715-2E8A-476E-A005A7D75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013145" y="4934929"/>
            <a:ext cx="1841938" cy="968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3291840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9512" y="667512"/>
            <a:ext cx="4105656" cy="5568696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>
              <a:lnSpc>
                <a:spcPct val="150000"/>
              </a:lnSpc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931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48277F-DB00-5149-6533-E8AEF0BAD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73518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067A69A-84EE-0E71-D053-F462EBCC8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63520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48" y="658368"/>
            <a:ext cx="5486400" cy="3621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0936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9048" y="4553712"/>
            <a:ext cx="5486400" cy="10058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</p:spTree>
    <p:extLst>
      <p:ext uri="{BB962C8B-B14F-4D97-AF65-F5344CB8AC3E}">
        <p14:creationId xmlns:p14="http://schemas.microsoft.com/office/powerpoint/2010/main" val="3451331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17B23C3-2F98-4465-21EA-A49296DA1F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149840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4370832" cy="3776472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9048" y="2112264"/>
            <a:ext cx="4370832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786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7C8AFE-E640-9C6A-F20C-CDE1D4EF5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27476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1CF2607-B5C7-9992-C51D-DD5E7FC5FB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9827" y="3157140"/>
            <a:ext cx="2438400" cy="20701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D2F83CD-8345-462A-4412-5A54CB1FDDE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916"/>
          <a:stretch/>
        </p:blipFill>
        <p:spPr>
          <a:xfrm>
            <a:off x="0" y="3950466"/>
            <a:ext cx="3005804" cy="222436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85800"/>
            <a:ext cx="5486400" cy="3383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343400"/>
            <a:ext cx="5486400" cy="10058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684264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1306737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3419856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864608" y="2093976"/>
            <a:ext cx="6382512" cy="3749040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B897DD0-4462-B31B-50A9-D399FD0F58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3529"/>
          <a:stretch/>
        </p:blipFill>
        <p:spPr>
          <a:xfrm>
            <a:off x="3815" y="4389845"/>
            <a:ext cx="5024198" cy="24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425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5EA319-BD06-493B-D1CD-EC2AF7394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47991" y="0"/>
            <a:ext cx="1703832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60446E-E817-5E2A-D76A-43A4168EF1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246669" y="4842646"/>
            <a:ext cx="1611949" cy="185325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7DC846D-C40C-085A-6A57-EBD733E9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6291072" cy="2670048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F5F674E-A7FF-FC97-AC6B-9E98247F6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346704"/>
            <a:ext cx="6016752" cy="2670048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3752326-0FB4-41C5-2D91-5CBFDC2DAD8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18120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59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4BC85D4-4139-2AAA-166E-6FBA095A8B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1729776"/>
            <a:ext cx="5423337" cy="535652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931BC73-A262-809F-6027-25B33F16B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41270" y="0"/>
            <a:ext cx="1250729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AEA2C9-0142-1847-0FE5-307C101C6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83241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007DF4F-A4F8-98C7-5975-55CBED0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667512"/>
            <a:ext cx="3621024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59D4968-2C08-763C-19C6-59134968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6320" y="1161288"/>
            <a:ext cx="5276088" cy="4535424"/>
          </a:xfrm>
          <a:solidFill>
            <a:schemeClr val="bg1">
              <a:lumMod val="95000"/>
            </a:schemeClr>
          </a:solidFill>
        </p:spPr>
        <p:txBody>
          <a:bodyPr anchor="t" anchorCtr="0">
            <a:normAutofit/>
          </a:bodyPr>
          <a:lstStyle>
            <a:lvl1pPr marL="457200" indent="-457200">
              <a:lnSpc>
                <a:spcPct val="80000"/>
              </a:lnSpc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714500" indent="-342900">
              <a:buFont typeface="+mj-lt"/>
              <a:buAutoNum type="alphaLcParenR"/>
              <a:defRPr sz="1400"/>
            </a:lvl4pPr>
            <a:lvl5pPr marL="2228850" indent="-40005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5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9F0B854-EF27-FB51-FED5-D9C462D7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AAF96D3-D3E2-FEAC-EE69-279502A57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FA9ADD0-45A7-DB71-D010-70B5B174C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2880360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4ECD368-DD7D-CC8B-3678-D0BFE82918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61104" y="2093976"/>
            <a:ext cx="6967728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964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3F9824-10E6-81A0-0A31-9658CC009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02FB0-0A62-2FA3-FB8D-3275F1072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5BF220-87F8-C1D3-102B-15C9BF2EE4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672" y="2093976"/>
            <a:ext cx="10469880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71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E4764D-8226-78DF-9303-299C95FA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98984" y="0"/>
            <a:ext cx="133643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7C27D79-5B49-F06F-29C2-BF6429527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3477" y="5154421"/>
            <a:ext cx="3279227" cy="122971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545B34A-525D-FD4C-2384-D583B495C03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5455" t="5126"/>
          <a:stretch/>
        </p:blipFill>
        <p:spPr>
          <a:xfrm flipH="1">
            <a:off x="6768663" y="1729776"/>
            <a:ext cx="5423337" cy="535652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59FA15-E93F-D07D-D82B-86E08C540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32704" y="795528"/>
            <a:ext cx="6099048" cy="51206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ctr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F1B2B40-3852-2BC5-AA67-3AC0C94B535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185421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6177962F-BF83-8BF0-521C-AC2FE18512C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D003ACC-3116-807F-81D2-E8057D4C2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43485B2-AA3A-87CC-3B1B-A193C6EB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EF9689-52F4-4A6F-BEAC-E0B840C11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5833872" cy="3776472"/>
          </a:xfrm>
          <a:solidFill>
            <a:schemeClr val="bg1">
              <a:lumMod val="95000"/>
            </a:schemeClr>
          </a:solidFill>
        </p:spPr>
        <p:txBody>
          <a:bodyPr rIns="91440" anchor="t" anchorCtr="0">
            <a:normAutofit/>
          </a:bodyPr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828800" indent="-457200">
              <a:buFont typeface="+mj-lt"/>
              <a:buAutoNum type="alphaLcParenR"/>
              <a:defRPr sz="1400"/>
            </a:lvl4pPr>
            <a:lvl5pPr marL="2286000" indent="-45720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B532826-83B5-DC67-7DDB-45FD78E830A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306056" y="2093976"/>
            <a:ext cx="3172968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04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47051E-220B-9586-3E85-05AF9DC9B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8FA6629-B230-F528-AAE3-D182D963F05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A0390C-256A-CE3C-1348-C39DBAE01D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37644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36667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636008"/>
            <a:ext cx="5276088" cy="155448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600"/>
              </a:spcAft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23360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55356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fld id="{F91729D4-A164-47A3-830D-E792BCE699E4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F976-A881-DB46-9D98-9D55727C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C7589-D4CD-50AB-9AA4-198FD4932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6" r:id="rId3"/>
    <p:sldLayoutId id="2147483675" r:id="rId4"/>
    <p:sldLayoutId id="2147483683" r:id="rId5"/>
    <p:sldLayoutId id="2147483684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4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680-7C22-BFF1-165D-52AB411C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667512"/>
            <a:ext cx="7126604" cy="4873752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 err="1"/>
              <a:t>Avaliação</a:t>
            </a:r>
            <a:r>
              <a:rPr lang="en-US" sz="2400" b="1" dirty="0"/>
              <a:t> da Cavala </a:t>
            </a:r>
            <a:r>
              <a:rPr lang="en-US" sz="2000" b="1" dirty="0"/>
              <a:t>(</a:t>
            </a:r>
            <a:r>
              <a:rPr lang="en-US" sz="2000" b="1" i="1" dirty="0" err="1"/>
              <a:t>Decapterus</a:t>
            </a:r>
            <a:r>
              <a:rPr lang="en-US" sz="2000" b="1" i="1" dirty="0"/>
              <a:t> </a:t>
            </a:r>
            <a:r>
              <a:rPr lang="en-US" sz="2000" b="1" i="1" dirty="0" err="1"/>
              <a:t>macarellus</a:t>
            </a:r>
            <a:r>
              <a:rPr lang="en-US" sz="2000" b="1" dirty="0"/>
              <a:t>)</a:t>
            </a:r>
            <a:r>
              <a:rPr lang="en-US" sz="2000" b="1" i="1" dirty="0"/>
              <a:t> </a:t>
            </a:r>
            <a:r>
              <a:rPr lang="en-US" sz="2400" b="1" dirty="0" err="1"/>
              <a:t>em</a:t>
            </a:r>
            <a:r>
              <a:rPr lang="en-US" sz="2400" b="1" dirty="0"/>
              <a:t> </a:t>
            </a:r>
            <a:r>
              <a:rPr lang="en-US" sz="2400" b="1" dirty="0" err="1"/>
              <a:t>cabo</a:t>
            </a:r>
            <a:r>
              <a:rPr lang="en-US" sz="2400" b="1" dirty="0"/>
              <a:t> </a:t>
            </a:r>
            <a:r>
              <a:rPr lang="en-US" sz="2400" b="1" dirty="0" err="1"/>
              <a:t>verde</a:t>
            </a:r>
            <a:endParaRPr lang="en-US" sz="24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F459B-002E-E89C-3A0E-589730DD71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46072" y="5541264"/>
            <a:ext cx="5276088" cy="859536"/>
          </a:xfrm>
        </p:spPr>
        <p:txBody>
          <a:bodyPr/>
          <a:lstStyle/>
          <a:p>
            <a:pPr algn="ctr"/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baseados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capturas</a:t>
            </a:r>
            <a:endParaRPr lang="en-US" dirty="0"/>
          </a:p>
          <a:p>
            <a:pPr algn="ctr"/>
            <a:r>
              <a:rPr lang="en-US" dirty="0"/>
              <a:t>Lucas e Matheus</a:t>
            </a:r>
          </a:p>
        </p:txBody>
      </p:sp>
      <p:sp>
        <p:nvSpPr>
          <p:cNvPr id="26" name="Espaço Reservado para Imagem 25">
            <a:extLst>
              <a:ext uri="{FF2B5EF4-FFF2-40B4-BE49-F238E27FC236}">
                <a16:creationId xmlns:a16="http://schemas.microsoft.com/office/drawing/2014/main" id="{EE853E75-F85E-BB00-2CCF-E8477A09B29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pic>
        <p:nvPicPr>
          <p:cNvPr id="28" name="Imagem 27" descr="No photo description available.">
            <a:extLst>
              <a:ext uri="{FF2B5EF4-FFF2-40B4-BE49-F238E27FC236}">
                <a16:creationId xmlns:a16="http://schemas.microsoft.com/office/drawing/2014/main" id="{C8F08B99-CBE4-19B1-37C8-8AC62F3B3E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97" r="35284"/>
          <a:stretch>
            <a:fillRect/>
          </a:stretch>
        </p:blipFill>
        <p:spPr>
          <a:xfrm>
            <a:off x="7573720" y="0"/>
            <a:ext cx="4618280" cy="6857999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4E9F87C-3AC5-6EDD-D99A-B1C1F1299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9"/>
          <a:stretch>
            <a:fillRect/>
          </a:stretch>
        </p:blipFill>
        <p:spPr>
          <a:xfrm>
            <a:off x="1714855" y="0"/>
            <a:ext cx="730385" cy="947737"/>
          </a:xfrm>
          <a:prstGeom prst="rect">
            <a:avLst/>
          </a:prstGeom>
        </p:spPr>
      </p:pic>
      <p:pic>
        <p:nvPicPr>
          <p:cNvPr id="31" name="Imagem 30" descr="IMar Logo">
            <a:extLst>
              <a:ext uri="{FF2B5EF4-FFF2-40B4-BE49-F238E27FC236}">
                <a16:creationId xmlns:a16="http://schemas.microsoft.com/office/drawing/2014/main" id="{C52B832F-4F00-F683-469A-944A7A7E8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827" y="42018"/>
            <a:ext cx="1864232" cy="699087"/>
          </a:xfrm>
          <a:prstGeom prst="rect">
            <a:avLst/>
          </a:prstGeom>
        </p:spPr>
      </p:pic>
      <p:pic>
        <p:nvPicPr>
          <p:cNvPr id="32" name="Imagem 31" descr="Blue Impact">
            <a:extLst>
              <a:ext uri="{FF2B5EF4-FFF2-40B4-BE49-F238E27FC236}">
                <a16:creationId xmlns:a16="http://schemas.microsoft.com/office/drawing/2014/main" id="{2F392765-B0E1-C8AE-6D16-6A213AF93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281" y="107656"/>
            <a:ext cx="730385" cy="59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765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D200-F286-1A6A-3865-C638FE24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0B899-1CC9-19DF-1EBC-B2DEC88BC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" y="214884"/>
            <a:ext cx="3144198" cy="772668"/>
          </a:xfrm>
        </p:spPr>
        <p:txBody>
          <a:bodyPr>
            <a:noAutofit/>
          </a:bodyPr>
          <a:lstStyle/>
          <a:p>
            <a:r>
              <a:rPr lang="en-US" sz="2800" dirty="0"/>
              <a:t>Dados e </a:t>
            </a:r>
            <a:r>
              <a:rPr lang="en-US" sz="2800" dirty="0" err="1"/>
              <a:t>definições</a:t>
            </a:r>
            <a:r>
              <a:rPr lang="en-US" sz="2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8B34-03CA-72E0-8D82-9DCCAB280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0312" y="456401"/>
            <a:ext cx="7970520" cy="6082511"/>
          </a:xfrm>
        </p:spPr>
        <p:txBody>
          <a:bodyPr>
            <a:normAutofit/>
          </a:bodyPr>
          <a:lstStyle/>
          <a:p>
            <a:r>
              <a:rPr lang="en-US" dirty="0" err="1"/>
              <a:t>Hipótese</a:t>
            </a:r>
            <a:r>
              <a:rPr lang="en-US" dirty="0"/>
              <a:t> H1 — estoque </a:t>
            </a:r>
            <a:r>
              <a:rPr lang="en-US" dirty="0" err="1"/>
              <a:t>unitário</a:t>
            </a:r>
            <a:r>
              <a:rPr lang="en-US" dirty="0"/>
              <a:t> para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adotada</a:t>
            </a:r>
            <a:r>
              <a:rPr lang="en-US" dirty="0"/>
              <a:t> pela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evidências</a:t>
            </a:r>
            <a:r>
              <a:rPr lang="en-US" dirty="0"/>
              <a:t> robustas de </a:t>
            </a:r>
            <a:r>
              <a:rPr lang="en-US" dirty="0" err="1"/>
              <a:t>diferenciação</a:t>
            </a:r>
            <a:r>
              <a:rPr lang="en-US" dirty="0"/>
              <a:t> </a:t>
            </a:r>
            <a:r>
              <a:rPr lang="en-US" dirty="0" err="1"/>
              <a:t>biológica</a:t>
            </a:r>
            <a:r>
              <a:rPr lang="en-US" dirty="0"/>
              <a:t> entre as </a:t>
            </a:r>
            <a:r>
              <a:rPr lang="en-US" dirty="0" err="1"/>
              <a:t>ilhas</a:t>
            </a:r>
            <a:r>
              <a:rPr lang="en-US" dirty="0"/>
              <a:t>. A </a:t>
            </a:r>
            <a:r>
              <a:rPr lang="en-US" dirty="0" err="1"/>
              <a:t>ampla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D. </a:t>
            </a:r>
            <a:r>
              <a:rPr lang="en-US" dirty="0" err="1"/>
              <a:t>macarellus</a:t>
            </a:r>
            <a:r>
              <a:rPr lang="en-US" dirty="0"/>
              <a:t>, </a:t>
            </a:r>
            <a:r>
              <a:rPr lang="en-US" dirty="0" err="1"/>
              <a:t>associada</a:t>
            </a:r>
            <a:r>
              <a:rPr lang="en-US" dirty="0"/>
              <a:t> à </a:t>
            </a:r>
            <a:r>
              <a:rPr lang="en-US" dirty="0" err="1"/>
              <a:t>circulação</a:t>
            </a:r>
            <a:r>
              <a:rPr lang="en-US" dirty="0"/>
              <a:t> e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trocas</a:t>
            </a:r>
            <a:r>
              <a:rPr lang="en-US" dirty="0"/>
              <a:t> de </a:t>
            </a:r>
            <a:r>
              <a:rPr lang="en-US" dirty="0" err="1"/>
              <a:t>massas</a:t>
            </a:r>
            <a:r>
              <a:rPr lang="en-US" dirty="0"/>
              <a:t> </a:t>
            </a:r>
            <a:r>
              <a:rPr lang="en-US" dirty="0" err="1"/>
              <a:t>d’água</a:t>
            </a:r>
            <a:r>
              <a:rPr lang="en-US" dirty="0"/>
              <a:t> no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favorecer</a:t>
            </a:r>
            <a:r>
              <a:rPr lang="en-US" dirty="0"/>
              <a:t> </a:t>
            </a:r>
            <a:r>
              <a:rPr lang="en-US" dirty="0" err="1"/>
              <a:t>conectividade</a:t>
            </a:r>
            <a:r>
              <a:rPr lang="en-US" dirty="0"/>
              <a:t> entre </a:t>
            </a:r>
            <a:r>
              <a:rPr lang="en-US" dirty="0" err="1"/>
              <a:t>áreas</a:t>
            </a:r>
            <a:r>
              <a:rPr lang="en-US" dirty="0"/>
              <a:t> de </a:t>
            </a:r>
            <a:r>
              <a:rPr lang="en-US" dirty="0" err="1"/>
              <a:t>reprodução</a:t>
            </a:r>
            <a:r>
              <a:rPr lang="en-US" dirty="0"/>
              <a:t> e </a:t>
            </a:r>
            <a:r>
              <a:rPr lang="en-US" dirty="0" err="1"/>
              <a:t>recrutamento</a:t>
            </a:r>
            <a:r>
              <a:rPr lang="en-US" dirty="0"/>
              <a:t>, </a:t>
            </a:r>
            <a:r>
              <a:rPr lang="en-US" dirty="0" err="1"/>
              <a:t>incluindo</a:t>
            </a:r>
            <a:r>
              <a:rPr lang="en-US" dirty="0"/>
              <a:t>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fluxo</a:t>
            </a:r>
            <a:r>
              <a:rPr lang="en-US" dirty="0"/>
              <a:t> larval. Assim, um estoque </a:t>
            </a:r>
            <a:r>
              <a:rPr lang="en-US" dirty="0" err="1"/>
              <a:t>unitário</a:t>
            </a:r>
            <a:r>
              <a:rPr lang="en-US" dirty="0"/>
              <a:t> é </a:t>
            </a:r>
            <a:r>
              <a:rPr lang="en-US" dirty="0" err="1"/>
              <a:t>considerado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hipótese</a:t>
            </a:r>
            <a:r>
              <a:rPr lang="en-US" dirty="0"/>
              <a:t> de </a:t>
            </a:r>
            <a:r>
              <a:rPr lang="en-US" dirty="0" err="1"/>
              <a:t>trabalho</a:t>
            </a:r>
            <a:r>
              <a:rPr lang="en-US" dirty="0"/>
              <a:t> </a:t>
            </a:r>
            <a:r>
              <a:rPr lang="en-US" dirty="0" err="1"/>
              <a:t>plausível</a:t>
            </a:r>
            <a:r>
              <a:rPr lang="en-US" dirty="0"/>
              <a:t> (Stobberup &amp; </a:t>
            </a:r>
            <a:r>
              <a:rPr lang="en-US" dirty="0" err="1"/>
              <a:t>Erzini</a:t>
            </a:r>
            <a:r>
              <a:rPr lang="en-US" dirty="0"/>
              <a:t>, 2006; Vieira, 2018; Nansen, 2021).</a:t>
            </a:r>
          </a:p>
          <a:p>
            <a:r>
              <a:rPr lang="en-US" dirty="0" err="1"/>
              <a:t>Capturas</a:t>
            </a:r>
            <a:r>
              <a:rPr lang="en-US" dirty="0"/>
              <a:t> </a:t>
            </a:r>
            <a:r>
              <a:rPr lang="en-US" dirty="0" err="1"/>
              <a:t>extraídas</a:t>
            </a:r>
            <a:r>
              <a:rPr lang="en-US" dirty="0"/>
              <a:t> do Luz &amp; Vieira, 2020. </a:t>
            </a:r>
            <a:r>
              <a:rPr lang="en-US" dirty="0" err="1"/>
              <a:t>Período</a:t>
            </a:r>
            <a:r>
              <a:rPr lang="en-US" dirty="0"/>
              <a:t> de 1989 </a:t>
            </a:r>
            <a:r>
              <a:rPr lang="en-US" dirty="0" err="1"/>
              <a:t>até</a:t>
            </a:r>
            <a:r>
              <a:rPr lang="en-US" dirty="0"/>
              <a:t> 2015 (</a:t>
            </a:r>
            <a:r>
              <a:rPr lang="en-US" dirty="0" err="1"/>
              <a:t>Desatualizadas</a:t>
            </a:r>
            <a:r>
              <a:rPr lang="en-US" dirty="0"/>
              <a:t>)</a:t>
            </a:r>
          </a:p>
          <a:p>
            <a:endParaRPr lang="en-US" dirty="0"/>
          </a:p>
          <a:p>
            <a:pPr fontAlgn="t"/>
            <a:r>
              <a:rPr lang="en-US" dirty="0" err="1"/>
              <a:t>Parâmetros</a:t>
            </a:r>
            <a:r>
              <a:rPr lang="en-US" dirty="0"/>
              <a:t> de </a:t>
            </a:r>
            <a:r>
              <a:rPr lang="en-US" dirty="0" err="1"/>
              <a:t>crescimento</a:t>
            </a:r>
            <a:r>
              <a:rPr lang="en-US" dirty="0"/>
              <a:t> (L∞, k, t0), </a:t>
            </a:r>
            <a:r>
              <a:rPr lang="en-US" dirty="0" err="1"/>
              <a:t>maturidade</a:t>
            </a:r>
            <a:r>
              <a:rPr lang="en-US" dirty="0"/>
              <a:t> (L50), </a:t>
            </a:r>
            <a:r>
              <a:rPr lang="en-US" dirty="0" err="1"/>
              <a:t>Mortalidade</a:t>
            </a:r>
            <a:r>
              <a:rPr lang="en-US" dirty="0"/>
              <a:t> (M), </a:t>
            </a:r>
            <a:r>
              <a:rPr lang="en-US" dirty="0" err="1"/>
              <a:t>Longevidade</a:t>
            </a:r>
            <a:r>
              <a:rPr lang="en-US" dirty="0"/>
              <a:t> (</a:t>
            </a:r>
            <a:r>
              <a:rPr lang="en-US" dirty="0" err="1"/>
              <a:t>Tmax</a:t>
            </a:r>
            <a:r>
              <a:rPr lang="en-US" dirty="0"/>
              <a:t>) (Costa et al. (2020)Jardim (1996/1999); Santos (2018);da Cruz Delgado et al. (2024);Almada (1997);da Luz &amp; Vieira (2020);Vieira (2019). </a:t>
            </a:r>
            <a:r>
              <a:rPr lang="en-US" dirty="0" err="1"/>
              <a:t>Confiabilidade</a:t>
            </a:r>
            <a:r>
              <a:rPr lang="en-US" dirty="0"/>
              <a:t> </a:t>
            </a:r>
            <a:r>
              <a:rPr lang="en-US" dirty="0" err="1"/>
              <a:t>medida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amostragem</a:t>
            </a:r>
            <a:r>
              <a:rPr lang="en-US" dirty="0"/>
              <a:t>, </a:t>
            </a:r>
            <a:r>
              <a:rPr lang="en-US" dirty="0" err="1"/>
              <a:t>cobertura</a:t>
            </a:r>
            <a:r>
              <a:rPr lang="en-US" dirty="0"/>
              <a:t> </a:t>
            </a:r>
            <a:r>
              <a:rPr lang="en-US" dirty="0" err="1"/>
              <a:t>espacial</a:t>
            </a:r>
            <a:r>
              <a:rPr lang="en-US" dirty="0"/>
              <a:t>, </a:t>
            </a:r>
            <a:r>
              <a:rPr lang="en-US" dirty="0" err="1"/>
              <a:t>revisão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pares, </a:t>
            </a:r>
            <a:r>
              <a:rPr lang="en-US" dirty="0" err="1"/>
              <a:t>metodologia</a:t>
            </a:r>
            <a:r>
              <a:rPr lang="en-US" dirty="0"/>
              <a:t> </a:t>
            </a:r>
            <a:r>
              <a:rPr lang="en-US" dirty="0" err="1"/>
              <a:t>sólida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EFD66-9A0F-8212-D484-547D33CBADA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01167" y="1298448"/>
            <a:ext cx="2731603" cy="4197096"/>
          </a:xfrm>
        </p:spPr>
        <p:txBody>
          <a:bodyPr>
            <a:normAutofit fontScale="85000" lnSpcReduction="10000"/>
          </a:bodyPr>
          <a:lstStyle/>
          <a:p>
            <a:r>
              <a:rPr lang="en-US" sz="3100" b="1" dirty="0"/>
              <a:t>Estoque</a:t>
            </a:r>
          </a:p>
          <a:p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Capturas</a:t>
            </a:r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História</a:t>
            </a:r>
            <a:r>
              <a:rPr lang="en-US" sz="3100" b="1" dirty="0"/>
              <a:t> de </a:t>
            </a:r>
            <a:r>
              <a:rPr lang="en-US" sz="3100" b="1" dirty="0" err="1"/>
              <a:t>vida</a:t>
            </a:r>
            <a:endParaRPr lang="en-US" sz="3100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A570D-BA04-615F-F3D6-488B83D58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E0C48DA-3F4B-6B8B-A311-041F7B6CF13E}"/>
              </a:ext>
            </a:extLst>
          </p:cNvPr>
          <p:cNvSpPr/>
          <p:nvPr/>
        </p:nvSpPr>
        <p:spPr>
          <a:xfrm rot="20261783">
            <a:off x="2151318" y="1026279"/>
            <a:ext cx="1644381" cy="2629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C9E17B0-61AB-CED5-5E7E-65AB3CDF1A30}"/>
              </a:ext>
            </a:extLst>
          </p:cNvPr>
          <p:cNvSpPr/>
          <p:nvPr/>
        </p:nvSpPr>
        <p:spPr>
          <a:xfrm rot="21231189">
            <a:off x="2172026" y="3268978"/>
            <a:ext cx="1602436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A2EEE10E-41C0-191B-566C-C8AA8FC5A952}"/>
              </a:ext>
            </a:extLst>
          </p:cNvPr>
          <p:cNvSpPr/>
          <p:nvPr/>
        </p:nvSpPr>
        <p:spPr>
          <a:xfrm>
            <a:off x="2875023" y="4672361"/>
            <a:ext cx="1116310" cy="2433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91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8A36-4906-1CA1-3E17-D1DE1571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6000-8DA8-126C-47B4-5B1CBB2F0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Modelos utilizados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69868B-1FFE-D782-EE0B-015E922C3E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DB-SRA (Dick &amp; MacCall, 2011)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8EECA-F349-A32C-BD63-1E739519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BD12358-51D2-46B3-9BDE-DF29528B9454}" type="slidenum">
              <a:rPr kumimoji="0" lang="en-US" sz="1000" b="0" i="0" u="none" strike="noStrike" kern="1200" cap="all" spc="150" normalizeH="0" baseline="0" noProof="0" smtClean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all" spc="150" normalizeH="0" baseline="0" noProof="0" dirty="0">
              <a:ln>
                <a:noFill/>
              </a:ln>
              <a:solidFill>
                <a:srgbClr val="627272">
                  <a:lumMod val="75000"/>
                </a:srgbClr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65A913-CB6F-0516-95C6-1772D5AD6761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Método catch-only para estimar pontos de referência (MSY, Bmsy, Fmsy) em estoques com poucos dados, sem precisar de índice de abundância.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Reconstrói a trajetória de biomassa a partir da série de capturas; busca por Monte Carlo o K que gera a depleção final assumida (Bt/K).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Modelo de produção excedente genérico (tipo Pella-Tomlinson), parametrizado pela razão Fmsy/M.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Dados de entrada: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série histórica de capturas, mortalidade natural (M), razão Fmsy/M e uma hipótese de depleção relativa (Bt/K) no fim da série.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Estimativas de saída: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distribuições de probabilidade (Monte Carlo) de MSY, Bmsy, K, Fmsy e da razão Bt/Bmsy atual.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ABC0DB9-6E8A-E365-FE9F-8332D51AF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516456" cy="2759927"/>
          </a:xfrm>
        </p:spPr>
        <p:txBody>
          <a:bodyPr>
            <a:no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Evolução do CMSY; também catch-only, estima r, k, MSY e biomassa relativa usando a resiliência da espécie.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Simulação bayesiana de Monte Carlo — sorteia pares de r e k, projeta a biomassa com a série de capturas e mantém só as combinações viáveis.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Modelo de Schaefer ajustado por um Bayesian State-space Model (BSM).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Dados de entrada: </a:t>
            </a:r>
            <a:r>
              <a:rPr lang="pt-BR" sz="1500" b="0" dirty="0"/>
              <a:t>série de capturas, priori de r (via resiliência/história de vida) e depleção inicial e final (</a:t>
            </a:r>
            <a:r>
              <a:rPr lang="pt-BR" sz="1500" b="0" dirty="0" err="1"/>
              <a:t>Bt</a:t>
            </a:r>
            <a:r>
              <a:rPr lang="pt-BR" sz="1500" b="0" dirty="0"/>
              <a:t>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Estimativas de saída: </a:t>
            </a:r>
            <a:r>
              <a:rPr lang="pt-BR" sz="1500" b="0" dirty="0"/>
              <a:t>posteriores de r, k, MSY, Bmsy, Fmsy e as trajetórias de B/Bmsy e F/Fmsy ao longo da série.</a:t>
            </a:r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F13D2ABD-A723-E273-3B7A-6A81FBBEFA31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727ECFD7-DA3F-44FB-16A7-42C94BF27099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F1B570D-9C66-EA9C-603E-C9ED8F32B3D1}"/>
              </a:ext>
            </a:extLst>
          </p:cNvPr>
          <p:cNvSpPr txBox="1"/>
          <p:nvPr/>
        </p:nvSpPr>
        <p:spPr>
          <a:xfrm>
            <a:off x="630148" y="4928115"/>
            <a:ext cx="3947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CMSY++ (Froese et al., 2023)</a:t>
            </a:r>
          </a:p>
        </p:txBody>
      </p:sp>
    </p:spTree>
    <p:extLst>
      <p:ext uri="{BB962C8B-B14F-4D97-AF65-F5344CB8AC3E}">
        <p14:creationId xmlns:p14="http://schemas.microsoft.com/office/powerpoint/2010/main" val="1466817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EC8E-FFDF-74DA-A020-5ED59C925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67052-6335-AEA7-8D44-F76CD3134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E</a:t>
            </a:r>
            <a:r>
              <a:rPr lang="en-US" sz="2400" dirty="0" err="1"/>
              <a:t>stimativas</a:t>
            </a:r>
            <a:r>
              <a:rPr lang="en-US" sz="2400" dirty="0"/>
              <a:t> </a:t>
            </a:r>
            <a:r>
              <a:rPr lang="en-US" sz="2400" dirty="0" err="1"/>
              <a:t>iniciais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DA165-674D-FB0A-9FC0-B1BCCA427D4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r (taxa </a:t>
            </a:r>
            <a:r>
              <a:rPr lang="en-US" sz="2400" b="1" dirty="0" err="1"/>
              <a:t>intrínseca</a:t>
            </a:r>
            <a:r>
              <a:rPr lang="en-US" sz="2400" b="1" dirty="0"/>
              <a:t> de </a:t>
            </a:r>
            <a:r>
              <a:rPr lang="en-US" sz="2400" b="1" dirty="0" err="1"/>
              <a:t>crescimento-Produtividade</a:t>
            </a:r>
            <a:r>
              <a:rPr lang="en-US" sz="2400" b="1" dirty="0"/>
              <a:t>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D20085-7F51-4CDC-15B2-563B9DAC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D0C8E5-9D6B-92F7-FE01-2A6B7A10801B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800" dirty="0" err="1"/>
              <a:t>Modelos</a:t>
            </a:r>
            <a:r>
              <a:rPr lang="en-US" sz="1800" dirty="0"/>
              <a:t> </a:t>
            </a:r>
            <a:r>
              <a:rPr lang="en-US" sz="1800" dirty="0" err="1"/>
              <a:t>demográficos</a:t>
            </a:r>
            <a:r>
              <a:rPr lang="en-US" sz="1800" dirty="0"/>
              <a:t> (Euler–Lotka — Euler, Myers, Smith rebound e Demographic invariant) com bootstrap </a:t>
            </a:r>
            <a:r>
              <a:rPr lang="en-US" sz="1800" dirty="0" err="1"/>
              <a:t>paramétrico</a:t>
            </a:r>
            <a:r>
              <a:rPr lang="en-US" sz="1800" dirty="0"/>
              <a:t> para </a:t>
            </a:r>
            <a:r>
              <a:rPr lang="en-US" sz="1800" dirty="0" err="1"/>
              <a:t>incorporar</a:t>
            </a:r>
            <a:r>
              <a:rPr lang="en-US" sz="1800" dirty="0"/>
              <a:t> a </a:t>
            </a:r>
            <a:r>
              <a:rPr lang="en-US" sz="1800" dirty="0" err="1"/>
              <a:t>variabilidade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Baixa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pessimista</a:t>
            </a:r>
            <a:r>
              <a:rPr lang="en-US" sz="1800" dirty="0"/>
              <a:t>, </a:t>
            </a:r>
            <a:r>
              <a:rPr lang="en-US" sz="1800" dirty="0" err="1"/>
              <a:t>reduzindo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Alta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otimista</a:t>
            </a:r>
            <a:r>
              <a:rPr lang="en-US" sz="1800" dirty="0"/>
              <a:t>, </a:t>
            </a:r>
            <a:r>
              <a:rPr lang="en-US" sz="1800" dirty="0" err="1"/>
              <a:t>aumentando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 err="1"/>
              <a:t>Não</a:t>
            </a:r>
            <a:r>
              <a:rPr lang="en-US" sz="1800" dirty="0"/>
              <a:t> </a:t>
            </a:r>
            <a:r>
              <a:rPr lang="en-US" sz="1800" dirty="0" err="1"/>
              <a:t>informativa</a:t>
            </a:r>
            <a:r>
              <a:rPr lang="en-US" sz="1800" dirty="0"/>
              <a:t>: </a:t>
            </a:r>
            <a:r>
              <a:rPr lang="en-US" sz="1800" dirty="0" err="1"/>
              <a:t>ausência</a:t>
            </a:r>
            <a:r>
              <a:rPr lang="en-US" sz="1800" dirty="0"/>
              <a:t> de </a:t>
            </a:r>
            <a:r>
              <a:rPr lang="en-US" sz="1800" dirty="0" err="1"/>
              <a:t>informação</a:t>
            </a:r>
            <a:r>
              <a:rPr lang="en-US" sz="1800" dirty="0"/>
              <a:t> </a:t>
            </a:r>
            <a:r>
              <a:rPr lang="en-US" sz="1800" dirty="0" err="1"/>
              <a:t>prévia</a:t>
            </a:r>
            <a:r>
              <a:rPr lang="en-US" sz="1800" dirty="0"/>
              <a:t> </a:t>
            </a:r>
            <a:r>
              <a:rPr lang="en-US" sz="1800" dirty="0" err="1"/>
              <a:t>sobre</a:t>
            </a:r>
            <a:r>
              <a:rPr lang="en-US" sz="1800" dirty="0"/>
              <a:t> r, </a:t>
            </a:r>
            <a:r>
              <a:rPr lang="en-US" sz="1800" dirty="0" err="1"/>
              <a:t>considerando</a:t>
            </a:r>
            <a:r>
              <a:rPr lang="en-US" sz="1800" dirty="0"/>
              <a:t> </a:t>
            </a:r>
            <a:r>
              <a:rPr lang="en-US" sz="1800" dirty="0" err="1"/>
              <a:t>uma</a:t>
            </a:r>
            <a:r>
              <a:rPr lang="en-US" sz="1800" dirty="0"/>
              <a:t> </a:t>
            </a:r>
            <a:r>
              <a:rPr lang="en-US" sz="1800" dirty="0" err="1"/>
              <a:t>distribuição</a:t>
            </a:r>
            <a:r>
              <a:rPr lang="en-US" sz="1800" dirty="0"/>
              <a:t> </a:t>
            </a:r>
            <a:r>
              <a:rPr lang="en-US" sz="1800" dirty="0" err="1"/>
              <a:t>uniforme</a:t>
            </a:r>
            <a:r>
              <a:rPr lang="en-US" sz="1800" dirty="0"/>
              <a:t> entre 0,1 e 1,5.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699311F5-F2F5-C728-5B17-49F0EA171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055970" cy="2759927"/>
          </a:xfrm>
        </p:spPr>
        <p:txBody>
          <a:bodyPr/>
          <a:lstStyle/>
          <a:p>
            <a:pPr lvl="0"/>
            <a:r>
              <a:rPr lang="en-US" dirty="0"/>
              <a:t>NN–CMSY++ e </a:t>
            </a:r>
            <a:r>
              <a:rPr lang="en-US" dirty="0" err="1"/>
              <a:t>zBRT</a:t>
            </a:r>
            <a:r>
              <a:rPr lang="en-US" dirty="0"/>
              <a:t>: B/K </a:t>
            </a:r>
            <a:r>
              <a:rPr lang="en-US" dirty="0" err="1"/>
              <a:t>inferido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</a:t>
            </a:r>
            <a:r>
              <a:rPr lang="en-US" dirty="0" err="1"/>
              <a:t>dinâmica</a:t>
            </a:r>
            <a:r>
              <a:rPr lang="en-US" dirty="0"/>
              <a:t> da </a:t>
            </a:r>
            <a:r>
              <a:rPr lang="en-US" dirty="0" err="1"/>
              <a:t>série</a:t>
            </a:r>
            <a:r>
              <a:rPr lang="en-US" dirty="0"/>
              <a:t> </a:t>
            </a:r>
            <a:r>
              <a:rPr lang="en-US" dirty="0" err="1"/>
              <a:t>histórica</a:t>
            </a:r>
            <a:r>
              <a:rPr lang="en-US" dirty="0"/>
              <a:t> de </a:t>
            </a:r>
            <a:r>
              <a:rPr lang="en-US" dirty="0" err="1"/>
              <a:t>capturas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Target switching: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redução</a:t>
            </a:r>
            <a:r>
              <a:rPr lang="en-US" dirty="0"/>
              <a:t> da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devido</a:t>
            </a:r>
            <a:r>
              <a:rPr lang="en-US" dirty="0"/>
              <a:t> à </a:t>
            </a:r>
            <a:r>
              <a:rPr lang="en-US" dirty="0" err="1"/>
              <a:t>mudança</a:t>
            </a:r>
            <a:r>
              <a:rPr lang="en-US" dirty="0"/>
              <a:t> de </a:t>
            </a:r>
            <a:r>
              <a:rPr lang="en-US" dirty="0" err="1"/>
              <a:t>alvo</a:t>
            </a:r>
            <a:r>
              <a:rPr lang="en-US" dirty="0"/>
              <a:t>/</a:t>
            </a:r>
            <a:r>
              <a:rPr lang="en-US" dirty="0" err="1"/>
              <a:t>capturabilidade</a:t>
            </a:r>
            <a:r>
              <a:rPr lang="en-US" dirty="0"/>
              <a:t>. B/K = 0,20–0,70.</a:t>
            </a:r>
          </a:p>
          <a:p>
            <a:pPr lvl="0"/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informativa</a:t>
            </a:r>
            <a:r>
              <a:rPr lang="en-US" dirty="0"/>
              <a:t>: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prévia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a </a:t>
            </a:r>
            <a:r>
              <a:rPr lang="en-US" dirty="0" err="1"/>
              <a:t>depleção</a:t>
            </a:r>
            <a:r>
              <a:rPr lang="en-US" dirty="0"/>
              <a:t> final. B/K = 0,01–1,00.</a:t>
            </a:r>
          </a:p>
          <a:p>
            <a:endParaRPr lang="en-US" dirty="0"/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33CCB12B-C801-D8B6-86C7-E04A79987A45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A654276D-23A2-FFF8-B2AA-D459931A1CB2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50066AB-AB2B-BEE3-6A11-D7C5902D3FF3}"/>
              </a:ext>
            </a:extLst>
          </p:cNvPr>
          <p:cNvSpPr txBox="1"/>
          <p:nvPr/>
        </p:nvSpPr>
        <p:spPr>
          <a:xfrm>
            <a:off x="805676" y="4928115"/>
            <a:ext cx="6094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/k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Depleção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biomassa</a:t>
            </a:r>
            <a:endParaRPr lang="en-US" sz="24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908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D05B-8E74-5560-99AA-CCAF58C0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7DFE-5DC1-2444-532F-27F3E63BC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45354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Série base de captura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34DAEE-C396-BDA8-2E57-CFAD4F56C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EDD2643-D6AB-DED3-51C7-35FF842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1412294"/>
            <a:ext cx="7379208" cy="463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80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E783-B53C-6ADC-2CE8-B7AF925C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66E6-3E6C-E866-1426-EAA7AF72B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210313"/>
            <a:ext cx="31638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História de vida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B25B50-22DF-C3DF-2971-16DB2E88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446F8E8-023A-9C28-C8CD-429BC3DF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974722"/>
              </p:ext>
            </p:extLst>
          </p:nvPr>
        </p:nvGraphicFramePr>
        <p:xfrm>
          <a:off x="0" y="920370"/>
          <a:ext cx="12191999" cy="9784330"/>
        </p:xfrm>
        <a:graphic>
          <a:graphicData uri="http://schemas.openxmlformats.org/drawingml/2006/table">
            <a:tbl>
              <a:tblPr/>
              <a:tblGrid>
                <a:gridCol w="731519">
                  <a:extLst>
                    <a:ext uri="{9D8B030D-6E8A-4147-A177-3AD203B41FA5}">
                      <a16:colId xmlns:a16="http://schemas.microsoft.com/office/drawing/2014/main" val="1974832778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335691708"/>
                    </a:ext>
                  </a:extLst>
                </a:gridCol>
                <a:gridCol w="1005839">
                  <a:extLst>
                    <a:ext uri="{9D8B030D-6E8A-4147-A177-3AD203B41FA5}">
                      <a16:colId xmlns:a16="http://schemas.microsoft.com/office/drawing/2014/main" val="12438957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363531865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1008162038"/>
                    </a:ext>
                  </a:extLst>
                </a:gridCol>
                <a:gridCol w="1371601">
                  <a:extLst>
                    <a:ext uri="{9D8B030D-6E8A-4147-A177-3AD203B41FA5}">
                      <a16:colId xmlns:a16="http://schemas.microsoft.com/office/drawing/2014/main" val="1493366808"/>
                    </a:ext>
                  </a:extLst>
                </a:gridCol>
                <a:gridCol w="2011681">
                  <a:extLst>
                    <a:ext uri="{9D8B030D-6E8A-4147-A177-3AD203B41FA5}">
                      <a16:colId xmlns:a16="http://schemas.microsoft.com/office/drawing/2014/main" val="517670388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416395309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256339005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940746095"/>
                    </a:ext>
                  </a:extLst>
                </a:gridCol>
                <a:gridCol w="518159">
                  <a:extLst>
                    <a:ext uri="{9D8B030D-6E8A-4147-A177-3AD203B41FA5}">
                      <a16:colId xmlns:a16="http://schemas.microsoft.com/office/drawing/2014/main" val="2891655734"/>
                    </a:ext>
                  </a:extLst>
                </a:gridCol>
                <a:gridCol w="579122">
                  <a:extLst>
                    <a:ext uri="{9D8B030D-6E8A-4147-A177-3AD203B41FA5}">
                      <a16:colId xmlns:a16="http://schemas.microsoft.com/office/drawing/2014/main" val="1233983699"/>
                    </a:ext>
                  </a:extLst>
                </a:gridCol>
                <a:gridCol w="533401">
                  <a:extLst>
                    <a:ext uri="{9D8B030D-6E8A-4147-A177-3AD203B41FA5}">
                      <a16:colId xmlns:a16="http://schemas.microsoft.com/office/drawing/2014/main" val="33848195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47899105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603730486"/>
                    </a:ext>
                  </a:extLst>
                </a:gridCol>
              </a:tblGrid>
              <a:tr h="924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fonte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referencia_completa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tipo_publicacao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periodo_amostragem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n_amostral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metodos_utilizados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pont_cobertura_temporal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pont_robustez_metodologica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pont_consistencia_interna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pontuacao_media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nivel_confiabilidade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179"/>
                  </a:ext>
                </a:extLst>
              </a:tr>
              <a:tr h="26343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 et al. (2020)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Costa, S. et al. (2020). [artigo sobre estrutura de tamanhos e maturidade da cavala preta em desembarques industriais de Cabo Verde].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revisado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por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pares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2012-2018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369 (284F + 85M)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(desembarques industriais)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Ogiva de maturidade logística (L50/L95) por sexo, sobre amostra de desembarques industriais.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91963"/>
                  </a:ext>
                </a:extLst>
              </a:tr>
              <a:tr h="4829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Jardim, J.E. Contribuição para o estudo da pescaria de cavala preta (Decapterus macarellus) no Arquipélago de Cabo Verde no período de 1981 a 1992. In: Carvalho, E.M.; Morais, J.; Nascimento, J. (Eds.), Investigação e Gestão Halieuticas em Cabo Verde, INDP, pp.215-233.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1981-1994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1441 (maturidade)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Mercados de Praia (Santiago, Sotavento) e Mindelo (São Vicente, Barlavento) — cobre os dois principais centros populacionais e as duas maiores sub-regiões do arquipélago.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Bhattacharya + Stamatopoulos &amp; Caddy (1989). Mortalidade: M por Pauly E POR Tanaka (2 métodos cruzados); Z por Beverton&amp;Holt E POR Powell-Wetherall (2 métodos cruzados). Maturidade: ogiva logística.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32058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&amp; Caramelo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M.E.M.; Caramelo, A.M. Avaliação do estado da pescaria de cavala preta e do chicharro em Cabo Verde. In: Carvalho, E.M.; Morais, J.; Nascimento, J. (Eds.), Investigação e Gestão Halieuticas em Cabo Verde, INDP, pp.143-153.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1983-1995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reportado explicitamente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Dados agregados de TODO o arquipélago, combinando frota artesanal e industrial — a MELHOR cobertura espacial entre todas as fontes revisadas.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ELEFAN/NORMSEP (Response Surface Analysis) + método de Shepherd. Mortalidade: M por Pauly; taxa de exploração pelo modelo de Jones.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20781"/>
                  </a:ext>
                </a:extLst>
              </a:tr>
              <a:tr h="35125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 (2018)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Santos, [inicial]. (2018). [tese sobre biologia e dinâmica populacional da cavala preta em Cabo Verde]. Tese de licenciatura, [instituição não identificada nos metadados do documento].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Tese de licenciatura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2005-2018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14006 (maior n da compilação)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— mercado de Mindelo com capturas de Sto Antão, S.Vicente, Sta Luzia, Branco/Raso e Sal (5 localidades dentro da mesma sub-região); não inclui Sotavento.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Gulland &amp; Holt + inversão da VBGF, separado por sexo. Mortalidade: M por Tanaka E por Pauly (2 métodos cruzados); Z por curva de captura. Maturidade: ogiva por estádios macroscópicos (escala adaptada de sardinha, não específica para a espécie).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379475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 (2019)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Vieira, N. (2019). Stock assessment and the influence of environmental parameters on the distribution of mackerel scad (Decapterus macarellus) in Cabo Verde waters. UNU Fisheries Training Programme (UNU-FTP),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de treinamento não publicado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1988-2018 (sistemático só a partir de 2005)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~27766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 de Mindelo / INDP — um único ponto de amostragem.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VBGF padrão, M e t0 via Pauly, tmax via fórmula de Taylor (1959), padrão de recrutamento via FiSAT.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731525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 &amp; Erzini (2006) — como fonte de crescimento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Stobberup, K.; Erzini, K. (2006). [artigo de síntese/avaliação de pequenos pelágicos em Cabo Verde, incl. cavala preta].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 revisado por pares (mas síntese, não dado primário)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Composto (herda de outras fontes)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composto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herdado das fontes originais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 geométrica de K de 4-5 fontes (Carvalho 1993, Jardim 1999, Carvalho &amp; Caramelo 1999, Almada 1997, + Fishbase para L∞); não é uma estimativa de crescimento independente.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54900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 &amp; Martins (2009)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Tariche, O.; Martins, A. (2009). Dinâmica populacional e avaliação do estado de exploração dos principais recursos haliêuticos de Cabo Verde. INDP, Mindelo.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interno (literatura cinzenta)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Regressão peso-comprimento (LWR) — único parâmetro reportado com algum detalhe (r²=0,94); demais informações de contexto ausentes.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4795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(1993)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E.M. (1993). Estudo de crescimento, mortalidade e taxa de exploração da cavala preta, Decapterus macarellus, Cuvier 1833. INDP, Boletim Técnico-Científico no. 0, pp. 31-39.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Literatura cinzenta institucional (não obtida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 valor final (K=0,49) é conhecido, via apêndice de Stobberup &amp; Erzini (2006, p.202).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avaliável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574344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 (1984)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Magnusson, M.A. (1984). ICEIDA/Cape Verde Islands Fisheries Project: Survey of Demersal Fish Resources in the Waters off Cape Verde Islands in May/June 1984, II Report.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institucional (não obtido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os valores finais (a=0,00783, b=3,140, n=190) são conhecidos, via Tabela 4 de Vieira (2019, p.27).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avaliável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4563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FA9808C3-AE3F-2195-54A9-AE439A60203B}"/>
              </a:ext>
            </a:extLst>
          </p:cNvPr>
          <p:cNvSpPr txBox="1"/>
          <p:nvPr/>
        </p:nvSpPr>
        <p:spPr>
          <a:xfrm>
            <a:off x="4133088" y="167266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Mortalidade Natural (M) – Jardim (0.61); Santos (0.63); Vieira (0.92)</a:t>
            </a:r>
          </a:p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Maturidade (L50) – Costa (241-266 mm)</a:t>
            </a:r>
            <a:endParaRPr lang="en-US" sz="11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11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3A8A8-7E8F-6843-D768-5BD4331F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35E3-2D69-A809-5031-66E28985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5021394" cy="621792"/>
          </a:xfrm>
        </p:spPr>
        <p:txBody>
          <a:bodyPr>
            <a:normAutofit/>
          </a:bodyPr>
          <a:lstStyle/>
          <a:p>
            <a:r>
              <a:rPr lang="pt-BR" sz="3600" dirty="0"/>
              <a:t>Estimativas de r e </a:t>
            </a:r>
            <a:r>
              <a:rPr lang="pt-BR" sz="3600" dirty="0" err="1"/>
              <a:t>Bt</a:t>
            </a:r>
            <a:r>
              <a:rPr lang="pt-BR" sz="3600" dirty="0"/>
              <a:t>/k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A1C81-4E5C-24F2-4A21-A4824AD9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BCA9889-676A-0F79-5FBE-02CE79C0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5" y="1658930"/>
            <a:ext cx="5872975" cy="34527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FBF607C-C207-D0C3-211A-37F5CCF36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58929"/>
            <a:ext cx="6095187" cy="345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42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F602-6BE8-54FB-00E3-F43FC4D72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A7014-60C9-9D43-6E37-F9D86F03B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889" y="0"/>
            <a:ext cx="6415297" cy="621792"/>
          </a:xfrm>
        </p:spPr>
        <p:txBody>
          <a:bodyPr>
            <a:normAutofit fontScale="90000"/>
          </a:bodyPr>
          <a:lstStyle/>
          <a:p>
            <a:r>
              <a:rPr lang="pt-BR" sz="3600" dirty="0"/>
              <a:t>Visão geral das hipóteses (r e </a:t>
            </a:r>
            <a:r>
              <a:rPr lang="pt-BR" sz="3600" dirty="0" err="1"/>
              <a:t>Bt</a:t>
            </a:r>
            <a:r>
              <a:rPr lang="pt-BR" sz="3600" dirty="0"/>
              <a:t>/k)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73F33-1107-0B0F-14C1-EF9A46EE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D181A34B-2764-4658-E97D-488A5F8F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148481"/>
              </p:ext>
            </p:extLst>
          </p:nvPr>
        </p:nvGraphicFramePr>
        <p:xfrm>
          <a:off x="407889" y="3913639"/>
          <a:ext cx="11434704" cy="2625273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2795427202"/>
                    </a:ext>
                  </a:extLst>
                </a:gridCol>
                <a:gridCol w="1247448">
                  <a:extLst>
                    <a:ext uri="{9D8B030D-6E8A-4147-A177-3AD203B41FA5}">
                      <a16:colId xmlns:a16="http://schemas.microsoft.com/office/drawing/2014/main" val="237924071"/>
                    </a:ext>
                  </a:extLst>
                </a:gridCol>
                <a:gridCol w="1611228">
                  <a:extLst>
                    <a:ext uri="{9D8B030D-6E8A-4147-A177-3AD203B41FA5}">
                      <a16:colId xmlns:a16="http://schemas.microsoft.com/office/drawing/2014/main" val="383386709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7201005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5362497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229631377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17922871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81051048"/>
                    </a:ext>
                  </a:extLst>
                </a:gridCol>
              </a:tblGrid>
              <a:tr h="190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bk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332728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NN_CMSY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Rede Neural CMSY++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730527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0.69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163260"/>
                  </a:ext>
                </a:extLst>
              </a:tr>
              <a:tr h="3783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Target_switch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Mudança</a:t>
                      </a:r>
                      <a:r>
                        <a:rPr lang="en-US" sz="1600" u="none" strike="noStrike" dirty="0">
                          <a:effectLst/>
                        </a:rPr>
                        <a:t> de </a:t>
                      </a:r>
                      <a:r>
                        <a:rPr lang="en-US" sz="1600" u="none" strike="noStrike" dirty="0" err="1">
                          <a:effectLst/>
                        </a:rPr>
                        <a:t>alvo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360344"/>
                  </a:ext>
                </a:extLst>
              </a:tr>
              <a:tr h="7548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Decapterus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macarellus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Uninformative_bk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de </a:t>
                      </a:r>
                      <a:r>
                        <a:rPr lang="en-US" sz="1600" u="none" strike="noStrike" dirty="0" err="1">
                          <a:effectLst/>
                        </a:rPr>
                        <a:t>depleção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Independente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0.01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646245"/>
                  </a:ext>
                </a:extLst>
              </a:tr>
            </a:tbl>
          </a:graphicData>
        </a:graphic>
      </p:graphicFrame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7E9DFD8-8884-0B0A-CF4A-D48EBEF3D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4885"/>
              </p:ext>
            </p:extLst>
          </p:nvPr>
        </p:nvGraphicFramePr>
        <p:xfrm>
          <a:off x="407889" y="777282"/>
          <a:ext cx="11434704" cy="2840212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334888332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11149919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24011585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450633535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24616637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74859868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61140631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52533273"/>
                    </a:ext>
                  </a:extLst>
                </a:gridCol>
              </a:tblGrid>
              <a:tr h="1887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5301712"/>
                  </a:ext>
                </a:extLst>
              </a:tr>
              <a:tr h="2943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Euler-lotka methods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 / Myers / Smith rebound / Demographic inv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Baseado em modelo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794044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lower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- 0.2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683366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1989-2015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Higher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+ 0.2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579259"/>
                  </a:ext>
                </a:extLst>
              </a:tr>
              <a:tr h="3755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Non-informative_r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1.5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783383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70457BB9-2F6C-3960-A653-AB7FD9787496}"/>
              </a:ext>
            </a:extLst>
          </p:cNvPr>
          <p:cNvSpPr txBox="1"/>
          <p:nvPr/>
        </p:nvSpPr>
        <p:spPr>
          <a:xfrm>
            <a:off x="0" y="1935557"/>
            <a:ext cx="30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r</a:t>
            </a:r>
            <a:endParaRPr lang="en-US" sz="1400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1E46BC-063F-E71A-0C84-9B034B83BABB}"/>
              </a:ext>
            </a:extLst>
          </p:cNvPr>
          <p:cNvSpPr txBox="1"/>
          <p:nvPr/>
        </p:nvSpPr>
        <p:spPr>
          <a:xfrm>
            <a:off x="-64008" y="4922443"/>
            <a:ext cx="822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 err="1"/>
              <a:t>Bt</a:t>
            </a:r>
            <a:r>
              <a:rPr lang="pt-BR" sz="2000" b="1" dirty="0"/>
              <a:t>/k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66678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56794-BF2A-D366-0186-C646B702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C6C72-D4CE-8A74-B3C2-E371C45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360A0BA-B71D-61DB-1342-977B2A0B5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5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CE5B3E-4AB4-AAFB-0568-92F4837D4D1D}"/>
              </a:ext>
            </a:extLst>
          </p:cNvPr>
          <p:cNvSpPr txBox="1">
            <a:spLocks/>
          </p:cNvSpPr>
          <p:nvPr/>
        </p:nvSpPr>
        <p:spPr>
          <a:xfrm>
            <a:off x="0" y="190442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5781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D8032-9047-DCA0-998F-A59300AE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B066B8-7528-044C-2AF6-649C70319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12314DE-C9B3-04EA-B6FB-8BC90C63D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6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0E1D042-A607-2E78-8161-408D8D5613F8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071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DCF09-4CAB-99B2-4313-466D69D5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EB6A42-90EE-1265-2E19-F7407D594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02DDA2B-41D4-15C0-8B5C-E78AA8120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74" y="0"/>
            <a:ext cx="9451208" cy="742492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BE33CF7-7EFF-4316-DA85-D6F33C99735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8336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6851-7C6A-1A84-108F-C6980FE0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FE686A-563D-89E9-EB57-6787DFCB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C63B62-0306-3129-B5FB-DB15106F5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611EA76-ECF5-6F18-7671-E1681D439EF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02333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ED4FD-5C98-BD29-839B-D91C647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301C02-457A-C9AD-79AA-DEC6E2AB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9A54982-B7EC-4E54-47A0-C147D8DE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158"/>
            <a:ext cx="12099927" cy="60483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0BB88FF-8A69-D147-8C09-C81BC5B7EFE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62318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92619-66B2-96CF-FF9C-20F86588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5FFB-2313-5FF7-ED0A-89CACC83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7C078C9-CFB6-2D84-5678-B36BBAC4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82AE301-C8AE-76B3-D88C-E4789555F0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5448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3F85-D3D0-4B92-6444-6BE9BCB5E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B1FAC-FEAB-86E9-9469-16E949DC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76F505-FA77-3F4B-8538-43AF73E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D592566-0FFE-399C-BC21-331B6CC12BE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56969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D8C-6A64-F021-0A32-93A1B3419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E091D4-3AF2-466F-E5FF-DD3BEA78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AABB59-6207-377E-E8BD-15C2F45C1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7" y="0"/>
            <a:ext cx="10566024" cy="676125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9215D12-D66C-EE28-EDEC-E73E80A715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4588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EF11-57C1-00B4-0214-0893B155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B9509-4729-835D-DBDB-5DE14C1F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68976C-667D-8E45-CB9E-0230B73C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12139FE-5977-D048-D19D-64CE1E7F53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34138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C813-417F-266F-172A-09DB2D38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CB984-29BD-6B47-1D7C-9566558EC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5C9C7D-1315-6778-93A9-1599AE38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07D24BA-25DD-D5F8-6C90-3EB57511EC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2088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CC369-0C11-A639-890B-04C6A7F4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E0A18-0A66-0E5A-5553-A05E29B2B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66B6B5C-FE49-C8F1-6B1D-D36D86E93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AB83D8E-464E-7E3B-0169-15E26B0562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71836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FA1D-39A7-6744-334B-60062947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F9EA3B-165B-2A3D-9016-BB875368E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2FEDA5-5D90-CB5B-8F4A-5D1A2871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8" y="0"/>
            <a:ext cx="9532684" cy="748893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F7BFB03-F52A-EE07-F8E0-B87CCF5D72C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34414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0A68-4A4B-8146-A91F-7F57D60C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5829-011F-C6BA-34A2-E00EC13D0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A5C5F43-06DC-3E9F-3062-901792605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52807F5-2585-EFCC-9AB2-3D3A66BC2CC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624370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9BBDF-1F93-3CFC-F821-3D3ADB35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ADB05-0087-33F5-6CBD-A3C028083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79742-C8FA-82F5-B4AC-B62656EF9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5216"/>
            <a:ext cx="12187515" cy="609214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EDC28F4-6752-8D94-DB38-7E2250EAFB3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41283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9F63D-BAEC-6CB0-A03A-E9EDD0A2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BAB63-9C0B-DFC2-FE14-85340DB6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C647DC-FD85-9830-C96F-4CCA62D6A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CDD93E-EC2C-65FF-4E55-DD5D8210397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</a:p>
        </p:txBody>
      </p:sp>
    </p:spTree>
    <p:extLst>
      <p:ext uri="{BB962C8B-B14F-4D97-AF65-F5344CB8AC3E}">
        <p14:creationId xmlns:p14="http://schemas.microsoft.com/office/powerpoint/2010/main" val="1330996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2B264-9A55-CAE6-4353-68715F4C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92438-4CD1-A286-C97C-36A4ED42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D696FF0-3D87-B4EA-835A-C52ACDC4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8D5106-34DD-5BE6-7D00-900BC85D2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2402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73930-ECC2-669C-F428-68448883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94C44C-DE71-9FC9-784A-7EF53D463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16F8CD-A809-28BB-951F-FB12EAA49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73AB946-D0BC-02ED-3AF3-EDA743AF1FA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805935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CCF9-507A-9B33-F360-5F3A97BF4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5916168" cy="3666744"/>
          </a:xfrm>
        </p:spPr>
        <p:txBody>
          <a:bodyPr/>
          <a:lstStyle/>
          <a:p>
            <a:r>
              <a:rPr lang="en-US" dirty="0" err="1"/>
              <a:t>Obrigado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94F8A-4651-0476-8C8A-075A35696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8096" y="4636008"/>
            <a:ext cx="5276088" cy="1554480"/>
          </a:xfrm>
        </p:spPr>
        <p:txBody>
          <a:bodyPr/>
          <a:lstStyle/>
          <a:p>
            <a:r>
              <a:rPr lang="en-US" dirty="0"/>
              <a:t>Lucas e Matheus</a:t>
            </a:r>
          </a:p>
          <a:p>
            <a:endParaRPr lang="en-US" dirty="0"/>
          </a:p>
        </p:txBody>
      </p:sp>
      <p:pic>
        <p:nvPicPr>
          <p:cNvPr id="5" name="Picture Placeholder 4" descr="Aerial view of the beach">
            <a:extLst>
              <a:ext uri="{FF2B5EF4-FFF2-40B4-BE49-F238E27FC236}">
                <a16:creationId xmlns:a16="http://schemas.microsoft.com/office/drawing/2014/main" id="{69435B0A-4EE0-1346-7375-E8C7E1ED6C9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69" b="69"/>
          <a:stretch/>
        </p:blipFill>
        <p:spPr>
          <a:xfrm>
            <a:off x="7754112" y="947737"/>
            <a:ext cx="4023360" cy="4962525"/>
          </a:xfrm>
        </p:spPr>
      </p:pic>
    </p:spTree>
    <p:extLst>
      <p:ext uri="{BB962C8B-B14F-4D97-AF65-F5344CB8AC3E}">
        <p14:creationId xmlns:p14="http://schemas.microsoft.com/office/powerpoint/2010/main" val="4165655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468121_win32_CP_V3" id="{DB41292E-DA07-4A60-84D2-21F0B686AF93}" vid="{CD2DD4A9-674C-44A3-BA93-D7C3019ED0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AF5DA8-6387-4138-BF96-B65D39F2FC2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47603A-423C-4B8F-AA3D-8E6FA47105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Coastal presentation</Template>
  <TotalTime>1386</TotalTime>
  <Words>1994</Words>
  <Application>Microsoft Office PowerPoint</Application>
  <PresentationFormat>Widescreen</PresentationFormat>
  <Paragraphs>319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Carlito</vt:lpstr>
      <vt:lpstr>Segoe UI Light</vt:lpstr>
      <vt:lpstr>Custom</vt:lpstr>
      <vt:lpstr>Avaliação da Cavala (Decapterus macarellus) em cabo verde</vt:lpstr>
      <vt:lpstr>Dados e definições:</vt:lpstr>
      <vt:lpstr>Modelos utilizados</vt:lpstr>
      <vt:lpstr>Estimativas iniciais</vt:lpstr>
      <vt:lpstr>Série base de captura</vt:lpstr>
      <vt:lpstr>História de vida</vt:lpstr>
      <vt:lpstr>Estimativas de r e Bt/k</vt:lpstr>
      <vt:lpstr>Visão geral das hipóteses (r e Bt/k)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Lourenço</dc:creator>
  <cp:lastModifiedBy>matheus Lourenço</cp:lastModifiedBy>
  <cp:revision>4</cp:revision>
  <dcterms:created xsi:type="dcterms:W3CDTF">2026-09-13T12:02:48Z</dcterms:created>
  <dcterms:modified xsi:type="dcterms:W3CDTF">2026-09-14T13:56:41Z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