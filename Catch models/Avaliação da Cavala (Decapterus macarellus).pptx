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3"/>
  </p:notesMasterIdLst>
  <p:handoutMasterIdLst>
    <p:handoutMasterId r:id="rId34"/>
  </p:handoutMasterIdLst>
  <p:sldIdLst>
    <p:sldId id="325" r:id="rId5"/>
    <p:sldId id="338" r:id="rId6"/>
    <p:sldId id="345" r:id="rId7"/>
    <p:sldId id="339" r:id="rId8"/>
    <p:sldId id="340" r:id="rId9"/>
    <p:sldId id="343" r:id="rId10"/>
    <p:sldId id="342" r:id="rId11"/>
    <p:sldId id="341" r:id="rId12"/>
    <p:sldId id="346" r:id="rId13"/>
    <p:sldId id="347" r:id="rId14"/>
    <p:sldId id="348" r:id="rId15"/>
    <p:sldId id="351" r:id="rId16"/>
    <p:sldId id="352" r:id="rId17"/>
    <p:sldId id="349" r:id="rId18"/>
    <p:sldId id="350" r:id="rId19"/>
    <p:sldId id="353" r:id="rId20"/>
    <p:sldId id="326" r:id="rId21"/>
    <p:sldId id="327" r:id="rId22"/>
    <p:sldId id="328" r:id="rId23"/>
    <p:sldId id="329" r:id="rId24"/>
    <p:sldId id="330" r:id="rId25"/>
    <p:sldId id="331" r:id="rId26"/>
    <p:sldId id="332" r:id="rId27"/>
    <p:sldId id="333" r:id="rId28"/>
    <p:sldId id="334" r:id="rId29"/>
    <p:sldId id="335" r:id="rId30"/>
    <p:sldId id="336" r:id="rId31"/>
    <p:sldId id="33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85135"/>
    <a:srgbClr val="BDA07D"/>
    <a:srgbClr val="F5F9F9"/>
    <a:srgbClr val="627272"/>
    <a:srgbClr val="93A5A8"/>
    <a:srgbClr val="3E709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7292A2E-F333-43FB-9621-5CBBE7FDCDCB}">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38" autoAdjust="0"/>
  </p:normalViewPr>
  <p:slideViewPr>
    <p:cSldViewPr snapToGrid="0">
      <p:cViewPr varScale="1">
        <p:scale>
          <a:sx n="105" d="100"/>
          <a:sy n="105" d="100"/>
        </p:scale>
        <p:origin x="834" y="11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1" qsCatId="simple" csTypeId="urn:microsoft.com/office/officeart/2005/8/colors/accent2_2#1" csCatId="accent2" phldr="1"/>
      <dgm:spPr/>
      <dgm:t>
        <a:bodyPr/>
        <a:lstStyle/>
        <a:p>
          <a:endParaRPr lang="en-US"/>
        </a:p>
      </dgm:t>
    </dgm:pt>
    <dgm:pt modelId="{A8C03FBB-4A75-4460-AEA6-DEAEB9C61496}">
      <dgm:prSet phldrT="[Text]" phldr="0"/>
      <dgm:spPr/>
      <dgm:t>
        <a:bodyPr/>
        <a:lstStyle/>
        <a:p>
          <a:pPr>
            <a:defRPr b="1"/>
          </a:pPr>
          <a:r>
            <a:rPr lang="en-US" dirty="0">
              <a:latin typeface="+mn-lt"/>
            </a:rPr>
            <a:t>Q3</a:t>
          </a:r>
        </a:p>
      </dgm:t>
    </dgm:pt>
    <dgm:pt modelId="{4E972F7F-4B1B-47AA-A25B-1FFC561F1C76}" type="parTrans" cxnId="{D3D81948-D963-4D1E-AE16-9705EAF510FC}">
      <dgm:prSet/>
      <dgm:spPr/>
      <dgm:t>
        <a:bodyPr/>
        <a:lstStyle/>
        <a:p>
          <a:endParaRPr lang="en-US"/>
        </a:p>
      </dgm:t>
    </dgm:pt>
    <dgm:pt modelId="{67361508-930A-4A23-8CFC-BB56DA645C3C}" type="sibTrans" cxnId="{D3D81948-D963-4D1E-AE16-9705EAF510FC}">
      <dgm:prSet/>
      <dgm:spPr/>
      <dgm:t>
        <a:bodyPr/>
        <a:lstStyle/>
        <a:p>
          <a:endParaRPr lang="en-US"/>
        </a:p>
      </dgm:t>
    </dgm:pt>
    <dgm:pt modelId="{5E71F362-34DF-4EEC-92A3-0EFE450E05E4}">
      <dgm:prSet phldrT="[Text]" phldr="0"/>
      <dgm:spPr/>
      <dgm:t>
        <a:bodyPr/>
        <a:lstStyle/>
        <a:p>
          <a:pPr algn="ctr"/>
          <a:r>
            <a:rPr lang="en-US" dirty="0">
              <a:latin typeface="+mn-lt"/>
            </a:rPr>
            <a:t>MARKET RESEARCH</a:t>
          </a:r>
        </a:p>
      </dgm:t>
    </dgm:pt>
    <dgm:pt modelId="{8E5EE4D1-908E-455C-B8B3-281AD42DEC9A}" type="parTrans" cxnId="{B99CA6C9-28D1-4DDB-B8EC-AED73AD115CA}">
      <dgm:prSet/>
      <dgm:spPr/>
      <dgm:t>
        <a:bodyPr/>
        <a:lstStyle/>
        <a:p>
          <a:endParaRPr lang="en-US"/>
        </a:p>
      </dgm:t>
    </dgm:pt>
    <dgm:pt modelId="{B208B24A-E9FD-40A9-B764-FB7C2B7ED8B9}" type="sibTrans" cxnId="{B99CA6C9-28D1-4DDB-B8EC-AED73AD115CA}">
      <dgm:prSet/>
      <dgm:spPr/>
      <dgm:t>
        <a:bodyPr/>
        <a:lstStyle/>
        <a:p>
          <a:endParaRPr lang="en-US"/>
        </a:p>
      </dgm:t>
    </dgm:pt>
    <dgm:pt modelId="{91969DED-4CB8-4A14-A50B-3F7B848E46B5}">
      <dgm:prSet phldrT="[Text]" phldr="0"/>
      <dgm:spPr/>
      <dgm:t>
        <a:bodyPr/>
        <a:lstStyle/>
        <a:p>
          <a:pPr>
            <a:defRPr b="1"/>
          </a:pPr>
          <a:r>
            <a:rPr lang="en-US" dirty="0">
              <a:latin typeface="+mn-lt"/>
            </a:rPr>
            <a:t>Q4</a:t>
          </a:r>
        </a:p>
      </dgm:t>
    </dgm:pt>
    <dgm:pt modelId="{441CD73D-85E1-42A6-BCF8-362A3247E2F3}" type="parTrans" cxnId="{537F2ED0-8BD0-4AD5-B60D-89B660EDA1AC}">
      <dgm:prSet/>
      <dgm:spPr/>
      <dgm:t>
        <a:bodyPr/>
        <a:lstStyle/>
        <a:p>
          <a:endParaRPr lang="en-US"/>
        </a:p>
      </dgm:t>
    </dgm:pt>
    <dgm:pt modelId="{81CA8AA2-C0C3-4381-BA8B-413EDD578B83}" type="sibTrans" cxnId="{537F2ED0-8BD0-4AD5-B60D-89B660EDA1AC}">
      <dgm:prSet/>
      <dgm:spPr/>
      <dgm:t>
        <a:bodyPr/>
        <a:lstStyle/>
        <a:p>
          <a:endParaRPr lang="en-US"/>
        </a:p>
      </dgm:t>
    </dgm:pt>
    <dgm:pt modelId="{8A04F340-E8E1-4146-9905-E7ADCAEAABD7}">
      <dgm:prSet phldrT="[Text]" phldr="0"/>
      <dgm:spPr/>
      <dgm:t>
        <a:bodyPr/>
        <a:lstStyle/>
        <a:p>
          <a:pPr algn="ctr"/>
          <a:r>
            <a:rPr lang="en-US" dirty="0">
              <a:latin typeface="+mn-lt"/>
            </a:rPr>
            <a:t>PRODUCT DEVELOPMENT</a:t>
          </a:r>
        </a:p>
      </dgm:t>
    </dgm:pt>
    <dgm:pt modelId="{4EBD5EC2-45ED-4ED6-8376-97D155A911AE}" type="parTrans" cxnId="{E636BFFB-0404-4D4B-B3F0-C64FDFD9DDEF}">
      <dgm:prSet/>
      <dgm:spPr/>
      <dgm:t>
        <a:bodyPr/>
        <a:lstStyle/>
        <a:p>
          <a:endParaRPr lang="en-US"/>
        </a:p>
      </dgm:t>
    </dgm:pt>
    <dgm:pt modelId="{F9CD2A04-6A34-4104-A971-391788B88F55}" type="sibTrans" cxnId="{E636BFFB-0404-4D4B-B3F0-C64FDFD9DDEF}">
      <dgm:prSet/>
      <dgm:spPr/>
      <dgm:t>
        <a:bodyPr/>
        <a:lstStyle/>
        <a:p>
          <a:endParaRPr lang="en-US"/>
        </a:p>
      </dgm:t>
    </dgm:pt>
    <dgm:pt modelId="{3CC73758-10C1-47F8-AFA7-1A986D4DDD60}">
      <dgm:prSet phldrT="[Text]" phldr="0"/>
      <dgm:spPr/>
      <dgm:t>
        <a:bodyPr/>
        <a:lstStyle/>
        <a:p>
          <a:pPr>
            <a:defRPr b="1"/>
          </a:pPr>
          <a:r>
            <a:rPr lang="en-US" dirty="0">
              <a:latin typeface="+mn-lt"/>
            </a:rPr>
            <a:t>Q1</a:t>
          </a:r>
        </a:p>
      </dgm:t>
    </dgm:pt>
    <dgm:pt modelId="{FF6AE4B6-4A2F-49EE-9316-9AF55E77838B}" type="parTrans" cxnId="{4A69F85D-5C15-48FD-893A-B3050E1BADEB}">
      <dgm:prSet/>
      <dgm:spPr/>
      <dgm:t>
        <a:bodyPr/>
        <a:lstStyle/>
        <a:p>
          <a:endParaRPr lang="en-US"/>
        </a:p>
      </dgm:t>
    </dgm:pt>
    <dgm:pt modelId="{D8170BBA-6035-4773-8431-FEDD687647FF}" type="sibTrans" cxnId="{4A69F85D-5C15-48FD-893A-B3050E1BADEB}">
      <dgm:prSet/>
      <dgm:spPr/>
      <dgm:t>
        <a:bodyPr/>
        <a:lstStyle/>
        <a:p>
          <a:endParaRPr lang="en-US"/>
        </a:p>
      </dgm:t>
    </dgm:pt>
    <dgm:pt modelId="{FD9CA14A-483C-4869-B0C1-7C5FB7EEDBCC}">
      <dgm:prSet phldrT="[Text]" phldr="0"/>
      <dgm:spPr/>
      <dgm:t>
        <a:bodyPr/>
        <a:lstStyle/>
        <a:p>
          <a:pPr algn="ctr"/>
          <a:r>
            <a:rPr lang="en-US" dirty="0">
              <a:latin typeface="+mn-lt"/>
            </a:rPr>
            <a:t> USER TESTING</a:t>
          </a:r>
        </a:p>
      </dgm:t>
    </dgm:pt>
    <dgm:pt modelId="{8182A92F-45BA-4CD1-8E43-0B0810A50FEB}" type="parTrans" cxnId="{5EDA943F-300F-408A-A52E-3D5140FD5C22}">
      <dgm:prSet/>
      <dgm:spPr/>
      <dgm:t>
        <a:bodyPr/>
        <a:lstStyle/>
        <a:p>
          <a:endParaRPr lang="en-US"/>
        </a:p>
      </dgm:t>
    </dgm:pt>
    <dgm:pt modelId="{914BB93C-EA8A-4B5B-8F06-30DA7C7F4B7B}" type="sibTrans" cxnId="{5EDA943F-300F-408A-A52E-3D5140FD5C22}">
      <dgm:prSet/>
      <dgm:spPr/>
      <dgm:t>
        <a:bodyPr/>
        <a:lstStyle/>
        <a:p>
          <a:endParaRPr lang="en-US"/>
        </a:p>
      </dgm:t>
    </dgm:pt>
    <dgm:pt modelId="{D2FE027B-4161-41E1-B4D4-02AECB2E3FA0}">
      <dgm:prSet phldrT="[Text]" phldr="0"/>
      <dgm:spPr/>
      <dgm:t>
        <a:bodyPr/>
        <a:lstStyle/>
        <a:p>
          <a:pPr>
            <a:defRPr b="1"/>
          </a:pPr>
          <a:r>
            <a:rPr lang="en-US" dirty="0"/>
            <a:t>Q2</a:t>
          </a:r>
        </a:p>
      </dgm:t>
    </dgm:pt>
    <dgm:pt modelId="{88680CFE-3CE0-4842-B3D3-716D3B671238}" type="parTrans" cxnId="{4F4F82A2-02F1-492B-96C1-46C070BEFCE3}">
      <dgm:prSet/>
      <dgm:spPr/>
      <dgm:t>
        <a:bodyPr/>
        <a:lstStyle/>
        <a:p>
          <a:endParaRPr lang="en-US"/>
        </a:p>
      </dgm:t>
    </dgm:pt>
    <dgm:pt modelId="{4D59E06B-629C-40B5-96D3-423B7A56C945}" type="sibTrans" cxnId="{4F4F82A2-02F1-492B-96C1-46C070BEFCE3}">
      <dgm:prSet/>
      <dgm:spPr/>
      <dgm:t>
        <a:bodyPr/>
        <a:lstStyle/>
        <a:p>
          <a:endParaRPr lang="en-US"/>
        </a:p>
      </dgm:t>
    </dgm:pt>
    <dgm:pt modelId="{2BE415B7-7185-4956-8487-237B40BC0EE5}">
      <dgm:prSet phldrT="[Text]" phldr="0"/>
      <dgm:spPr/>
      <dgm:t>
        <a:bodyPr/>
        <a:lstStyle/>
        <a:p>
          <a:pPr algn="ctr"/>
          <a:r>
            <a:rPr lang="en-US" dirty="0"/>
            <a:t>PRODUCT LAUNCH</a:t>
          </a:r>
        </a:p>
      </dgm:t>
    </dgm:pt>
    <dgm:pt modelId="{A38E847E-0D1D-4F40-9A71-4D5999ADE08B}" type="parTrans" cxnId="{CB32A309-9CA9-4554-941D-519A91A9E733}">
      <dgm:prSet/>
      <dgm:spPr/>
      <dgm:t>
        <a:bodyPr/>
        <a:lstStyle/>
        <a:p>
          <a:endParaRPr lang="en-US"/>
        </a:p>
      </dgm:t>
    </dgm:pt>
    <dgm:pt modelId="{F0D1C61C-E3F2-49BA-A2D8-C04A81308E5D}" type="sibTrans" cxnId="{CB32A309-9CA9-4554-941D-519A91A9E733}">
      <dgm:prSet/>
      <dgm:spPr/>
      <dgm:t>
        <a:bodyPr/>
        <a:lstStyle/>
        <a:p>
          <a:endParaRPr lang="en-US"/>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2">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2">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74837"/>
          <a:ext cx="6383338"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41599" y="2013575"/>
          <a:ext cx="2048901" cy="4237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711200">
            <a:lnSpc>
              <a:spcPct val="90000"/>
            </a:lnSpc>
            <a:spcBef>
              <a:spcPct val="0"/>
            </a:spcBef>
            <a:spcAft>
              <a:spcPct val="35000"/>
            </a:spcAft>
            <a:buNone/>
            <a:defRPr b="1"/>
          </a:pPr>
          <a:r>
            <a:rPr lang="en-US" sz="1600" kern="1200" dirty="0">
              <a:latin typeface="+mn-lt"/>
            </a:rPr>
            <a:t>Q3</a:t>
          </a:r>
        </a:p>
      </dsp:txBody>
      <dsp:txXfrm>
        <a:off x="141599" y="2013575"/>
        <a:ext cx="2048901" cy="423713"/>
      </dsp:txXfrm>
    </dsp:sp>
    <dsp:sp modelId="{BA29120C-7C6B-4F62-9079-4AD528BC0744}">
      <dsp:nvSpPr>
        <dsp:cNvPr id="0" name=""/>
        <dsp:cNvSpPr/>
      </dsp:nvSpPr>
      <dsp:spPr>
        <a:xfrm>
          <a:off x="1901" y="523079"/>
          <a:ext cx="2328297" cy="639319"/>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mn-lt"/>
            </a:rPr>
            <a:t>MARKET RESEARCH</a:t>
          </a:r>
        </a:p>
      </dsp:txBody>
      <dsp:txXfrm>
        <a:off x="33110" y="554288"/>
        <a:ext cx="2265879" cy="576901"/>
      </dsp:txXfrm>
    </dsp:sp>
    <dsp:sp modelId="{A95DB80B-444A-4D69-B205-3A801BB8524A}">
      <dsp:nvSpPr>
        <dsp:cNvPr id="0" name=""/>
        <dsp:cNvSpPr/>
      </dsp:nvSpPr>
      <dsp:spPr>
        <a:xfrm>
          <a:off x="1166050" y="1162399"/>
          <a:ext cx="0" cy="712438"/>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492011" y="1312386"/>
          <a:ext cx="2048901" cy="4237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711200">
            <a:lnSpc>
              <a:spcPct val="90000"/>
            </a:lnSpc>
            <a:spcBef>
              <a:spcPct val="0"/>
            </a:spcBef>
            <a:spcAft>
              <a:spcPct val="35000"/>
            </a:spcAft>
            <a:buNone/>
            <a:defRPr b="1"/>
          </a:pPr>
          <a:r>
            <a:rPr lang="en-US" sz="1600" kern="1200" dirty="0">
              <a:latin typeface="+mn-lt"/>
            </a:rPr>
            <a:t>Q4</a:t>
          </a:r>
        </a:p>
      </dsp:txBody>
      <dsp:txXfrm>
        <a:off x="1492011" y="1312386"/>
        <a:ext cx="2048901" cy="423713"/>
      </dsp:txXfrm>
    </dsp:sp>
    <dsp:sp modelId="{FA19A0AA-8B0B-4AA8-A80D-08CFFDD3F112}">
      <dsp:nvSpPr>
        <dsp:cNvPr id="0" name=""/>
        <dsp:cNvSpPr/>
      </dsp:nvSpPr>
      <dsp:spPr>
        <a:xfrm>
          <a:off x="1137927" y="1846714"/>
          <a:ext cx="56245" cy="5624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352313" y="2587275"/>
          <a:ext cx="2328297" cy="639319"/>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mn-lt"/>
            </a:rPr>
            <a:t>PRODUCT DEVELOPMENT</a:t>
          </a:r>
        </a:p>
      </dsp:txBody>
      <dsp:txXfrm>
        <a:off x="1383522" y="2618484"/>
        <a:ext cx="2265879" cy="576901"/>
      </dsp:txXfrm>
    </dsp:sp>
    <dsp:sp modelId="{DBD74D6B-057A-432C-9067-BF618C19EB2A}">
      <dsp:nvSpPr>
        <dsp:cNvPr id="0" name=""/>
        <dsp:cNvSpPr/>
      </dsp:nvSpPr>
      <dsp:spPr>
        <a:xfrm>
          <a:off x="2516462" y="1874837"/>
          <a:ext cx="0" cy="712438"/>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2842424" y="2013575"/>
          <a:ext cx="2048901" cy="4237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711200">
            <a:lnSpc>
              <a:spcPct val="90000"/>
            </a:lnSpc>
            <a:spcBef>
              <a:spcPct val="0"/>
            </a:spcBef>
            <a:spcAft>
              <a:spcPct val="35000"/>
            </a:spcAft>
            <a:buNone/>
            <a:defRPr b="1"/>
          </a:pPr>
          <a:r>
            <a:rPr lang="en-US" sz="1600" kern="1200" dirty="0">
              <a:latin typeface="+mn-lt"/>
            </a:rPr>
            <a:t>Q1</a:t>
          </a:r>
        </a:p>
      </dsp:txBody>
      <dsp:txXfrm>
        <a:off x="2842424" y="2013575"/>
        <a:ext cx="2048901" cy="423713"/>
      </dsp:txXfrm>
    </dsp:sp>
    <dsp:sp modelId="{0F979253-FD39-4920-BFCA-78C564B167EA}">
      <dsp:nvSpPr>
        <dsp:cNvPr id="0" name=""/>
        <dsp:cNvSpPr/>
      </dsp:nvSpPr>
      <dsp:spPr>
        <a:xfrm>
          <a:off x="2488340" y="1846714"/>
          <a:ext cx="56245" cy="5624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2702726" y="523079"/>
          <a:ext cx="2328297" cy="639319"/>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mn-lt"/>
            </a:rPr>
            <a:t> USER TESTING</a:t>
          </a:r>
        </a:p>
      </dsp:txBody>
      <dsp:txXfrm>
        <a:off x="2733935" y="554288"/>
        <a:ext cx="2265879" cy="576901"/>
      </dsp:txXfrm>
    </dsp:sp>
    <dsp:sp modelId="{DCAE8A46-752C-4E82-84CE-E790E1F2918E}">
      <dsp:nvSpPr>
        <dsp:cNvPr id="0" name=""/>
        <dsp:cNvSpPr/>
      </dsp:nvSpPr>
      <dsp:spPr>
        <a:xfrm>
          <a:off x="3866875" y="1162399"/>
          <a:ext cx="0" cy="712438"/>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4192836" y="1312386"/>
          <a:ext cx="2048901" cy="4237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711200">
            <a:lnSpc>
              <a:spcPct val="90000"/>
            </a:lnSpc>
            <a:spcBef>
              <a:spcPct val="0"/>
            </a:spcBef>
            <a:spcAft>
              <a:spcPct val="35000"/>
            </a:spcAft>
            <a:buNone/>
            <a:defRPr b="1"/>
          </a:pPr>
          <a:r>
            <a:rPr lang="en-US" sz="1600" kern="1200" dirty="0"/>
            <a:t>Q2</a:t>
          </a:r>
        </a:p>
      </dsp:txBody>
      <dsp:txXfrm>
        <a:off x="4192836" y="1312386"/>
        <a:ext cx="2048901" cy="423713"/>
      </dsp:txXfrm>
    </dsp:sp>
    <dsp:sp modelId="{B6459BF8-D2C3-4018-9C28-98667DC203F4}">
      <dsp:nvSpPr>
        <dsp:cNvPr id="0" name=""/>
        <dsp:cNvSpPr/>
      </dsp:nvSpPr>
      <dsp:spPr>
        <a:xfrm>
          <a:off x="3838752" y="1846714"/>
          <a:ext cx="56245" cy="5624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4053139" y="2587275"/>
          <a:ext cx="2328297" cy="639319"/>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ctr" defTabSz="622300">
            <a:lnSpc>
              <a:spcPct val="90000"/>
            </a:lnSpc>
            <a:spcBef>
              <a:spcPct val="0"/>
            </a:spcBef>
            <a:spcAft>
              <a:spcPct val="35000"/>
            </a:spcAft>
            <a:buNone/>
          </a:pPr>
          <a:r>
            <a:rPr lang="en-US" sz="1400" kern="1200" dirty="0"/>
            <a:t>PRODUCT LAUNCH</a:t>
          </a:r>
        </a:p>
      </dsp:txBody>
      <dsp:txXfrm>
        <a:off x="4084348" y="2618484"/>
        <a:ext cx="2265879" cy="576901"/>
      </dsp:txXfrm>
    </dsp:sp>
    <dsp:sp modelId="{086FB9B1-82B2-4197-8B33-6E7FF94F8D2E}">
      <dsp:nvSpPr>
        <dsp:cNvPr id="0" name=""/>
        <dsp:cNvSpPr/>
      </dsp:nvSpPr>
      <dsp:spPr>
        <a:xfrm>
          <a:off x="5217287" y="1874837"/>
          <a:ext cx="0" cy="712438"/>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5189165" y="1846714"/>
          <a:ext cx="56245" cy="5624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AF03AE-1CC2-475F-B909-50970E9699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B63C45E-73BA-4C86-A24F-A5006B4E7B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37A4CE-17BB-4BB2-AC7B-97495293E2AC}" type="datetimeFigureOut">
              <a:rPr lang="en-US" smtClean="0"/>
              <a:t>9/13/2026</a:t>
            </a:fld>
            <a:endParaRPr lang="en-US" dirty="0"/>
          </a:p>
        </p:txBody>
      </p:sp>
      <p:sp>
        <p:nvSpPr>
          <p:cNvPr id="4" name="Footer Placeholder 3">
            <a:extLst>
              <a:ext uri="{FF2B5EF4-FFF2-40B4-BE49-F238E27FC236}">
                <a16:creationId xmlns:a16="http://schemas.microsoft.com/office/drawing/2014/main" id="{D71DB874-DF6A-4AFA-8055-4AD7EE4CE3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677078F-04CB-4625-B536-5BCAA2EC6C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0EF92D-82DD-4142-BCE8-036B91487D2E}" type="slidenum">
              <a:rPr lang="en-US" smtClean="0"/>
              <a:t>‹nº›</a:t>
            </a:fld>
            <a:endParaRPr lang="en-US" dirty="0"/>
          </a:p>
        </p:txBody>
      </p:sp>
    </p:spTree>
    <p:extLst>
      <p:ext uri="{BB962C8B-B14F-4D97-AF65-F5344CB8AC3E}">
        <p14:creationId xmlns:p14="http://schemas.microsoft.com/office/powerpoint/2010/main" val="757070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6C8F5-2FDA-4718-81AA-24F4816BBD56}" type="datetimeFigureOut">
              <a:rPr lang="en-US" smtClean="0"/>
              <a:t>9/13/2026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8EC616-C518-4358-9496-6C33B2F5FA56}" type="slidenum">
              <a:rPr lang="en-US" smtClean="0"/>
              <a:t>‹nº›</a:t>
            </a:fld>
            <a:endParaRPr lang="en-US" dirty="0"/>
          </a:p>
        </p:txBody>
      </p:sp>
    </p:spTree>
    <p:extLst>
      <p:ext uri="{BB962C8B-B14F-4D97-AF65-F5344CB8AC3E}">
        <p14:creationId xmlns:p14="http://schemas.microsoft.com/office/powerpoint/2010/main" val="173232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1A476F7-D5C8-1CEC-9F4A-86A24C0BF39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5455" t="5126"/>
          <a:stretch/>
        </p:blipFill>
        <p:spPr>
          <a:xfrm>
            <a:off x="0" y="0"/>
            <a:ext cx="5423337" cy="5356522"/>
          </a:xfrm>
          <a:prstGeom prst="rect">
            <a:avLst/>
          </a:prstGeom>
        </p:spPr>
      </p:pic>
      <p:pic>
        <p:nvPicPr>
          <p:cNvPr id="3" name="Graphic 2">
            <a:extLst>
              <a:ext uri="{FF2B5EF4-FFF2-40B4-BE49-F238E27FC236}">
                <a16:creationId xmlns:a16="http://schemas.microsoft.com/office/drawing/2014/main" id="{D0CBB0B7-F53E-97B4-C0F5-2D1842F1D23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214735" y="726953"/>
            <a:ext cx="3069021" cy="2381688"/>
          </a:xfrm>
          <a:prstGeom prst="rect">
            <a:avLst/>
          </a:prstGeom>
        </p:spPr>
      </p:pic>
      <p:sp>
        <p:nvSpPr>
          <p:cNvPr id="4" name="Rectangle 3">
            <a:extLst>
              <a:ext uri="{FF2B5EF4-FFF2-40B4-BE49-F238E27FC236}">
                <a16:creationId xmlns:a16="http://schemas.microsoft.com/office/drawing/2014/main" id="{EABE1252-9BC4-8186-499A-2A7107C2945E}"/>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4873752"/>
          </a:xfrm>
          <a:prstGeom prst="rect">
            <a:avLst/>
          </a:prstGeom>
        </p:spPr>
        <p:txBody>
          <a:bodyPr anchor="b"/>
          <a:lstStyle>
            <a:lvl1pPr>
              <a:lnSpc>
                <a:spcPct val="100000"/>
              </a:lnSpc>
              <a:defRPr sz="50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5568696"/>
            <a:ext cx="5276088" cy="859536"/>
          </a:xfrm>
          <a:prstGeom prst="rect">
            <a:avLst/>
          </a:prstGeom>
        </p:spPr>
        <p:txBody>
          <a:bodyPr anchor="t"/>
          <a:lstStyle>
            <a:lvl1pPr marL="0" indent="0">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48124"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2779708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FED2A3BD-B73E-1BD7-6B8B-22C9FB124839}"/>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 r="27085" b="-104"/>
          <a:stretch/>
        </p:blipFill>
        <p:spPr>
          <a:xfrm rot="10800000">
            <a:off x="0" y="671161"/>
            <a:ext cx="3089740" cy="4876799"/>
          </a:xfrm>
          <a:prstGeom prst="rect">
            <a:avLst/>
          </a:prstGeom>
        </p:spPr>
      </p:pic>
      <p:sp>
        <p:nvSpPr>
          <p:cNvPr id="8" name="Rectangle 7">
            <a:extLst>
              <a:ext uri="{FF2B5EF4-FFF2-40B4-BE49-F238E27FC236}">
                <a16:creationId xmlns:a16="http://schemas.microsoft.com/office/drawing/2014/main" id="{0B3FCFB4-857F-ED0B-D469-F2A392F06BE2}"/>
              </a:ext>
              <a:ext uri="{C183D7F6-B498-43B3-948B-1728B52AA6E4}">
                <adec:decorative xmlns:adec="http://schemas.microsoft.com/office/drawing/2017/decorative" val="1"/>
              </a:ext>
            </a:extLst>
          </p:cNvPr>
          <p:cNvSpPr/>
          <p:nvPr userDrawn="1"/>
        </p:nvSpPr>
        <p:spPr>
          <a:xfrm>
            <a:off x="10142482" y="0"/>
            <a:ext cx="204951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E0604BC-34A9-95A0-8560-88E7547176F4}"/>
              </a:ext>
              <a:ext uri="{C183D7F6-B498-43B3-948B-1728B52AA6E4}">
                <adec:decorative xmlns:adec="http://schemas.microsoft.com/office/drawing/2017/decorative" val="1"/>
              </a:ext>
            </a:extLst>
          </p:cNvPr>
          <p:cNvSpPr/>
          <p:nvPr userDrawn="1"/>
        </p:nvSpPr>
        <p:spPr>
          <a:xfrm flipH="1">
            <a:off x="9911255"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FF2F08ED-0715-2E8A-476E-A005A7D75B5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5400000">
            <a:off x="9013145" y="4934929"/>
            <a:ext cx="1841938" cy="968936"/>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68096" y="667512"/>
            <a:ext cx="3291840" cy="5513832"/>
          </a:xfrm>
          <a:solidFill>
            <a:schemeClr val="bg1">
              <a:lumMod val="95000"/>
            </a:schemeClr>
          </a:solidFill>
        </p:spPr>
        <p:txBody>
          <a:bodyPr/>
          <a:lstStyle/>
          <a:p>
            <a:r>
              <a:rPr lang="pt-BR"/>
              <a:t>Clique para editar o título Mestre</a:t>
            </a:r>
            <a:endParaRPr lang="en-US"/>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239512" y="667512"/>
            <a:ext cx="4105656" cy="5568696"/>
          </a:xfrm>
          <a:solidFill>
            <a:schemeClr val="bg1">
              <a:lumMod val="95000"/>
            </a:schemeClr>
          </a:solidFill>
        </p:spPr>
        <p:txBody>
          <a:bodyPr anchor="ctr" anchorCtr="0"/>
          <a:lstStyle>
            <a:lvl1pPr>
              <a:lnSpc>
                <a:spcPct val="150000"/>
              </a:lnSpc>
              <a:defRPr/>
            </a:lvl1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‹nº›</a:t>
            </a:fld>
            <a:endParaRPr lang="en-US" dirty="0"/>
          </a:p>
        </p:txBody>
      </p:sp>
    </p:spTree>
    <p:extLst>
      <p:ext uri="{BB962C8B-B14F-4D97-AF65-F5344CB8AC3E}">
        <p14:creationId xmlns:p14="http://schemas.microsoft.com/office/powerpoint/2010/main" val="1361931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image lef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48277F-DB00-5149-6533-E8AEF0BAD4D5}"/>
              </a:ext>
              <a:ext uri="{C183D7F6-B498-43B3-948B-1728B52AA6E4}">
                <adec:decorative xmlns:adec="http://schemas.microsoft.com/office/drawing/2017/decorative" val="1"/>
              </a:ext>
            </a:extLst>
          </p:cNvPr>
          <p:cNvSpPr/>
          <p:nvPr userDrawn="1"/>
        </p:nvSpPr>
        <p:spPr>
          <a:xfrm>
            <a:off x="3573518"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8067A69A-84EE-0E71-D053-F462EBCC8E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63520"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6099048" y="658368"/>
            <a:ext cx="5486400" cy="3621024"/>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30936" y="576072"/>
            <a:ext cx="4023360" cy="5495544"/>
          </a:xfrm>
          <a:prstGeom prst="rect">
            <a:avLst/>
          </a:prstGeom>
        </p:spPr>
        <p:txBody>
          <a:bodyPr/>
          <a:lstStyle>
            <a:lvl1pPr marL="0" indent="0" algn="ctr">
              <a:buNone/>
              <a:defRPr spc="400" baseline="0"/>
            </a:lvl1pPr>
          </a:lstStyle>
          <a:p>
            <a:r>
              <a:rPr lang="en-US" dirty="0"/>
              <a:t>Click to add photo</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6099048" y="4553712"/>
            <a:ext cx="5486400" cy="1005840"/>
          </a:xfrm>
          <a:prstGeom prst="rect">
            <a:avLst/>
          </a:prstGeom>
          <a:solidFill>
            <a:schemeClr val="bg1">
              <a:lumMod val="9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Tree>
    <p:extLst>
      <p:ext uri="{BB962C8B-B14F-4D97-AF65-F5344CB8AC3E}">
        <p14:creationId xmlns:p14="http://schemas.microsoft.com/office/powerpoint/2010/main" val="3451331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uas Partes de Conteúdo">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17B23C3-2F98-4465-21EA-A49296DA1F6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 r="27085" b="-104"/>
          <a:stretch/>
        </p:blipFill>
        <p:spPr>
          <a:xfrm rot="5400000">
            <a:off x="7746274" y="2898378"/>
            <a:ext cx="3089740" cy="4876799"/>
          </a:xfrm>
          <a:prstGeom prst="rect">
            <a:avLst/>
          </a:prstGeom>
        </p:spPr>
      </p:pic>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149840" cy="1545336"/>
          </a:xfrm>
          <a:solidFill>
            <a:schemeClr val="bg1">
              <a:lumMod val="95000"/>
            </a:schemeClr>
          </a:solidFill>
        </p:spPr>
        <p:txBody>
          <a:bodyPr/>
          <a:lstStyle>
            <a:lvl1pPr>
              <a:defRPr baseline="0"/>
            </a:lvl1pPr>
          </a:lstStyle>
          <a:p>
            <a:r>
              <a:rPr lang="pt-BR"/>
              <a:t>Clique para editar o título Mestre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4370832" cy="3776472"/>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6099048" y="2112264"/>
            <a:ext cx="4370832"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‹nº›</a:t>
            </a:fld>
            <a:endParaRPr lang="en-US" dirty="0"/>
          </a:p>
        </p:txBody>
      </p:sp>
    </p:spTree>
    <p:extLst>
      <p:ext uri="{BB962C8B-B14F-4D97-AF65-F5344CB8AC3E}">
        <p14:creationId xmlns:p14="http://schemas.microsoft.com/office/powerpoint/2010/main" val="3063786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nd image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7C8AFE-E640-9C6A-F20C-CDE1D4EF5745}"/>
              </a:ext>
              <a:ext uri="{C183D7F6-B498-43B3-948B-1728B52AA6E4}">
                <adec:decorative xmlns:adec="http://schemas.microsoft.com/office/drawing/2017/decorative" val="1"/>
              </a:ext>
            </a:extLst>
          </p:cNvPr>
          <p:cNvSpPr/>
          <p:nvPr userDrawn="1"/>
        </p:nvSpPr>
        <p:spPr>
          <a:xfrm>
            <a:off x="9627476"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31CF2607-B5C7-9992-C51D-DD5E7FC5FB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279827" y="3157140"/>
            <a:ext cx="2438400" cy="2070100"/>
          </a:xfrm>
          <a:prstGeom prst="rect">
            <a:avLst/>
          </a:prstGeom>
        </p:spPr>
      </p:pic>
      <p:pic>
        <p:nvPicPr>
          <p:cNvPr id="4" name="Graphic 3">
            <a:extLst>
              <a:ext uri="{FF2B5EF4-FFF2-40B4-BE49-F238E27FC236}">
                <a16:creationId xmlns:a16="http://schemas.microsoft.com/office/drawing/2014/main" id="{6D2F83CD-8345-462A-4412-5A54CB1FDDE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8916"/>
          <a:stretch/>
        </p:blipFill>
        <p:spPr>
          <a:xfrm>
            <a:off x="0" y="3950466"/>
            <a:ext cx="3005804" cy="2224362"/>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85800"/>
            <a:ext cx="5486400" cy="3383280"/>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343400"/>
            <a:ext cx="5486400" cy="1005840"/>
          </a:xfrm>
          <a:prstGeom prst="rect">
            <a:avLst/>
          </a:prstGeom>
          <a:solidFill>
            <a:schemeClr val="tx1">
              <a:alpha val="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684264" y="576072"/>
            <a:ext cx="4023360" cy="5495544"/>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1306737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pt-BR"/>
              <a:t>Clique para editar o título Mestre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3419856" cy="3776472"/>
          </a:xfrm>
          <a:solidFill>
            <a:schemeClr val="tx1">
              <a:alpha val="5000"/>
            </a:schemeClr>
          </a:solidFill>
        </p:spPr>
        <p:txBody>
          <a:bodyPr rIns="45720" anchor="t" anchorCtr="0">
            <a:normAutofit/>
          </a:bodyPr>
          <a:lstStyle>
            <a:lvl1pPr>
              <a:spcAft>
                <a:spcPts val="1800"/>
              </a:spcAft>
              <a:defRPr sz="1800"/>
            </a:lvl1pPr>
            <a:lvl2pPr>
              <a:defRPr sz="1600"/>
            </a:lvl2pPr>
            <a:lvl3pPr>
              <a:defRPr sz="1400"/>
            </a:lvl3pPr>
            <a:lvl4pPr>
              <a:defRPr sz="1200"/>
            </a:lvl4pPr>
            <a:lvl5pPr>
              <a:defRPr sz="12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4864608" y="2093976"/>
            <a:ext cx="6382512" cy="3749040"/>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‹nº›</a:t>
            </a:fld>
            <a:endParaRPr lang="en-US" dirty="0"/>
          </a:p>
        </p:txBody>
      </p:sp>
      <p:pic>
        <p:nvPicPr>
          <p:cNvPr id="10" name="Graphic 9">
            <a:extLst>
              <a:ext uri="{FF2B5EF4-FFF2-40B4-BE49-F238E27FC236}">
                <a16:creationId xmlns:a16="http://schemas.microsoft.com/office/drawing/2014/main" id="{CB897DD0-4462-B31B-50A9-D399FD0F589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3529"/>
          <a:stretch/>
        </p:blipFill>
        <p:spPr>
          <a:xfrm>
            <a:off x="3815" y="4389845"/>
            <a:ext cx="5024198" cy="2463772"/>
          </a:xfrm>
          <a:prstGeom prst="rect">
            <a:avLst/>
          </a:prstGeom>
        </p:spPr>
      </p:pic>
    </p:spTree>
    <p:extLst>
      <p:ext uri="{BB962C8B-B14F-4D97-AF65-F5344CB8AC3E}">
        <p14:creationId xmlns:p14="http://schemas.microsoft.com/office/powerpoint/2010/main" val="3645425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5EA319-BD06-493B-D1CD-EC2AF739443B}"/>
              </a:ext>
              <a:ext uri="{C183D7F6-B498-43B3-948B-1728B52AA6E4}">
                <adec:decorative xmlns:adec="http://schemas.microsoft.com/office/drawing/2017/decorative" val="1"/>
              </a:ext>
            </a:extLst>
          </p:cNvPr>
          <p:cNvSpPr/>
          <p:nvPr userDrawn="1"/>
        </p:nvSpPr>
        <p:spPr>
          <a:xfrm>
            <a:off x="7547991" y="0"/>
            <a:ext cx="1703832"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8560446E-E817-5E2A-D76A-43A4168EF19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a:off x="7246669" y="4842646"/>
            <a:ext cx="1611949" cy="1853259"/>
          </a:xfrm>
          <a:prstGeom prst="rect">
            <a:avLst/>
          </a:prstGeom>
        </p:spPr>
      </p:pic>
      <p:sp>
        <p:nvSpPr>
          <p:cNvPr id="10" name="Title 1">
            <a:extLst>
              <a:ext uri="{FF2B5EF4-FFF2-40B4-BE49-F238E27FC236}">
                <a16:creationId xmlns:a16="http://schemas.microsoft.com/office/drawing/2014/main" id="{17DC846D-C40C-085A-6A57-EBD733E9C244}"/>
              </a:ext>
            </a:extLst>
          </p:cNvPr>
          <p:cNvSpPr>
            <a:spLocks noGrp="1"/>
          </p:cNvSpPr>
          <p:nvPr>
            <p:ph type="title"/>
          </p:nvPr>
        </p:nvSpPr>
        <p:spPr>
          <a:xfrm>
            <a:off x="777240" y="365760"/>
            <a:ext cx="6291072" cy="2670048"/>
          </a:xfrm>
          <a:solidFill>
            <a:schemeClr val="bg1">
              <a:lumMod val="95000"/>
            </a:schemeClr>
          </a:solidFill>
        </p:spPr>
        <p:txBody>
          <a:bodyPr/>
          <a:lstStyle>
            <a:lvl1pPr>
              <a:defRPr baseline="0"/>
            </a:lvl1pPr>
          </a:lstStyle>
          <a:p>
            <a:r>
              <a:rPr lang="pt-BR"/>
              <a:t>Clique para editar o título Mestre</a:t>
            </a:r>
            <a:endParaRPr lang="en-US" dirty="0"/>
          </a:p>
        </p:txBody>
      </p:sp>
      <p:sp>
        <p:nvSpPr>
          <p:cNvPr id="11" name="Content Placeholder 2">
            <a:extLst>
              <a:ext uri="{FF2B5EF4-FFF2-40B4-BE49-F238E27FC236}">
                <a16:creationId xmlns:a16="http://schemas.microsoft.com/office/drawing/2014/main" id="{0F5F674E-A7FF-FC97-AC6B-9E98247F633F}"/>
              </a:ext>
            </a:extLst>
          </p:cNvPr>
          <p:cNvSpPr>
            <a:spLocks noGrp="1"/>
          </p:cNvSpPr>
          <p:nvPr>
            <p:ph idx="1"/>
          </p:nvPr>
        </p:nvSpPr>
        <p:spPr>
          <a:xfrm>
            <a:off x="777240" y="3346704"/>
            <a:ext cx="6016752" cy="2670048"/>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9" name="Picture Placeholder 10">
            <a:extLst>
              <a:ext uri="{FF2B5EF4-FFF2-40B4-BE49-F238E27FC236}">
                <a16:creationId xmlns:a16="http://schemas.microsoft.com/office/drawing/2014/main" id="{F3752326-0FB4-41C5-2D91-5CBFDC2DAD85}"/>
              </a:ext>
            </a:extLst>
          </p:cNvPr>
          <p:cNvSpPr>
            <a:spLocks noGrp="1"/>
          </p:cNvSpPr>
          <p:nvPr>
            <p:ph type="pic" sz="quarter" idx="13" hasCustomPrompt="1"/>
          </p:nvPr>
        </p:nvSpPr>
        <p:spPr>
          <a:xfrm>
            <a:off x="7818120" y="950976"/>
            <a:ext cx="4050792" cy="4965192"/>
          </a:xfrm>
          <a:prstGeom prst="rect">
            <a:avLst/>
          </a:prstGeom>
        </p:spPr>
        <p:txBody>
          <a:bodyPr/>
          <a:lstStyle>
            <a:lvl1pPr marL="0" indent="0" algn="ctr">
              <a:buNone/>
              <a:defRPr spc="400" baseline="0"/>
            </a:lvl1pPr>
          </a:lstStyle>
          <a:p>
            <a:r>
              <a:rPr lang="en-US" dirty="0"/>
              <a:t>Click to add photo</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‹nº›</a:t>
            </a:fld>
            <a:endParaRPr lang="en-US" dirty="0"/>
          </a:p>
        </p:txBody>
      </p:sp>
    </p:spTree>
    <p:extLst>
      <p:ext uri="{BB962C8B-B14F-4D97-AF65-F5344CB8AC3E}">
        <p14:creationId xmlns:p14="http://schemas.microsoft.com/office/powerpoint/2010/main" val="4271592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14BC85D4-4139-2AAA-166E-6FBA095A8B1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5455" t="5126"/>
          <a:stretch/>
        </p:blipFill>
        <p:spPr>
          <a:xfrm>
            <a:off x="0" y="1729776"/>
            <a:ext cx="5423337" cy="5356522"/>
          </a:xfrm>
          <a:prstGeom prst="rect">
            <a:avLst/>
          </a:prstGeom>
        </p:spPr>
      </p:pic>
      <p:sp>
        <p:nvSpPr>
          <p:cNvPr id="13" name="Rectangle 12">
            <a:extLst>
              <a:ext uri="{FF2B5EF4-FFF2-40B4-BE49-F238E27FC236}">
                <a16:creationId xmlns:a16="http://schemas.microsoft.com/office/drawing/2014/main" id="{A931BC73-A262-809F-6027-25B33F16B5F3}"/>
              </a:ext>
              <a:ext uri="{C183D7F6-B498-43B3-948B-1728B52AA6E4}">
                <adec:decorative xmlns:adec="http://schemas.microsoft.com/office/drawing/2017/decorative" val="1"/>
              </a:ext>
            </a:extLst>
          </p:cNvPr>
          <p:cNvSpPr/>
          <p:nvPr userDrawn="1"/>
        </p:nvSpPr>
        <p:spPr>
          <a:xfrm>
            <a:off x="10941270" y="0"/>
            <a:ext cx="1250729"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FAEA2C9-0142-1847-0FE5-307C101C610D}"/>
              </a:ext>
              <a:ext uri="{C183D7F6-B498-43B3-948B-1728B52AA6E4}">
                <adec:decorative xmlns:adec="http://schemas.microsoft.com/office/drawing/2017/decorative" val="1"/>
              </a:ext>
            </a:extLst>
          </p:cNvPr>
          <p:cNvSpPr/>
          <p:nvPr userDrawn="1"/>
        </p:nvSpPr>
        <p:spPr>
          <a:xfrm flipH="1">
            <a:off x="10683241"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
            <a:extLst>
              <a:ext uri="{FF2B5EF4-FFF2-40B4-BE49-F238E27FC236}">
                <a16:creationId xmlns:a16="http://schemas.microsoft.com/office/drawing/2014/main" id="{6007DF4F-A4F8-98C7-5975-55CBED0DB375}"/>
              </a:ext>
            </a:extLst>
          </p:cNvPr>
          <p:cNvSpPr>
            <a:spLocks noGrp="1"/>
          </p:cNvSpPr>
          <p:nvPr>
            <p:ph type="title"/>
          </p:nvPr>
        </p:nvSpPr>
        <p:spPr>
          <a:xfrm>
            <a:off x="777240" y="667512"/>
            <a:ext cx="3621024" cy="5513832"/>
          </a:xfrm>
          <a:solidFill>
            <a:schemeClr val="bg1">
              <a:lumMod val="95000"/>
            </a:schemeClr>
          </a:solidFill>
        </p:spPr>
        <p:txBody>
          <a:bodyPr/>
          <a:lstStyle/>
          <a:p>
            <a:r>
              <a:rPr lang="pt-BR"/>
              <a:t>Clique para editar o título Mestre</a:t>
            </a:r>
            <a:endParaRPr lang="en-US"/>
          </a:p>
        </p:txBody>
      </p:sp>
      <p:sp>
        <p:nvSpPr>
          <p:cNvPr id="16" name="Content Placeholder 2">
            <a:extLst>
              <a:ext uri="{FF2B5EF4-FFF2-40B4-BE49-F238E27FC236}">
                <a16:creationId xmlns:a16="http://schemas.microsoft.com/office/drawing/2014/main" id="{659D4968-2C08-763C-19C6-59134968556A}"/>
              </a:ext>
            </a:extLst>
          </p:cNvPr>
          <p:cNvSpPr>
            <a:spLocks noGrp="1"/>
          </p:cNvSpPr>
          <p:nvPr>
            <p:ph idx="1"/>
          </p:nvPr>
        </p:nvSpPr>
        <p:spPr>
          <a:xfrm>
            <a:off x="4846320" y="1161288"/>
            <a:ext cx="5276088" cy="4535424"/>
          </a:xfrm>
          <a:solidFill>
            <a:schemeClr val="bg1">
              <a:lumMod val="95000"/>
            </a:schemeClr>
          </a:solidFill>
        </p:spPr>
        <p:txBody>
          <a:bodyPr anchor="t" anchorCtr="0">
            <a:normAutofit/>
          </a:bodyPr>
          <a:lstStyle>
            <a:lvl1pPr marL="457200" indent="-457200">
              <a:lnSpc>
                <a:spcPct val="80000"/>
              </a:lnSpc>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714500" indent="-342900">
              <a:buFont typeface="+mj-lt"/>
              <a:buAutoNum type="alphaLcParenR"/>
              <a:defRPr sz="1400"/>
            </a:lvl4pPr>
            <a:lvl5pPr marL="2228850" indent="-400050">
              <a:buFont typeface="+mj-lt"/>
              <a:buAutoNum type="romanLcPeriod"/>
              <a:defRPr sz="14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‹nº›</a:t>
            </a:fld>
            <a:endParaRPr lang="en-US" dirty="0"/>
          </a:p>
        </p:txBody>
      </p:sp>
    </p:spTree>
    <p:extLst>
      <p:ext uri="{BB962C8B-B14F-4D97-AF65-F5344CB8AC3E}">
        <p14:creationId xmlns:p14="http://schemas.microsoft.com/office/powerpoint/2010/main" val="2141534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F0B854-EF27-FB51-FED5-D9C462D789D0}"/>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7AAF96D3-D3E2-FEAC-EE69-279502A579CE}"/>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pt-BR"/>
              <a:t>Clique para editar o título Mestre</a:t>
            </a:r>
            <a:endParaRPr lang="en-US" dirty="0"/>
          </a:p>
        </p:txBody>
      </p:sp>
      <p:sp>
        <p:nvSpPr>
          <p:cNvPr id="9" name="Content Placeholder 2">
            <a:extLst>
              <a:ext uri="{FF2B5EF4-FFF2-40B4-BE49-F238E27FC236}">
                <a16:creationId xmlns:a16="http://schemas.microsoft.com/office/drawing/2014/main" id="{FFA9ADD0-45A7-DB71-D010-70B5B174CC7B}"/>
              </a:ext>
            </a:extLst>
          </p:cNvPr>
          <p:cNvSpPr>
            <a:spLocks noGrp="1"/>
          </p:cNvSpPr>
          <p:nvPr>
            <p:ph idx="1"/>
          </p:nvPr>
        </p:nvSpPr>
        <p:spPr>
          <a:xfrm>
            <a:off x="777240" y="2093976"/>
            <a:ext cx="2880360" cy="3776472"/>
          </a:xfrm>
          <a:solidFill>
            <a:schemeClr val="tx1">
              <a:alpha val="5000"/>
            </a:schemeClr>
          </a:solidFill>
        </p:spPr>
        <p:txBody>
          <a:bodyPr rIns="45720" anchor="t" anchorCtr="0">
            <a:normAutofit/>
          </a:bodyPr>
          <a:lstStyle>
            <a:lvl1pPr>
              <a:spcAft>
                <a:spcPts val="1800"/>
              </a:spcAft>
              <a:defRPr sz="2000"/>
            </a:lvl1pPr>
            <a:lvl2pPr>
              <a:defRPr sz="1600"/>
            </a:lvl2pPr>
            <a:lvl3pPr>
              <a:defRPr sz="1400"/>
            </a:lvl3pPr>
            <a:lvl4pPr>
              <a:defRPr sz="1200"/>
            </a:lvl4pPr>
            <a:lvl5pPr>
              <a:defRPr sz="12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10" name="Content Placeholder 2">
            <a:extLst>
              <a:ext uri="{FF2B5EF4-FFF2-40B4-BE49-F238E27FC236}">
                <a16:creationId xmlns:a16="http://schemas.microsoft.com/office/drawing/2014/main" id="{D4ECD368-DD7D-CC8B-3678-D0BFE829181C}"/>
              </a:ext>
            </a:extLst>
          </p:cNvPr>
          <p:cNvSpPr>
            <a:spLocks noGrp="1"/>
          </p:cNvSpPr>
          <p:nvPr>
            <p:ph idx="13"/>
          </p:nvPr>
        </p:nvSpPr>
        <p:spPr>
          <a:xfrm>
            <a:off x="4261104" y="2093976"/>
            <a:ext cx="6967728"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‹nº›</a:t>
            </a:fld>
            <a:endParaRPr lang="en-US" dirty="0"/>
          </a:p>
        </p:txBody>
      </p:sp>
    </p:spTree>
    <p:extLst>
      <p:ext uri="{BB962C8B-B14F-4D97-AF65-F5344CB8AC3E}">
        <p14:creationId xmlns:p14="http://schemas.microsoft.com/office/powerpoint/2010/main" val="1335964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3F9824-10E6-81A0-0A31-9658CC0091BE}"/>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3002FB0-0A62-2FA3-FB8D-3275F1072D07}"/>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pt-BR"/>
              <a:t>Clique para editar o título Mestre</a:t>
            </a:r>
            <a:endParaRPr lang="en-US" dirty="0"/>
          </a:p>
        </p:txBody>
      </p:sp>
      <p:sp>
        <p:nvSpPr>
          <p:cNvPr id="9" name="Content Placeholder 2">
            <a:extLst>
              <a:ext uri="{FF2B5EF4-FFF2-40B4-BE49-F238E27FC236}">
                <a16:creationId xmlns:a16="http://schemas.microsoft.com/office/drawing/2014/main" id="{4B5BF220-87F8-C1D3-102B-15C9BF2EE478}"/>
              </a:ext>
            </a:extLst>
          </p:cNvPr>
          <p:cNvSpPr>
            <a:spLocks noGrp="1"/>
          </p:cNvSpPr>
          <p:nvPr>
            <p:ph idx="13"/>
          </p:nvPr>
        </p:nvSpPr>
        <p:spPr>
          <a:xfrm>
            <a:off x="804672" y="2093976"/>
            <a:ext cx="10469880"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‹nº›</a:t>
            </a:fld>
            <a:endParaRPr lang="en-US" dirty="0"/>
          </a:p>
        </p:txBody>
      </p:sp>
    </p:spTree>
    <p:extLst>
      <p:ext uri="{BB962C8B-B14F-4D97-AF65-F5344CB8AC3E}">
        <p14:creationId xmlns:p14="http://schemas.microsoft.com/office/powerpoint/2010/main" val="191047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E4764D-8226-78DF-9303-299C95FA31F7}"/>
              </a:ext>
              <a:ext uri="{C183D7F6-B498-43B3-948B-1728B52AA6E4}">
                <adec:decorative xmlns:adec="http://schemas.microsoft.com/office/drawing/2017/decorative" val="1"/>
              </a:ext>
            </a:extLst>
          </p:cNvPr>
          <p:cNvSpPr/>
          <p:nvPr userDrawn="1"/>
        </p:nvSpPr>
        <p:spPr>
          <a:xfrm>
            <a:off x="3598984" y="0"/>
            <a:ext cx="133643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77C27D79-5B49-F06F-29C2-BF642952740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53477" y="5154421"/>
            <a:ext cx="3279227" cy="1229710"/>
          </a:xfrm>
          <a:prstGeom prst="rect">
            <a:avLst/>
          </a:prstGeom>
        </p:spPr>
      </p:pic>
      <p:pic>
        <p:nvPicPr>
          <p:cNvPr id="11" name="Graphic 10">
            <a:extLst>
              <a:ext uri="{FF2B5EF4-FFF2-40B4-BE49-F238E27FC236}">
                <a16:creationId xmlns:a16="http://schemas.microsoft.com/office/drawing/2014/main" id="{1545B34A-525D-FD4C-2384-D583B495C03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5455" t="5126"/>
          <a:stretch/>
        </p:blipFill>
        <p:spPr>
          <a:xfrm flipH="1">
            <a:off x="6768663" y="1729776"/>
            <a:ext cx="5423337" cy="5356522"/>
          </a:xfrm>
          <a:prstGeom prst="rect">
            <a:avLst/>
          </a:prstGeom>
        </p:spPr>
      </p:pic>
      <p:sp>
        <p:nvSpPr>
          <p:cNvPr id="7" name="Title 6">
            <a:extLst>
              <a:ext uri="{FF2B5EF4-FFF2-40B4-BE49-F238E27FC236}">
                <a16:creationId xmlns:a16="http://schemas.microsoft.com/office/drawing/2014/main" id="{1B59FA15-E93F-D07D-D82B-86E08C540E92}"/>
              </a:ext>
            </a:extLst>
          </p:cNvPr>
          <p:cNvSpPr>
            <a:spLocks noGrp="1"/>
          </p:cNvSpPr>
          <p:nvPr>
            <p:ph type="title" hasCustomPrompt="1"/>
          </p:nvPr>
        </p:nvSpPr>
        <p:spPr>
          <a:xfrm>
            <a:off x="5632704" y="795528"/>
            <a:ext cx="6099048" cy="5120640"/>
          </a:xfrm>
          <a:prstGeom prst="rect">
            <a:avLst/>
          </a:prstGeom>
          <a:solidFill>
            <a:schemeClr val="tx1">
              <a:alpha val="5000"/>
            </a:schemeClr>
          </a:solidFill>
        </p:spPr>
        <p:txBody>
          <a:bodyPr anchor="ctr"/>
          <a:lstStyle>
            <a:lvl1pPr>
              <a:lnSpc>
                <a:spcPct val="90000"/>
              </a:lnSpc>
              <a:defRPr sz="4800" cap="all" spc="0" baseline="0"/>
            </a:lvl1pPr>
          </a:lstStyle>
          <a:p>
            <a:r>
              <a:rPr lang="en-US" dirty="0"/>
              <a:t>Click to add title</a:t>
            </a:r>
          </a:p>
        </p:txBody>
      </p:sp>
      <p:sp>
        <p:nvSpPr>
          <p:cNvPr id="8" name="Picture Placeholder 10">
            <a:extLst>
              <a:ext uri="{FF2B5EF4-FFF2-40B4-BE49-F238E27FC236}">
                <a16:creationId xmlns:a16="http://schemas.microsoft.com/office/drawing/2014/main" id="{4F1B2B40-3852-2BC5-AA67-3AC0C94B5350}"/>
              </a:ext>
            </a:extLst>
          </p:cNvPr>
          <p:cNvSpPr>
            <a:spLocks noGrp="1"/>
          </p:cNvSpPr>
          <p:nvPr>
            <p:ph type="pic" sz="quarter" idx="13" hasCustomPrompt="1"/>
          </p:nvPr>
        </p:nvSpPr>
        <p:spPr>
          <a:xfrm>
            <a:off x="576072" y="950976"/>
            <a:ext cx="4050792" cy="4965192"/>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4185421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4">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6177962F-BF83-8BF0-521C-AC2FE18512C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 r="27085" b="-104"/>
          <a:stretch/>
        </p:blipFill>
        <p:spPr>
          <a:xfrm rot="5400000">
            <a:off x="7746274" y="2898378"/>
            <a:ext cx="3089740" cy="4876799"/>
          </a:xfrm>
          <a:prstGeom prst="rect">
            <a:avLst/>
          </a:prstGeom>
        </p:spPr>
      </p:pic>
      <p:sp>
        <p:nvSpPr>
          <p:cNvPr id="7" name="Rectangle 6">
            <a:extLst>
              <a:ext uri="{FF2B5EF4-FFF2-40B4-BE49-F238E27FC236}">
                <a16:creationId xmlns:a16="http://schemas.microsoft.com/office/drawing/2014/main" id="{5D003ACC-3116-807F-81D2-E8057D4C2C0F}"/>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B43485B2-AA3A-87CC-3B1B-A193C6EB5985}"/>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pt-BR"/>
              <a:t>Clique para editar o título Mestre</a:t>
            </a:r>
            <a:endParaRPr lang="en-US" dirty="0"/>
          </a:p>
        </p:txBody>
      </p:sp>
      <p:sp>
        <p:nvSpPr>
          <p:cNvPr id="9" name="Content Placeholder 2">
            <a:extLst>
              <a:ext uri="{FF2B5EF4-FFF2-40B4-BE49-F238E27FC236}">
                <a16:creationId xmlns:a16="http://schemas.microsoft.com/office/drawing/2014/main" id="{16EF9689-52F4-4A6F-BEAC-E0B840C117B5}"/>
              </a:ext>
            </a:extLst>
          </p:cNvPr>
          <p:cNvSpPr>
            <a:spLocks noGrp="1"/>
          </p:cNvSpPr>
          <p:nvPr>
            <p:ph idx="1"/>
          </p:nvPr>
        </p:nvSpPr>
        <p:spPr>
          <a:xfrm>
            <a:off x="777240" y="2093976"/>
            <a:ext cx="5833872" cy="3776472"/>
          </a:xfrm>
          <a:solidFill>
            <a:schemeClr val="bg1">
              <a:lumMod val="95000"/>
            </a:schemeClr>
          </a:solidFill>
        </p:spPr>
        <p:txBody>
          <a:bodyPr rIns="91440" anchor="t" anchorCtr="0">
            <a:normAutofit/>
          </a:bodyPr>
          <a:lstStyle>
            <a:lvl1pPr marL="457200" indent="-457200">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828800" indent="-457200">
              <a:buFont typeface="+mj-lt"/>
              <a:buAutoNum type="alphaLcParenR"/>
              <a:defRPr sz="1400"/>
            </a:lvl4pPr>
            <a:lvl5pPr marL="2286000" indent="-457200">
              <a:buFont typeface="+mj-lt"/>
              <a:buAutoNum type="romanLcPeriod"/>
              <a:defRPr sz="14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10" name="Content Placeholder 2">
            <a:extLst>
              <a:ext uri="{FF2B5EF4-FFF2-40B4-BE49-F238E27FC236}">
                <a16:creationId xmlns:a16="http://schemas.microsoft.com/office/drawing/2014/main" id="{DB532826-83B5-DC67-7DDB-45FD78E830A1}"/>
              </a:ext>
            </a:extLst>
          </p:cNvPr>
          <p:cNvSpPr>
            <a:spLocks noGrp="1"/>
          </p:cNvSpPr>
          <p:nvPr>
            <p:ph idx="13"/>
          </p:nvPr>
        </p:nvSpPr>
        <p:spPr>
          <a:xfrm>
            <a:off x="7306056" y="2093976"/>
            <a:ext cx="3172968"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‹nº›</a:t>
            </a:fld>
            <a:endParaRPr lang="en-US" dirty="0"/>
          </a:p>
        </p:txBody>
      </p:sp>
    </p:spTree>
    <p:extLst>
      <p:ext uri="{BB962C8B-B14F-4D97-AF65-F5344CB8AC3E}">
        <p14:creationId xmlns:p14="http://schemas.microsoft.com/office/powerpoint/2010/main" val="2421904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47051E-220B-9586-3E85-05AF9DC9B680}"/>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68FA6629-B230-F528-AAE3-D182D963F05E}"/>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 r="27085" b="-104"/>
          <a:stretch/>
        </p:blipFill>
        <p:spPr>
          <a:xfrm rot="10800000">
            <a:off x="0" y="671161"/>
            <a:ext cx="3089740" cy="4876799"/>
          </a:xfrm>
          <a:prstGeom prst="rect">
            <a:avLst/>
          </a:prstGeom>
        </p:spPr>
      </p:pic>
      <p:pic>
        <p:nvPicPr>
          <p:cNvPr id="8" name="Graphic 7">
            <a:extLst>
              <a:ext uri="{FF2B5EF4-FFF2-40B4-BE49-F238E27FC236}">
                <a16:creationId xmlns:a16="http://schemas.microsoft.com/office/drawing/2014/main" id="{7FA0390C-256A-CE3C-1348-C39DBAE01D8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237644"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3666744"/>
          </a:xfrm>
          <a:prstGeom prst="rect">
            <a:avLst/>
          </a:prstGeom>
        </p:spPr>
        <p:txBody>
          <a:bodyPr anchor="b">
            <a:normAutofit/>
          </a:bodyPr>
          <a:lstStyle>
            <a:lvl1pPr>
              <a:lnSpc>
                <a:spcPct val="100000"/>
              </a:lnSpc>
              <a:defRPr sz="48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636008"/>
            <a:ext cx="5276088" cy="1554480"/>
          </a:xfrm>
          <a:prstGeom prst="rect">
            <a:avLst/>
          </a:prstGeom>
        </p:spPr>
        <p:txBody>
          <a:bodyPr anchor="t"/>
          <a:lstStyle>
            <a:lvl1pPr marL="0" indent="0">
              <a:spcAft>
                <a:spcPts val="600"/>
              </a:spcAft>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23360"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553565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FB4E19-B10C-43FA-AB4B-5D0396BD64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cap="all" spc="150" baseline="0">
                <a:solidFill>
                  <a:schemeClr val="accent4">
                    <a:lumMod val="75000"/>
                  </a:schemeClr>
                </a:solidFill>
              </a:defRPr>
            </a:lvl1pPr>
          </a:lstStyle>
          <a:p>
            <a:r>
              <a:rPr lang="en-US" dirty="0"/>
              <a:t>20XX</a:t>
            </a:r>
          </a:p>
        </p:txBody>
      </p:sp>
      <p:sp>
        <p:nvSpPr>
          <p:cNvPr id="5" name="Footer Placeholder 4">
            <a:extLst>
              <a:ext uri="{FF2B5EF4-FFF2-40B4-BE49-F238E27FC236}">
                <a16:creationId xmlns:a16="http://schemas.microsoft.com/office/drawing/2014/main" id="{3E5C552B-0CAD-4920-B258-233A9F86DF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cap="all" spc="150" baseline="0">
                <a:solidFill>
                  <a:schemeClr val="accent4">
                    <a:lumMod val="75000"/>
                  </a:schemeClr>
                </a:solidFill>
              </a:defRPr>
            </a:lvl1pPr>
          </a:lstStyle>
          <a:p>
            <a:endParaRPr lang="en-US" dirty="0"/>
          </a:p>
        </p:txBody>
      </p:sp>
      <p:sp>
        <p:nvSpPr>
          <p:cNvPr id="6" name="Slide Number Placeholder 5">
            <a:extLst>
              <a:ext uri="{FF2B5EF4-FFF2-40B4-BE49-F238E27FC236}">
                <a16:creationId xmlns:a16="http://schemas.microsoft.com/office/drawing/2014/main" id="{CE983FFB-15A3-4B11-A130-4565577A3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cap="all" spc="150" baseline="0">
                <a:solidFill>
                  <a:schemeClr val="accent4">
                    <a:lumMod val="75000"/>
                  </a:schemeClr>
                </a:solidFill>
              </a:defRPr>
            </a:lvl1pPr>
          </a:lstStyle>
          <a:p>
            <a:fld id="{F91729D4-A164-47A3-830D-E792BCE699E4}" type="slidenum">
              <a:rPr lang="en-US" smtClean="0"/>
              <a:pPr/>
              <a:t>‹nº›</a:t>
            </a:fld>
            <a:endParaRPr lang="en-US" dirty="0"/>
          </a:p>
        </p:txBody>
      </p:sp>
      <p:sp>
        <p:nvSpPr>
          <p:cNvPr id="2" name="Title Placeholder 1">
            <a:extLst>
              <a:ext uri="{FF2B5EF4-FFF2-40B4-BE49-F238E27FC236}">
                <a16:creationId xmlns:a16="http://schemas.microsoft.com/office/drawing/2014/main" id="{7575F976-A881-DB46-9D98-9D55727C19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Text Placeholder 2">
            <a:extLst>
              <a:ext uri="{FF2B5EF4-FFF2-40B4-BE49-F238E27FC236}">
                <a16:creationId xmlns:a16="http://schemas.microsoft.com/office/drawing/2014/main" id="{B29C7589-D4CD-50AB-9AA4-198FD4932D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Tree>
    <p:extLst>
      <p:ext uri="{BB962C8B-B14F-4D97-AF65-F5344CB8AC3E}">
        <p14:creationId xmlns:p14="http://schemas.microsoft.com/office/powerpoint/2010/main" val="35871090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6" r:id="rId3"/>
    <p:sldLayoutId id="2147483675" r:id="rId4"/>
    <p:sldLayoutId id="2147483683" r:id="rId5"/>
    <p:sldLayoutId id="2147483684" r:id="rId6"/>
    <p:sldLayoutId id="2147483677" r:id="rId7"/>
    <p:sldLayoutId id="2147483678" r:id="rId8"/>
    <p:sldLayoutId id="2147483679" r:id="rId9"/>
    <p:sldLayoutId id="2147483680" r:id="rId10"/>
    <p:sldLayoutId id="2147483681" r:id="rId11"/>
    <p:sldLayoutId id="2147483682" r:id="rId12"/>
    <p:sldLayoutId id="2147483685" r:id="rId13"/>
  </p:sldLayoutIdLst>
  <p:hf hdr="0" ftr="0" dt="0"/>
  <p:txStyles>
    <p:titleStyle>
      <a:lvl1pPr algn="l" defTabSz="914400" rtl="0" eaLnBrk="1" latinLnBrk="0" hangingPunct="1">
        <a:lnSpc>
          <a:spcPct val="90000"/>
        </a:lnSpc>
        <a:spcBef>
          <a:spcPct val="0"/>
        </a:spcBef>
        <a:buNone/>
        <a:defRPr sz="4400" kern="1200">
          <a:solidFill>
            <a:schemeClr val="accent4">
              <a:lumMod val="7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 Id="rId5" Type="http://schemas.openxmlformats.org/officeDocument/2006/relationships/image" Target="../media/image13.jpe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79680-7C22-BFF1-165D-52AB411C0F66}"/>
              </a:ext>
            </a:extLst>
          </p:cNvPr>
          <p:cNvSpPr>
            <a:spLocks noGrp="1"/>
          </p:cNvSpPr>
          <p:nvPr>
            <p:ph type="title"/>
          </p:nvPr>
        </p:nvSpPr>
        <p:spPr>
          <a:xfrm>
            <a:off x="237744" y="667512"/>
            <a:ext cx="7126604" cy="4873752"/>
          </a:xfrm>
        </p:spPr>
        <p:txBody>
          <a:bodyPr>
            <a:normAutofit/>
          </a:bodyPr>
          <a:lstStyle/>
          <a:p>
            <a:pPr algn="ctr"/>
            <a:r>
              <a:rPr lang="en-US" sz="2400" b="1" dirty="0" err="1"/>
              <a:t>Avaliação</a:t>
            </a:r>
            <a:r>
              <a:rPr lang="en-US" sz="2400" b="1" dirty="0"/>
              <a:t> da Cavala </a:t>
            </a:r>
            <a:r>
              <a:rPr lang="en-US" sz="2000" b="1" dirty="0"/>
              <a:t>(</a:t>
            </a:r>
            <a:r>
              <a:rPr lang="en-US" sz="2000" b="1" i="1" dirty="0" err="1"/>
              <a:t>Decapterus</a:t>
            </a:r>
            <a:r>
              <a:rPr lang="en-US" sz="2000" b="1" i="1" dirty="0"/>
              <a:t> </a:t>
            </a:r>
            <a:r>
              <a:rPr lang="en-US" sz="2000" b="1" i="1" dirty="0" err="1"/>
              <a:t>macarellus</a:t>
            </a:r>
            <a:r>
              <a:rPr lang="en-US" sz="2000" b="1" dirty="0"/>
              <a:t>)</a:t>
            </a:r>
            <a:r>
              <a:rPr lang="en-US" sz="2000" b="1" i="1" dirty="0"/>
              <a:t> </a:t>
            </a:r>
            <a:r>
              <a:rPr lang="en-US" sz="2400" b="1" dirty="0" err="1"/>
              <a:t>em</a:t>
            </a:r>
            <a:r>
              <a:rPr lang="en-US" sz="2400" b="1" dirty="0"/>
              <a:t> </a:t>
            </a:r>
            <a:r>
              <a:rPr lang="en-US" sz="2400" b="1" dirty="0" err="1"/>
              <a:t>cabo</a:t>
            </a:r>
            <a:r>
              <a:rPr lang="en-US" sz="2400" b="1" dirty="0"/>
              <a:t> </a:t>
            </a:r>
            <a:r>
              <a:rPr lang="en-US" sz="2400" b="1" dirty="0" err="1"/>
              <a:t>verde</a:t>
            </a:r>
            <a:endParaRPr lang="en-US" sz="2400" b="1" dirty="0"/>
          </a:p>
        </p:txBody>
      </p:sp>
      <p:sp>
        <p:nvSpPr>
          <p:cNvPr id="3" name="Text Placeholder 2">
            <a:extLst>
              <a:ext uri="{FF2B5EF4-FFF2-40B4-BE49-F238E27FC236}">
                <a16:creationId xmlns:a16="http://schemas.microsoft.com/office/drawing/2014/main" id="{302F459B-002E-E89C-3A0E-589730DD7197}"/>
              </a:ext>
            </a:extLst>
          </p:cNvPr>
          <p:cNvSpPr>
            <a:spLocks noGrp="1"/>
          </p:cNvSpPr>
          <p:nvPr>
            <p:ph type="body" sz="quarter" idx="10"/>
          </p:nvPr>
        </p:nvSpPr>
        <p:spPr>
          <a:xfrm>
            <a:off x="1246072" y="5541264"/>
            <a:ext cx="5276088" cy="859536"/>
          </a:xfrm>
        </p:spPr>
        <p:txBody>
          <a:bodyPr/>
          <a:lstStyle/>
          <a:p>
            <a:pPr algn="ctr"/>
            <a:r>
              <a:rPr lang="en-US" dirty="0" err="1"/>
              <a:t>Modelos</a:t>
            </a:r>
            <a:r>
              <a:rPr lang="en-US" dirty="0"/>
              <a:t> </a:t>
            </a:r>
            <a:r>
              <a:rPr lang="en-US" dirty="0" err="1"/>
              <a:t>baseados</a:t>
            </a:r>
            <a:r>
              <a:rPr lang="en-US" dirty="0"/>
              <a:t> </a:t>
            </a:r>
            <a:r>
              <a:rPr lang="en-US" dirty="0" err="1"/>
              <a:t>em</a:t>
            </a:r>
            <a:r>
              <a:rPr lang="en-US" dirty="0"/>
              <a:t> </a:t>
            </a:r>
            <a:r>
              <a:rPr lang="en-US" dirty="0" err="1"/>
              <a:t>capturas</a:t>
            </a:r>
            <a:endParaRPr lang="en-US" dirty="0"/>
          </a:p>
          <a:p>
            <a:pPr algn="ctr"/>
            <a:r>
              <a:rPr lang="en-US" dirty="0"/>
              <a:t>Lucas e Matheus</a:t>
            </a:r>
          </a:p>
        </p:txBody>
      </p:sp>
      <p:sp>
        <p:nvSpPr>
          <p:cNvPr id="26" name="Espaço Reservado para Imagem 25">
            <a:extLst>
              <a:ext uri="{FF2B5EF4-FFF2-40B4-BE49-F238E27FC236}">
                <a16:creationId xmlns:a16="http://schemas.microsoft.com/office/drawing/2014/main" id="{EE853E75-F85E-BB00-2CCF-E8477A09B29B}"/>
              </a:ext>
            </a:extLst>
          </p:cNvPr>
          <p:cNvSpPr>
            <a:spLocks noGrp="1"/>
          </p:cNvSpPr>
          <p:nvPr>
            <p:ph type="pic" sz="quarter" idx="11"/>
          </p:nvPr>
        </p:nvSpPr>
        <p:spPr/>
      </p:sp>
      <p:pic>
        <p:nvPicPr>
          <p:cNvPr id="28" name="Imagem 27" descr="No photo description available.">
            <a:extLst>
              <a:ext uri="{FF2B5EF4-FFF2-40B4-BE49-F238E27FC236}">
                <a16:creationId xmlns:a16="http://schemas.microsoft.com/office/drawing/2014/main" id="{C8F08B99-CBE4-19B1-37C8-8AC62F3B3EC2}"/>
              </a:ext>
            </a:extLst>
          </p:cNvPr>
          <p:cNvPicPr>
            <a:picLocks noChangeAspect="1"/>
          </p:cNvPicPr>
          <p:nvPr/>
        </p:nvPicPr>
        <p:blipFill>
          <a:blip r:embed="rId2"/>
          <a:srcRect l="14197" r="35284"/>
          <a:stretch>
            <a:fillRect/>
          </a:stretch>
        </p:blipFill>
        <p:spPr>
          <a:xfrm>
            <a:off x="7573720" y="0"/>
            <a:ext cx="4618280" cy="6857999"/>
          </a:xfrm>
          <a:prstGeom prst="rect">
            <a:avLst/>
          </a:prstGeom>
        </p:spPr>
      </p:pic>
      <p:pic>
        <p:nvPicPr>
          <p:cNvPr id="30" name="Imagem 29">
            <a:extLst>
              <a:ext uri="{FF2B5EF4-FFF2-40B4-BE49-F238E27FC236}">
                <a16:creationId xmlns:a16="http://schemas.microsoft.com/office/drawing/2014/main" id="{94E9F87C-3AC5-6EDD-D99A-B1C1F1299B80}"/>
              </a:ext>
            </a:extLst>
          </p:cNvPr>
          <p:cNvPicPr>
            <a:picLocks noChangeAspect="1"/>
          </p:cNvPicPr>
          <p:nvPr/>
        </p:nvPicPr>
        <p:blipFill>
          <a:blip r:embed="rId3"/>
          <a:srcRect t="7459"/>
          <a:stretch>
            <a:fillRect/>
          </a:stretch>
        </p:blipFill>
        <p:spPr>
          <a:xfrm>
            <a:off x="1714855" y="0"/>
            <a:ext cx="730385" cy="947737"/>
          </a:xfrm>
          <a:prstGeom prst="rect">
            <a:avLst/>
          </a:prstGeom>
        </p:spPr>
      </p:pic>
      <p:pic>
        <p:nvPicPr>
          <p:cNvPr id="31" name="Imagem 30" descr="IMar Logo">
            <a:extLst>
              <a:ext uri="{FF2B5EF4-FFF2-40B4-BE49-F238E27FC236}">
                <a16:creationId xmlns:a16="http://schemas.microsoft.com/office/drawing/2014/main" id="{C52B832F-4F00-F683-469A-944A7A7E8C80}"/>
              </a:ext>
            </a:extLst>
          </p:cNvPr>
          <p:cNvPicPr>
            <a:picLocks noChangeAspect="1"/>
          </p:cNvPicPr>
          <p:nvPr/>
        </p:nvPicPr>
        <p:blipFill>
          <a:blip r:embed="rId4"/>
          <a:stretch>
            <a:fillRect/>
          </a:stretch>
        </p:blipFill>
        <p:spPr>
          <a:xfrm>
            <a:off x="2605827" y="42018"/>
            <a:ext cx="1864232" cy="699087"/>
          </a:xfrm>
          <a:prstGeom prst="rect">
            <a:avLst/>
          </a:prstGeom>
        </p:spPr>
      </p:pic>
      <p:pic>
        <p:nvPicPr>
          <p:cNvPr id="32" name="Imagem 31" descr="Blue Impact">
            <a:extLst>
              <a:ext uri="{FF2B5EF4-FFF2-40B4-BE49-F238E27FC236}">
                <a16:creationId xmlns:a16="http://schemas.microsoft.com/office/drawing/2014/main" id="{2F392765-B0E1-C8AE-6D16-6A213AF93F50}"/>
              </a:ext>
            </a:extLst>
          </p:cNvPr>
          <p:cNvPicPr>
            <a:picLocks noChangeAspect="1"/>
          </p:cNvPicPr>
          <p:nvPr/>
        </p:nvPicPr>
        <p:blipFill>
          <a:blip r:embed="rId5"/>
          <a:stretch>
            <a:fillRect/>
          </a:stretch>
        </p:blipFill>
        <p:spPr>
          <a:xfrm>
            <a:off x="4618281" y="107656"/>
            <a:ext cx="730385" cy="596874"/>
          </a:xfrm>
          <a:prstGeom prst="rect">
            <a:avLst/>
          </a:prstGeom>
        </p:spPr>
      </p:pic>
    </p:spTree>
    <p:extLst>
      <p:ext uri="{BB962C8B-B14F-4D97-AF65-F5344CB8AC3E}">
        <p14:creationId xmlns:p14="http://schemas.microsoft.com/office/powerpoint/2010/main" val="3262765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5D200-F286-1A6A-3865-C638FE24D4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0B899-1CC9-19DF-1EBC-B2DEC88BC517}"/>
              </a:ext>
            </a:extLst>
          </p:cNvPr>
          <p:cNvSpPr>
            <a:spLocks noGrp="1"/>
          </p:cNvSpPr>
          <p:nvPr>
            <p:ph type="title"/>
          </p:nvPr>
        </p:nvSpPr>
        <p:spPr>
          <a:xfrm>
            <a:off x="201168" y="214884"/>
            <a:ext cx="3144198" cy="772668"/>
          </a:xfrm>
        </p:spPr>
        <p:txBody>
          <a:bodyPr>
            <a:noAutofit/>
          </a:bodyPr>
          <a:lstStyle/>
          <a:p>
            <a:r>
              <a:rPr lang="en-US" sz="2800" dirty="0"/>
              <a:t>Dados e </a:t>
            </a:r>
            <a:r>
              <a:rPr lang="en-US" sz="2800" dirty="0" err="1"/>
              <a:t>definições</a:t>
            </a:r>
            <a:r>
              <a:rPr lang="en-US" sz="2800" dirty="0"/>
              <a:t>:</a:t>
            </a:r>
          </a:p>
        </p:txBody>
      </p:sp>
      <p:sp>
        <p:nvSpPr>
          <p:cNvPr id="3" name="Content Placeholder 2">
            <a:extLst>
              <a:ext uri="{FF2B5EF4-FFF2-40B4-BE49-F238E27FC236}">
                <a16:creationId xmlns:a16="http://schemas.microsoft.com/office/drawing/2014/main" id="{E2FF8B34-03CA-72E0-8D82-9DCCAB2800D5}"/>
              </a:ext>
            </a:extLst>
          </p:cNvPr>
          <p:cNvSpPr>
            <a:spLocks noGrp="1"/>
          </p:cNvSpPr>
          <p:nvPr>
            <p:ph idx="1"/>
          </p:nvPr>
        </p:nvSpPr>
        <p:spPr>
          <a:xfrm>
            <a:off x="4020312" y="456401"/>
            <a:ext cx="7970520" cy="6082511"/>
          </a:xfrm>
        </p:spPr>
        <p:txBody>
          <a:bodyPr>
            <a:normAutofit/>
          </a:bodyPr>
          <a:lstStyle/>
          <a:p>
            <a:r>
              <a:rPr lang="en-US" dirty="0" err="1"/>
              <a:t>Hipótese</a:t>
            </a:r>
            <a:r>
              <a:rPr lang="en-US" dirty="0"/>
              <a:t> H1 — estoque </a:t>
            </a:r>
            <a:r>
              <a:rPr lang="en-US" dirty="0" err="1"/>
              <a:t>unitário</a:t>
            </a:r>
            <a:r>
              <a:rPr lang="en-US" dirty="0"/>
              <a:t> para </a:t>
            </a:r>
            <a:r>
              <a:rPr lang="en-US" dirty="0" err="1"/>
              <a:t>todo</a:t>
            </a:r>
            <a:r>
              <a:rPr lang="en-US" dirty="0"/>
              <a:t> o </a:t>
            </a:r>
            <a:r>
              <a:rPr lang="en-US" dirty="0" err="1"/>
              <a:t>arquipélago</a:t>
            </a:r>
            <a:r>
              <a:rPr lang="en-US" dirty="0"/>
              <a:t>, </a:t>
            </a:r>
            <a:r>
              <a:rPr lang="en-US" dirty="0" err="1"/>
              <a:t>adotada</a:t>
            </a:r>
            <a:r>
              <a:rPr lang="en-US" dirty="0"/>
              <a:t> pela </a:t>
            </a:r>
            <a:r>
              <a:rPr lang="en-US" dirty="0" err="1"/>
              <a:t>ausência</a:t>
            </a:r>
            <a:r>
              <a:rPr lang="en-US" dirty="0"/>
              <a:t> de </a:t>
            </a:r>
            <a:r>
              <a:rPr lang="en-US" dirty="0" err="1"/>
              <a:t>evidências</a:t>
            </a:r>
            <a:r>
              <a:rPr lang="en-US" dirty="0"/>
              <a:t> robustas de </a:t>
            </a:r>
            <a:r>
              <a:rPr lang="en-US" dirty="0" err="1"/>
              <a:t>diferenciação</a:t>
            </a:r>
            <a:r>
              <a:rPr lang="en-US" dirty="0"/>
              <a:t> </a:t>
            </a:r>
            <a:r>
              <a:rPr lang="en-US" dirty="0" err="1"/>
              <a:t>biológica</a:t>
            </a:r>
            <a:r>
              <a:rPr lang="en-US" dirty="0"/>
              <a:t> entre as </a:t>
            </a:r>
            <a:r>
              <a:rPr lang="en-US" dirty="0" err="1"/>
              <a:t>ilhas</a:t>
            </a:r>
            <a:r>
              <a:rPr lang="en-US" dirty="0"/>
              <a:t>. A </a:t>
            </a:r>
            <a:r>
              <a:rPr lang="en-US" dirty="0" err="1"/>
              <a:t>ampla</a:t>
            </a:r>
            <a:r>
              <a:rPr lang="en-US" dirty="0"/>
              <a:t> </a:t>
            </a:r>
            <a:r>
              <a:rPr lang="en-US" dirty="0" err="1"/>
              <a:t>distribuição</a:t>
            </a:r>
            <a:r>
              <a:rPr lang="en-US" dirty="0"/>
              <a:t> de D. </a:t>
            </a:r>
            <a:r>
              <a:rPr lang="en-US" dirty="0" err="1"/>
              <a:t>macarellus</a:t>
            </a:r>
            <a:r>
              <a:rPr lang="en-US" dirty="0"/>
              <a:t>, </a:t>
            </a:r>
            <a:r>
              <a:rPr lang="en-US" dirty="0" err="1"/>
              <a:t>associada</a:t>
            </a:r>
            <a:r>
              <a:rPr lang="en-US" dirty="0"/>
              <a:t> à </a:t>
            </a:r>
            <a:r>
              <a:rPr lang="en-US" dirty="0" err="1"/>
              <a:t>circulação</a:t>
            </a:r>
            <a:r>
              <a:rPr lang="en-US" dirty="0"/>
              <a:t> e </a:t>
            </a:r>
            <a:r>
              <a:rPr lang="en-US" dirty="0" err="1"/>
              <a:t>às</a:t>
            </a:r>
            <a:r>
              <a:rPr lang="en-US" dirty="0"/>
              <a:t> </a:t>
            </a:r>
            <a:r>
              <a:rPr lang="en-US" dirty="0" err="1"/>
              <a:t>trocas</a:t>
            </a:r>
            <a:r>
              <a:rPr lang="en-US" dirty="0"/>
              <a:t> de </a:t>
            </a:r>
            <a:r>
              <a:rPr lang="en-US" dirty="0" err="1"/>
              <a:t>massas</a:t>
            </a:r>
            <a:r>
              <a:rPr lang="en-US" dirty="0"/>
              <a:t> </a:t>
            </a:r>
            <a:r>
              <a:rPr lang="en-US" dirty="0" err="1"/>
              <a:t>d’água</a:t>
            </a:r>
            <a:r>
              <a:rPr lang="en-US" dirty="0"/>
              <a:t> no </a:t>
            </a:r>
            <a:r>
              <a:rPr lang="en-US" dirty="0" err="1"/>
              <a:t>arquipélago</a:t>
            </a:r>
            <a:r>
              <a:rPr lang="en-US" dirty="0"/>
              <a:t>, </a:t>
            </a:r>
            <a:r>
              <a:rPr lang="en-US" dirty="0" err="1"/>
              <a:t>pode</a:t>
            </a:r>
            <a:r>
              <a:rPr lang="en-US" dirty="0"/>
              <a:t> </a:t>
            </a:r>
            <a:r>
              <a:rPr lang="en-US" dirty="0" err="1"/>
              <a:t>favorecer</a:t>
            </a:r>
            <a:r>
              <a:rPr lang="en-US" dirty="0"/>
              <a:t> </a:t>
            </a:r>
            <a:r>
              <a:rPr lang="en-US" dirty="0" err="1"/>
              <a:t>conectividade</a:t>
            </a:r>
            <a:r>
              <a:rPr lang="en-US" dirty="0"/>
              <a:t> entre </a:t>
            </a:r>
            <a:r>
              <a:rPr lang="en-US" dirty="0" err="1"/>
              <a:t>áreas</a:t>
            </a:r>
            <a:r>
              <a:rPr lang="en-US" dirty="0"/>
              <a:t> de </a:t>
            </a:r>
            <a:r>
              <a:rPr lang="en-US" dirty="0" err="1"/>
              <a:t>reprodução</a:t>
            </a:r>
            <a:r>
              <a:rPr lang="en-US" dirty="0"/>
              <a:t> e </a:t>
            </a:r>
            <a:r>
              <a:rPr lang="en-US" dirty="0" err="1"/>
              <a:t>recrutamento</a:t>
            </a:r>
            <a:r>
              <a:rPr lang="en-US" dirty="0"/>
              <a:t>, </a:t>
            </a:r>
            <a:r>
              <a:rPr lang="en-US" dirty="0" err="1"/>
              <a:t>incluindo</a:t>
            </a:r>
            <a:r>
              <a:rPr lang="en-US" dirty="0"/>
              <a:t> </a:t>
            </a:r>
            <a:r>
              <a:rPr lang="en-US" dirty="0" err="1"/>
              <a:t>possível</a:t>
            </a:r>
            <a:r>
              <a:rPr lang="en-US" dirty="0"/>
              <a:t> </a:t>
            </a:r>
            <a:r>
              <a:rPr lang="en-US" dirty="0" err="1"/>
              <a:t>fluxo</a:t>
            </a:r>
            <a:r>
              <a:rPr lang="en-US" dirty="0"/>
              <a:t> larval. Assim, um estoque </a:t>
            </a:r>
            <a:r>
              <a:rPr lang="en-US" dirty="0" err="1"/>
              <a:t>unitário</a:t>
            </a:r>
            <a:r>
              <a:rPr lang="en-US" dirty="0"/>
              <a:t> é </a:t>
            </a:r>
            <a:r>
              <a:rPr lang="en-US" dirty="0" err="1"/>
              <a:t>considerado</a:t>
            </a:r>
            <a:r>
              <a:rPr lang="en-US" dirty="0"/>
              <a:t> </a:t>
            </a:r>
            <a:r>
              <a:rPr lang="en-US" dirty="0" err="1"/>
              <a:t>uma</a:t>
            </a:r>
            <a:r>
              <a:rPr lang="en-US" dirty="0"/>
              <a:t> </a:t>
            </a:r>
            <a:r>
              <a:rPr lang="en-US" dirty="0" err="1"/>
              <a:t>hipótese</a:t>
            </a:r>
            <a:r>
              <a:rPr lang="en-US" dirty="0"/>
              <a:t> de </a:t>
            </a:r>
            <a:r>
              <a:rPr lang="en-US" dirty="0" err="1"/>
              <a:t>trabalho</a:t>
            </a:r>
            <a:r>
              <a:rPr lang="en-US" dirty="0"/>
              <a:t> </a:t>
            </a:r>
            <a:r>
              <a:rPr lang="en-US" dirty="0" err="1"/>
              <a:t>plausível</a:t>
            </a:r>
            <a:r>
              <a:rPr lang="en-US" dirty="0"/>
              <a:t> (Stobberup &amp; </a:t>
            </a:r>
            <a:r>
              <a:rPr lang="en-US" dirty="0" err="1"/>
              <a:t>Erzini</a:t>
            </a:r>
            <a:r>
              <a:rPr lang="en-US" dirty="0"/>
              <a:t>, 2006; Vieira, 2018; Nansen, 2021).</a:t>
            </a:r>
          </a:p>
          <a:p>
            <a:r>
              <a:rPr lang="en-US" dirty="0" err="1"/>
              <a:t>Capturas</a:t>
            </a:r>
            <a:r>
              <a:rPr lang="en-US" dirty="0"/>
              <a:t> </a:t>
            </a:r>
            <a:r>
              <a:rPr lang="en-US" dirty="0" err="1"/>
              <a:t>extraídas</a:t>
            </a:r>
            <a:r>
              <a:rPr lang="en-US" dirty="0"/>
              <a:t> do Luz &amp; Vieira, 2020. </a:t>
            </a:r>
            <a:r>
              <a:rPr lang="en-US" dirty="0" err="1"/>
              <a:t>Período</a:t>
            </a:r>
            <a:r>
              <a:rPr lang="en-US" dirty="0"/>
              <a:t> de 1989 </a:t>
            </a:r>
            <a:r>
              <a:rPr lang="en-US" dirty="0" err="1"/>
              <a:t>até</a:t>
            </a:r>
            <a:r>
              <a:rPr lang="en-US" dirty="0"/>
              <a:t> 2015 (</a:t>
            </a:r>
            <a:r>
              <a:rPr lang="en-US" dirty="0" err="1"/>
              <a:t>Desatualizadas</a:t>
            </a:r>
            <a:r>
              <a:rPr lang="en-US" dirty="0"/>
              <a:t>)</a:t>
            </a:r>
          </a:p>
          <a:p>
            <a:endParaRPr lang="en-US" dirty="0"/>
          </a:p>
          <a:p>
            <a:pPr fontAlgn="t"/>
            <a:r>
              <a:rPr lang="en-US" dirty="0" err="1"/>
              <a:t>Parâmetros</a:t>
            </a:r>
            <a:r>
              <a:rPr lang="en-US" dirty="0"/>
              <a:t> de </a:t>
            </a:r>
            <a:r>
              <a:rPr lang="en-US" dirty="0" err="1"/>
              <a:t>crescimento</a:t>
            </a:r>
            <a:r>
              <a:rPr lang="en-US" dirty="0"/>
              <a:t> (L∞, k, t0), </a:t>
            </a:r>
            <a:r>
              <a:rPr lang="en-US" dirty="0" err="1"/>
              <a:t>maturidade</a:t>
            </a:r>
            <a:r>
              <a:rPr lang="en-US" dirty="0"/>
              <a:t> (L50), </a:t>
            </a:r>
            <a:r>
              <a:rPr lang="en-US" dirty="0" err="1"/>
              <a:t>Mortalidade</a:t>
            </a:r>
            <a:r>
              <a:rPr lang="en-US" dirty="0"/>
              <a:t> (M), </a:t>
            </a:r>
            <a:r>
              <a:rPr lang="en-US" dirty="0" err="1"/>
              <a:t>Longevidade</a:t>
            </a:r>
            <a:r>
              <a:rPr lang="en-US" dirty="0"/>
              <a:t> (</a:t>
            </a:r>
            <a:r>
              <a:rPr lang="en-US" dirty="0" err="1"/>
              <a:t>Tmax</a:t>
            </a:r>
            <a:r>
              <a:rPr lang="en-US" dirty="0"/>
              <a:t>) (Costa et al. (2020)Jardim (1996/1999); Santos (2018);da Cruz Delgado et al. (2024);Almada (1997);da Luz &amp; Vieira (2020);Vieira (2019). </a:t>
            </a:r>
            <a:r>
              <a:rPr lang="en-US" dirty="0" err="1"/>
              <a:t>Confiabilidade</a:t>
            </a:r>
            <a:r>
              <a:rPr lang="en-US" dirty="0"/>
              <a:t> </a:t>
            </a:r>
            <a:r>
              <a:rPr lang="en-US" dirty="0" err="1"/>
              <a:t>medida</a:t>
            </a:r>
            <a:r>
              <a:rPr lang="en-US" dirty="0"/>
              <a:t> </a:t>
            </a:r>
            <a:r>
              <a:rPr lang="en-US" dirty="0" err="1"/>
              <a:t>por</a:t>
            </a:r>
            <a:r>
              <a:rPr lang="en-US" dirty="0"/>
              <a:t> </a:t>
            </a:r>
            <a:r>
              <a:rPr lang="en-US" dirty="0" err="1"/>
              <a:t>amostragem</a:t>
            </a:r>
            <a:r>
              <a:rPr lang="en-US" dirty="0"/>
              <a:t>, </a:t>
            </a:r>
            <a:r>
              <a:rPr lang="en-US" dirty="0" err="1"/>
              <a:t>cobertura</a:t>
            </a:r>
            <a:r>
              <a:rPr lang="en-US" dirty="0"/>
              <a:t> </a:t>
            </a:r>
            <a:r>
              <a:rPr lang="en-US" dirty="0" err="1"/>
              <a:t>espacial</a:t>
            </a:r>
            <a:r>
              <a:rPr lang="en-US" dirty="0"/>
              <a:t>, </a:t>
            </a:r>
            <a:r>
              <a:rPr lang="en-US" dirty="0" err="1"/>
              <a:t>revisão</a:t>
            </a:r>
            <a:r>
              <a:rPr lang="en-US" dirty="0"/>
              <a:t> </a:t>
            </a:r>
            <a:r>
              <a:rPr lang="en-US" dirty="0" err="1"/>
              <a:t>por</a:t>
            </a:r>
            <a:r>
              <a:rPr lang="en-US" dirty="0"/>
              <a:t> pares, </a:t>
            </a:r>
            <a:r>
              <a:rPr lang="en-US" dirty="0" err="1"/>
              <a:t>metodologia</a:t>
            </a:r>
            <a:r>
              <a:rPr lang="en-US" dirty="0"/>
              <a:t> </a:t>
            </a:r>
            <a:r>
              <a:rPr lang="en-US" dirty="0" err="1"/>
              <a:t>sólida</a:t>
            </a:r>
            <a:r>
              <a:rPr lang="en-US" dirty="0"/>
              <a:t>.</a:t>
            </a:r>
          </a:p>
          <a:p>
            <a:endParaRPr lang="en-US" dirty="0"/>
          </a:p>
          <a:p>
            <a:pPr marL="0" indent="0">
              <a:buNone/>
            </a:pPr>
            <a:endParaRPr lang="en-US" dirty="0"/>
          </a:p>
          <a:p>
            <a:endParaRPr lang="en-US" dirty="0"/>
          </a:p>
        </p:txBody>
      </p:sp>
      <p:sp>
        <p:nvSpPr>
          <p:cNvPr id="6" name="Content Placeholder 5">
            <a:extLst>
              <a:ext uri="{FF2B5EF4-FFF2-40B4-BE49-F238E27FC236}">
                <a16:creationId xmlns:a16="http://schemas.microsoft.com/office/drawing/2014/main" id="{ADBEFD66-9A0F-8212-D484-547D33CBADA3}"/>
              </a:ext>
            </a:extLst>
          </p:cNvPr>
          <p:cNvSpPr>
            <a:spLocks noGrp="1"/>
          </p:cNvSpPr>
          <p:nvPr>
            <p:ph idx="13"/>
          </p:nvPr>
        </p:nvSpPr>
        <p:spPr>
          <a:xfrm>
            <a:off x="201167" y="1298448"/>
            <a:ext cx="2731603" cy="4197096"/>
          </a:xfrm>
        </p:spPr>
        <p:txBody>
          <a:bodyPr>
            <a:normAutofit fontScale="85000" lnSpcReduction="10000"/>
          </a:bodyPr>
          <a:lstStyle/>
          <a:p>
            <a:r>
              <a:rPr lang="en-US" sz="3100" b="1" dirty="0"/>
              <a:t>Estoque</a:t>
            </a:r>
          </a:p>
          <a:p>
            <a:endParaRPr lang="en-US" sz="3100" b="1" dirty="0"/>
          </a:p>
          <a:p>
            <a:endParaRPr lang="en-US" sz="3100" b="1" dirty="0"/>
          </a:p>
          <a:p>
            <a:r>
              <a:rPr lang="en-US" sz="3100" b="1" dirty="0" err="1"/>
              <a:t>Capturas</a:t>
            </a:r>
            <a:endParaRPr lang="en-US" sz="3100" b="1" dirty="0"/>
          </a:p>
          <a:p>
            <a:endParaRPr lang="en-US" sz="3100" b="1" dirty="0"/>
          </a:p>
          <a:p>
            <a:r>
              <a:rPr lang="en-US" sz="3100" b="1" dirty="0" err="1"/>
              <a:t>História</a:t>
            </a:r>
            <a:r>
              <a:rPr lang="en-US" sz="3100" b="1" dirty="0"/>
              <a:t> de </a:t>
            </a:r>
            <a:r>
              <a:rPr lang="en-US" sz="3100" b="1" dirty="0" err="1"/>
              <a:t>vida</a:t>
            </a:r>
            <a:endParaRPr lang="en-US" sz="3100" b="1" dirty="0"/>
          </a:p>
          <a:p>
            <a:endParaRPr lang="en-US" dirty="0"/>
          </a:p>
          <a:p>
            <a:endParaRPr lang="en-US" dirty="0"/>
          </a:p>
        </p:txBody>
      </p:sp>
      <p:sp>
        <p:nvSpPr>
          <p:cNvPr id="5" name="Slide Number Placeholder 4">
            <a:extLst>
              <a:ext uri="{FF2B5EF4-FFF2-40B4-BE49-F238E27FC236}">
                <a16:creationId xmlns:a16="http://schemas.microsoft.com/office/drawing/2014/main" id="{0A4A570D-BA04-615F-F3D6-488B83D58533}"/>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2</a:t>
            </a:fld>
            <a:endParaRPr lang="en-US" dirty="0"/>
          </a:p>
        </p:txBody>
      </p:sp>
      <p:sp>
        <p:nvSpPr>
          <p:cNvPr id="7" name="Seta: para a Direita 6">
            <a:extLst>
              <a:ext uri="{FF2B5EF4-FFF2-40B4-BE49-F238E27FC236}">
                <a16:creationId xmlns:a16="http://schemas.microsoft.com/office/drawing/2014/main" id="{CE0C48DA-3F4B-6B8B-A311-041F7B6CF13E}"/>
              </a:ext>
            </a:extLst>
          </p:cNvPr>
          <p:cNvSpPr/>
          <p:nvPr/>
        </p:nvSpPr>
        <p:spPr>
          <a:xfrm rot="20261783">
            <a:off x="2151318" y="1026279"/>
            <a:ext cx="1644381" cy="2629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eta: para a Direita 8">
            <a:extLst>
              <a:ext uri="{FF2B5EF4-FFF2-40B4-BE49-F238E27FC236}">
                <a16:creationId xmlns:a16="http://schemas.microsoft.com/office/drawing/2014/main" id="{4C9E17B0-61AB-CED5-5E7E-65AB3CDF1A30}"/>
              </a:ext>
            </a:extLst>
          </p:cNvPr>
          <p:cNvSpPr/>
          <p:nvPr/>
        </p:nvSpPr>
        <p:spPr>
          <a:xfrm rot="21231189">
            <a:off x="2172026" y="3268978"/>
            <a:ext cx="1602436" cy="2560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eta: para a Direita 10">
            <a:extLst>
              <a:ext uri="{FF2B5EF4-FFF2-40B4-BE49-F238E27FC236}">
                <a16:creationId xmlns:a16="http://schemas.microsoft.com/office/drawing/2014/main" id="{A2EEE10E-41C0-191B-566C-C8AA8FC5A952}"/>
              </a:ext>
            </a:extLst>
          </p:cNvPr>
          <p:cNvSpPr/>
          <p:nvPr/>
        </p:nvSpPr>
        <p:spPr>
          <a:xfrm>
            <a:off x="2875023" y="4672361"/>
            <a:ext cx="1116310" cy="2433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6991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88A36-4906-1CA1-3E17-D1DE157198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06000-8DA8-126C-47B4-5B1CBB2F0326}"/>
              </a:ext>
            </a:extLst>
          </p:cNvPr>
          <p:cNvSpPr>
            <a:spLocks noGrp="1"/>
          </p:cNvSpPr>
          <p:nvPr>
            <p:ph type="title"/>
          </p:nvPr>
        </p:nvSpPr>
        <p:spPr>
          <a:xfrm>
            <a:off x="201167" y="214884"/>
            <a:ext cx="2731603" cy="503700"/>
          </a:xfrm>
        </p:spPr>
        <p:txBody>
          <a:bodyPr>
            <a:normAutofit/>
          </a:bodyPr>
          <a:lstStyle/>
          <a:p>
            <a:r>
              <a:rPr lang="pt-BR" sz="2400" dirty="0"/>
              <a:t>Modelos utilizados</a:t>
            </a:r>
            <a:endParaRPr lang="en-US" sz="2400" dirty="0"/>
          </a:p>
        </p:txBody>
      </p:sp>
      <p:sp>
        <p:nvSpPr>
          <p:cNvPr id="6" name="Content Placeholder 5">
            <a:extLst>
              <a:ext uri="{FF2B5EF4-FFF2-40B4-BE49-F238E27FC236}">
                <a16:creationId xmlns:a16="http://schemas.microsoft.com/office/drawing/2014/main" id="{2169868B-1FFE-D782-EE0B-015E922C3E5B}"/>
              </a:ext>
            </a:extLst>
          </p:cNvPr>
          <p:cNvSpPr>
            <a:spLocks noGrp="1"/>
          </p:cNvSpPr>
          <p:nvPr>
            <p:ph idx="13"/>
          </p:nvPr>
        </p:nvSpPr>
        <p:spPr>
          <a:xfrm>
            <a:off x="288083" y="1630275"/>
            <a:ext cx="3947087" cy="934506"/>
          </a:xfrm>
        </p:spPr>
        <p:txBody>
          <a:bodyPr>
            <a:normAutofit lnSpcReduction="10000"/>
          </a:bodyPr>
          <a:lstStyle/>
          <a:p>
            <a:r>
              <a:rPr lang="en-US" sz="2400" b="1" dirty="0"/>
              <a:t>DB-SRA (Dick &amp; MacCall, 2011)</a:t>
            </a:r>
          </a:p>
          <a:p>
            <a:endParaRPr lang="en-US" dirty="0"/>
          </a:p>
        </p:txBody>
      </p:sp>
      <p:sp>
        <p:nvSpPr>
          <p:cNvPr id="5" name="Slide Number Placeholder 4">
            <a:extLst>
              <a:ext uri="{FF2B5EF4-FFF2-40B4-BE49-F238E27FC236}">
                <a16:creationId xmlns:a16="http://schemas.microsoft.com/office/drawing/2014/main" id="{9EE8EECA-F349-A32C-BD63-1E7395195A6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D12358-51D2-46B3-9BDE-DF29528B9454}" type="slidenum">
              <a:rPr kumimoji="0" lang="en-US" sz="1000" b="0" i="0" u="none" strike="noStrike" kern="1200" cap="all" spc="150" normalizeH="0" baseline="0" noProof="0" smtClean="0">
                <a:ln>
                  <a:noFill/>
                </a:ln>
                <a:solidFill>
                  <a:srgbClr val="627272">
                    <a:lumMod val="75000"/>
                  </a:srgbClr>
                </a:solidFill>
                <a:effectLst/>
                <a:uLnTx/>
                <a:uFillTx/>
                <a:latin typeface="Segoe U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all" spc="150" normalizeH="0" baseline="0" noProof="0" dirty="0">
              <a:ln>
                <a:noFill/>
              </a:ln>
              <a:solidFill>
                <a:srgbClr val="627272">
                  <a:lumMod val="75000"/>
                </a:srgbClr>
              </a:solidFill>
              <a:effectLst/>
              <a:uLnTx/>
              <a:uFillTx/>
              <a:latin typeface="Segoe UI Light"/>
              <a:ea typeface="+mn-ea"/>
              <a:cs typeface="+mn-cs"/>
            </a:endParaRPr>
          </a:p>
        </p:txBody>
      </p:sp>
      <p:sp>
        <p:nvSpPr>
          <p:cNvPr id="4" name="Content Placeholder 2">
            <a:extLst>
              <a:ext uri="{FF2B5EF4-FFF2-40B4-BE49-F238E27FC236}">
                <a16:creationId xmlns:a16="http://schemas.microsoft.com/office/drawing/2014/main" id="{8C65A913-CB6F-0516-95C6-1772D5AD6761}"/>
              </a:ext>
            </a:extLst>
          </p:cNvPr>
          <p:cNvSpPr txBox="1">
            <a:spLocks/>
          </p:cNvSpPr>
          <p:nvPr/>
        </p:nvSpPr>
        <p:spPr>
          <a:xfrm>
            <a:off x="4326673" y="319088"/>
            <a:ext cx="7761249" cy="3360814"/>
          </a:xfrm>
          <a:prstGeom prst="rect">
            <a:avLst/>
          </a:prstGeom>
          <a:solidFill>
            <a:schemeClr val="bg1">
              <a:lumMod val="95000"/>
            </a:schemeClr>
          </a:solidFill>
        </p:spPr>
        <p:txBody>
          <a:bodyPr vert="horz" lIns="91440" tIns="45720" rIns="45720" bIns="45720" rtlCol="0" anchor="t" anchorCtr="0">
            <a:normAutofit/>
          </a:bodyPr>
          <a:lstStyle>
            <a:lvl1pPr marL="228600" indent="-228600" algn="l" defTabSz="914400" rtl="0" eaLnBrk="1" latinLnBrk="0" hangingPunct="1">
              <a:lnSpc>
                <a:spcPct val="90000"/>
              </a:lnSpc>
              <a:spcBef>
                <a:spcPts val="1000"/>
              </a:spcBef>
              <a:spcAft>
                <a:spcPts val="1800"/>
              </a:spcAft>
              <a:buFont typeface="Arial" panose="020B0604020202020204" pitchFamily="34" charset="0"/>
              <a:buChar char="•"/>
              <a:defRPr sz="20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200"/>
              </a:spcBef>
              <a:spcAft>
                <a:spcPts val="400"/>
              </a:spcAft>
              <a:buClrTx/>
              <a:buSzTx/>
              <a:buFont typeface="Arial" panose="020B0604020202020204" pitchFamily="34" charset="0"/>
              <a:buChar char="•"/>
              <a:tabLst/>
              <a:defRPr/>
            </a:pPr>
            <a:r>
              <a:rPr kumimoji="0" lang="pt-BR" sz="1600" i="0" u="none" strike="noStrike" kern="1200" cap="none" spc="0" normalizeH="0" baseline="0" noProof="0" dirty="0">
                <a:ln>
                  <a:noFill/>
                </a:ln>
                <a:solidFill>
                  <a:srgbClr val="627272">
                    <a:lumMod val="75000"/>
                  </a:srgbClr>
                </a:solidFill>
                <a:effectLst/>
                <a:uLnTx/>
                <a:uFillTx/>
                <a:latin typeface="Segoe UI Light"/>
                <a:ea typeface="+mn-ea"/>
                <a:cs typeface="+mn-cs"/>
              </a:rPr>
              <a:t>Método catch-only para estimar pontos de referência (MSY, Bmsy, Fmsy) em estoques com poucos dados, sem precisar de índice de abundância.</a:t>
            </a:r>
          </a:p>
          <a:p>
            <a:pPr marL="228600" marR="0" lvl="0" indent="-228600" algn="l" defTabSz="914400" rtl="0" eaLnBrk="1" fontAlgn="auto" latinLnBrk="0" hangingPunct="1">
              <a:lnSpc>
                <a:spcPct val="100000"/>
              </a:lnSpc>
              <a:spcBef>
                <a:spcPts val="200"/>
              </a:spcBef>
              <a:spcAft>
                <a:spcPts val="400"/>
              </a:spcAft>
              <a:buClrTx/>
              <a:buSzTx/>
              <a:buFont typeface="Arial" panose="020B0604020202020204" pitchFamily="34" charset="0"/>
              <a:buChar char="•"/>
              <a:tabLst/>
              <a:defRPr/>
            </a:pPr>
            <a:r>
              <a:rPr kumimoji="0" lang="pt-BR" sz="1600" i="0" u="none" strike="noStrike" kern="1200" cap="none" spc="0" normalizeH="0" baseline="0" noProof="0" dirty="0">
                <a:ln>
                  <a:noFill/>
                </a:ln>
                <a:solidFill>
                  <a:srgbClr val="627272">
                    <a:lumMod val="75000"/>
                  </a:srgbClr>
                </a:solidFill>
                <a:effectLst/>
                <a:uLnTx/>
                <a:uFillTx/>
                <a:latin typeface="Segoe UI Light"/>
                <a:ea typeface="+mn-ea"/>
                <a:cs typeface="+mn-cs"/>
              </a:rPr>
              <a:t>Reconstrói a trajetória de biomassa a partir da série de capturas; busca por Monte Carlo o K que gera a depleção final assumida (Bt/K).</a:t>
            </a:r>
          </a:p>
          <a:p>
            <a:pPr marL="228600" marR="0" lvl="0" indent="-228600" algn="l" defTabSz="914400" rtl="0" eaLnBrk="1" fontAlgn="auto" latinLnBrk="0" hangingPunct="1">
              <a:lnSpc>
                <a:spcPct val="100000"/>
              </a:lnSpc>
              <a:spcBef>
                <a:spcPts val="200"/>
              </a:spcBef>
              <a:spcAft>
                <a:spcPts val="400"/>
              </a:spcAft>
              <a:buClrTx/>
              <a:buSzTx/>
              <a:buFont typeface="Arial" panose="020B0604020202020204" pitchFamily="34" charset="0"/>
              <a:buChar char="•"/>
              <a:tabLst/>
              <a:defRPr/>
            </a:pPr>
            <a:r>
              <a:rPr kumimoji="0" lang="pt-BR" sz="1600" i="0" u="none" strike="noStrike" kern="1200" cap="none" spc="0" normalizeH="0" baseline="0" noProof="0" dirty="0">
                <a:ln>
                  <a:noFill/>
                </a:ln>
                <a:solidFill>
                  <a:srgbClr val="627272">
                    <a:lumMod val="75000"/>
                  </a:srgbClr>
                </a:solidFill>
                <a:effectLst/>
                <a:uLnTx/>
                <a:uFillTx/>
                <a:latin typeface="Segoe UI Light"/>
                <a:ea typeface="+mn-ea"/>
                <a:cs typeface="+mn-cs"/>
              </a:rPr>
              <a:t>Modelo de produção excedente genérico (tipo Pella-Tomlinson), parametrizado pela razão Fmsy/M.</a:t>
            </a:r>
          </a:p>
          <a:p>
            <a:pPr marL="228600" marR="0" lvl="0" indent="-228600" algn="l" defTabSz="914400" rtl="0" eaLnBrk="1" fontAlgn="auto" latinLnBrk="0" hangingPunct="1">
              <a:lnSpc>
                <a:spcPct val="100000"/>
              </a:lnSpc>
              <a:spcBef>
                <a:spcPts val="200"/>
              </a:spcBef>
              <a:spcAft>
                <a:spcPts val="400"/>
              </a:spcAft>
              <a:buClrTx/>
              <a:buSzTx/>
              <a:buFont typeface="Arial" panose="020B0604020202020204" pitchFamily="34" charset="0"/>
              <a:buChar char="•"/>
              <a:tabLst/>
              <a:defRPr/>
            </a:pPr>
            <a:r>
              <a:rPr kumimoji="0" lang="pt-BR" sz="1600" b="1" i="0" u="none" strike="noStrike" kern="1200" cap="none" spc="0" normalizeH="0" baseline="0" noProof="0" dirty="0">
                <a:ln>
                  <a:noFill/>
                </a:ln>
                <a:solidFill>
                  <a:srgbClr val="627272">
                    <a:lumMod val="75000"/>
                  </a:srgbClr>
                </a:solidFill>
                <a:effectLst/>
                <a:uLnTx/>
                <a:uFillTx/>
                <a:latin typeface="Segoe UI Light"/>
                <a:ea typeface="+mn-ea"/>
                <a:cs typeface="+mn-cs"/>
              </a:rPr>
              <a:t>Dados de entrada: </a:t>
            </a:r>
            <a:r>
              <a:rPr kumimoji="0" lang="pt-BR" sz="1600" b="0" i="0" u="none" strike="noStrike" kern="1200" cap="none" spc="0" normalizeH="0" baseline="0" noProof="0" dirty="0">
                <a:ln>
                  <a:noFill/>
                </a:ln>
                <a:solidFill>
                  <a:srgbClr val="627272">
                    <a:lumMod val="75000"/>
                  </a:srgbClr>
                </a:solidFill>
                <a:effectLst/>
                <a:uLnTx/>
                <a:uFillTx/>
                <a:latin typeface="Segoe UI Light"/>
                <a:ea typeface="+mn-ea"/>
                <a:cs typeface="+mn-cs"/>
              </a:rPr>
              <a:t>série histórica de capturas, mortalidade natural (M), razão Fmsy/M e uma hipótese de depleção relativa (Bt/K) no fim da série.</a:t>
            </a:r>
          </a:p>
          <a:p>
            <a:pPr marL="228600" marR="0" lvl="0" indent="-228600" algn="l" defTabSz="914400" rtl="0" eaLnBrk="1" fontAlgn="auto" latinLnBrk="0" hangingPunct="1">
              <a:lnSpc>
                <a:spcPct val="100000"/>
              </a:lnSpc>
              <a:spcBef>
                <a:spcPts val="200"/>
              </a:spcBef>
              <a:spcAft>
                <a:spcPts val="400"/>
              </a:spcAft>
              <a:buClrTx/>
              <a:buSzTx/>
              <a:buFont typeface="Arial" panose="020B0604020202020204" pitchFamily="34" charset="0"/>
              <a:buChar char="•"/>
              <a:tabLst/>
              <a:defRPr/>
            </a:pPr>
            <a:r>
              <a:rPr kumimoji="0" lang="pt-BR" sz="1600" b="1" i="0" u="none" strike="noStrike" kern="1200" cap="none" spc="0" normalizeH="0" baseline="0" noProof="0" dirty="0">
                <a:ln>
                  <a:noFill/>
                </a:ln>
                <a:solidFill>
                  <a:srgbClr val="627272">
                    <a:lumMod val="75000"/>
                  </a:srgbClr>
                </a:solidFill>
                <a:effectLst/>
                <a:uLnTx/>
                <a:uFillTx/>
                <a:latin typeface="Segoe UI Light"/>
                <a:ea typeface="+mn-ea"/>
                <a:cs typeface="+mn-cs"/>
              </a:rPr>
              <a:t>Estimativas de saída: </a:t>
            </a:r>
            <a:r>
              <a:rPr kumimoji="0" lang="pt-BR" sz="1600" b="0" i="0" u="none" strike="noStrike" kern="1200" cap="none" spc="0" normalizeH="0" baseline="0" noProof="0" dirty="0">
                <a:ln>
                  <a:noFill/>
                </a:ln>
                <a:solidFill>
                  <a:srgbClr val="627272">
                    <a:lumMod val="75000"/>
                  </a:srgbClr>
                </a:solidFill>
                <a:effectLst/>
                <a:uLnTx/>
                <a:uFillTx/>
                <a:latin typeface="Segoe UI Light"/>
                <a:ea typeface="+mn-ea"/>
                <a:cs typeface="+mn-cs"/>
              </a:rPr>
              <a:t>distribuições de probabilidade (Monte Carlo) de MSY, Bmsy, K, Fmsy e da razão Bt/Bmsy atual.</a:t>
            </a:r>
          </a:p>
        </p:txBody>
      </p:sp>
      <p:sp>
        <p:nvSpPr>
          <p:cNvPr id="10" name="Espaço Reservado para Conteúdo 9">
            <a:extLst>
              <a:ext uri="{FF2B5EF4-FFF2-40B4-BE49-F238E27FC236}">
                <a16:creationId xmlns:a16="http://schemas.microsoft.com/office/drawing/2014/main" id="{CABC0DB9-6E8A-E365-FE9F-8332D51AFBF0}"/>
              </a:ext>
            </a:extLst>
          </p:cNvPr>
          <p:cNvSpPr>
            <a:spLocks noGrp="1"/>
          </p:cNvSpPr>
          <p:nvPr>
            <p:ph idx="1"/>
          </p:nvPr>
        </p:nvSpPr>
        <p:spPr>
          <a:xfrm>
            <a:off x="4837344" y="3778985"/>
            <a:ext cx="6516456" cy="2759927"/>
          </a:xfrm>
        </p:spPr>
        <p:txBody>
          <a:bodyPr>
            <a:noAutofit/>
          </a:bodyPr>
          <a:lstStyle/>
          <a:p>
            <a:pPr marL="228600" marR="0" lvl="0" indent="-228600" algn="l" defTabSz="914400" rtl="0" eaLnBrk="1" fontAlgn="auto" latinLnBrk="0" hangingPunct="1">
              <a:lnSpc>
                <a:spcPct val="100000"/>
              </a:lnSpc>
              <a:spcBef>
                <a:spcPts val="100"/>
              </a:spcBef>
              <a:spcAft>
                <a:spcPts val="300"/>
              </a:spcAft>
              <a:buClrTx/>
              <a:buSzTx/>
              <a:buFont typeface="Arial" panose="020B0604020202020204" pitchFamily="34" charset="0"/>
              <a:buChar char="•"/>
              <a:tabLst/>
              <a:defRPr/>
            </a:pPr>
            <a:r>
              <a:rPr lang="pt-BR" sz="1500" dirty="0"/>
              <a:t>Evolução do CMSY; também catch-only, estima r, k, MSY e biomassa relativa usando a resiliência da espécie.</a:t>
            </a:r>
          </a:p>
          <a:p>
            <a:pPr marL="228600" marR="0" lvl="0" indent="-228600" algn="l" defTabSz="914400" rtl="0" eaLnBrk="1" fontAlgn="auto" latinLnBrk="0" hangingPunct="1">
              <a:lnSpc>
                <a:spcPct val="100000"/>
              </a:lnSpc>
              <a:spcBef>
                <a:spcPts val="100"/>
              </a:spcBef>
              <a:spcAft>
                <a:spcPts val="300"/>
              </a:spcAft>
              <a:buClrTx/>
              <a:buSzTx/>
              <a:buFont typeface="Arial" panose="020B0604020202020204" pitchFamily="34" charset="0"/>
              <a:buChar char="•"/>
              <a:tabLst/>
              <a:defRPr/>
            </a:pPr>
            <a:r>
              <a:rPr lang="pt-BR" sz="1500" dirty="0"/>
              <a:t>Simulação bayesiana de Monte Carlo — sorteia pares de r e k, projeta a biomassa com a série de capturas e mantém só as combinações viáveis.</a:t>
            </a:r>
          </a:p>
          <a:p>
            <a:pPr marL="228600" marR="0" lvl="0" indent="-228600" algn="l" defTabSz="914400" rtl="0" eaLnBrk="1" fontAlgn="auto" latinLnBrk="0" hangingPunct="1">
              <a:lnSpc>
                <a:spcPct val="100000"/>
              </a:lnSpc>
              <a:spcBef>
                <a:spcPts val="100"/>
              </a:spcBef>
              <a:spcAft>
                <a:spcPts val="300"/>
              </a:spcAft>
              <a:buClrTx/>
              <a:buSzTx/>
              <a:buFont typeface="Arial" panose="020B0604020202020204" pitchFamily="34" charset="0"/>
              <a:buChar char="•"/>
              <a:tabLst/>
              <a:defRPr/>
            </a:pPr>
            <a:r>
              <a:rPr lang="pt-BR" sz="1500" dirty="0"/>
              <a:t>Modelo de Schaefer ajustado por um Bayesian State-space Model (BSM).</a:t>
            </a:r>
          </a:p>
          <a:p>
            <a:pPr marL="228600" marR="0" lvl="0" indent="-228600" algn="l" defTabSz="914400" rtl="0" eaLnBrk="1" fontAlgn="auto" latinLnBrk="0" hangingPunct="1">
              <a:lnSpc>
                <a:spcPct val="100000"/>
              </a:lnSpc>
              <a:spcBef>
                <a:spcPts val="100"/>
              </a:spcBef>
              <a:spcAft>
                <a:spcPts val="300"/>
              </a:spcAft>
              <a:buClrTx/>
              <a:buSzTx/>
              <a:buFont typeface="Arial" panose="020B0604020202020204" pitchFamily="34" charset="0"/>
              <a:buChar char="•"/>
              <a:tabLst/>
              <a:defRPr/>
            </a:pPr>
            <a:r>
              <a:rPr lang="pt-BR" sz="1500" b="1" dirty="0"/>
              <a:t>Dados de entrada: </a:t>
            </a:r>
            <a:r>
              <a:rPr lang="pt-BR" sz="1500" b="0" dirty="0"/>
              <a:t>série de capturas, priori de r (via resiliência/história de vida) e depleção inicial e final (</a:t>
            </a:r>
            <a:r>
              <a:rPr lang="pt-BR" sz="1500" b="0" dirty="0" err="1"/>
              <a:t>Bt</a:t>
            </a:r>
            <a:r>
              <a:rPr lang="pt-BR" sz="1500" b="0" dirty="0"/>
              <a:t>/K).</a:t>
            </a:r>
          </a:p>
          <a:p>
            <a:pPr marL="228600" marR="0" lvl="0" indent="-228600" algn="l" defTabSz="914400" rtl="0" eaLnBrk="1" fontAlgn="auto" latinLnBrk="0" hangingPunct="1">
              <a:lnSpc>
                <a:spcPct val="100000"/>
              </a:lnSpc>
              <a:spcBef>
                <a:spcPts val="100"/>
              </a:spcBef>
              <a:spcAft>
                <a:spcPts val="300"/>
              </a:spcAft>
              <a:buClrTx/>
              <a:buSzTx/>
              <a:buFont typeface="Arial" panose="020B0604020202020204" pitchFamily="34" charset="0"/>
              <a:buChar char="•"/>
              <a:tabLst/>
              <a:defRPr/>
            </a:pPr>
            <a:r>
              <a:rPr lang="pt-BR" sz="1500" b="1" dirty="0"/>
              <a:t>Estimativas de saída: </a:t>
            </a:r>
            <a:r>
              <a:rPr lang="pt-BR" sz="1500" b="0" dirty="0"/>
              <a:t>posteriores de r, k, MSY, Bmsy, Fmsy e as trajetórias de B/Bmsy e F/Fmsy ao longo da série.</a:t>
            </a:r>
          </a:p>
        </p:txBody>
      </p:sp>
      <p:sp>
        <p:nvSpPr>
          <p:cNvPr id="13" name="Chave Esquerda 12">
            <a:extLst>
              <a:ext uri="{FF2B5EF4-FFF2-40B4-BE49-F238E27FC236}">
                <a16:creationId xmlns:a16="http://schemas.microsoft.com/office/drawing/2014/main" id="{F13D2ABD-A723-E273-3B7A-6A81FBBEFA31}"/>
              </a:ext>
            </a:extLst>
          </p:cNvPr>
          <p:cNvSpPr/>
          <p:nvPr/>
        </p:nvSpPr>
        <p:spPr>
          <a:xfrm>
            <a:off x="4148254" y="319088"/>
            <a:ext cx="178419" cy="3360813"/>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Light"/>
              <a:ea typeface="+mn-ea"/>
              <a:cs typeface="+mn-cs"/>
            </a:endParaRPr>
          </a:p>
        </p:txBody>
      </p:sp>
      <p:sp>
        <p:nvSpPr>
          <p:cNvPr id="15" name="Chave Esquerda 14">
            <a:extLst>
              <a:ext uri="{FF2B5EF4-FFF2-40B4-BE49-F238E27FC236}">
                <a16:creationId xmlns:a16="http://schemas.microsoft.com/office/drawing/2014/main" id="{727ECFD7-DA3F-44FB-16A7-42C94BF27099}"/>
              </a:ext>
            </a:extLst>
          </p:cNvPr>
          <p:cNvSpPr/>
          <p:nvPr/>
        </p:nvSpPr>
        <p:spPr>
          <a:xfrm>
            <a:off x="4603169" y="3778985"/>
            <a:ext cx="234175" cy="2759927"/>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Light"/>
              <a:ea typeface="+mn-ea"/>
              <a:cs typeface="+mn-cs"/>
            </a:endParaRPr>
          </a:p>
        </p:txBody>
      </p:sp>
      <p:sp>
        <p:nvSpPr>
          <p:cNvPr id="17" name="CaixaDeTexto 16">
            <a:extLst>
              <a:ext uri="{FF2B5EF4-FFF2-40B4-BE49-F238E27FC236}">
                <a16:creationId xmlns:a16="http://schemas.microsoft.com/office/drawing/2014/main" id="{7F1B570D-9C66-EA9C-603E-C9ED8F32B3D1}"/>
              </a:ext>
            </a:extLst>
          </p:cNvPr>
          <p:cNvSpPr txBox="1"/>
          <p:nvPr/>
        </p:nvSpPr>
        <p:spPr>
          <a:xfrm>
            <a:off x="630148" y="4928115"/>
            <a:ext cx="394708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627272">
                    <a:lumMod val="75000"/>
                  </a:srgbClr>
                </a:solidFill>
                <a:effectLst/>
                <a:uLnTx/>
                <a:uFillTx/>
                <a:latin typeface="Segoe UI Light"/>
                <a:ea typeface="+mn-ea"/>
                <a:cs typeface="+mn-cs"/>
              </a:rPr>
              <a:t>CMSY++ (Froese et al., 2023)</a:t>
            </a:r>
          </a:p>
        </p:txBody>
      </p:sp>
    </p:spTree>
    <p:extLst>
      <p:ext uri="{BB962C8B-B14F-4D97-AF65-F5344CB8AC3E}">
        <p14:creationId xmlns:p14="http://schemas.microsoft.com/office/powerpoint/2010/main" val="1466817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BEC8E-FFDF-74DA-A020-5ED59C925F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067052-6335-AEA7-8D44-F76CD3134102}"/>
              </a:ext>
            </a:extLst>
          </p:cNvPr>
          <p:cNvSpPr>
            <a:spLocks noGrp="1"/>
          </p:cNvSpPr>
          <p:nvPr>
            <p:ph type="title"/>
          </p:nvPr>
        </p:nvSpPr>
        <p:spPr>
          <a:xfrm>
            <a:off x="201167" y="214884"/>
            <a:ext cx="2731603" cy="503700"/>
          </a:xfrm>
        </p:spPr>
        <p:txBody>
          <a:bodyPr>
            <a:normAutofit/>
          </a:bodyPr>
          <a:lstStyle/>
          <a:p>
            <a:r>
              <a:rPr lang="pt-BR" sz="2400" dirty="0"/>
              <a:t>E</a:t>
            </a:r>
            <a:r>
              <a:rPr lang="en-US" sz="2400" dirty="0" err="1"/>
              <a:t>stimativas</a:t>
            </a:r>
            <a:r>
              <a:rPr lang="en-US" sz="2400" dirty="0"/>
              <a:t> </a:t>
            </a:r>
            <a:r>
              <a:rPr lang="en-US" sz="2400" dirty="0" err="1"/>
              <a:t>iniciais</a:t>
            </a:r>
            <a:endParaRPr lang="en-US" sz="2400" dirty="0"/>
          </a:p>
        </p:txBody>
      </p:sp>
      <p:sp>
        <p:nvSpPr>
          <p:cNvPr id="6" name="Content Placeholder 5">
            <a:extLst>
              <a:ext uri="{FF2B5EF4-FFF2-40B4-BE49-F238E27FC236}">
                <a16:creationId xmlns:a16="http://schemas.microsoft.com/office/drawing/2014/main" id="{139DA165-674D-FB0A-9FC0-B1BCCA427D4A}"/>
              </a:ext>
            </a:extLst>
          </p:cNvPr>
          <p:cNvSpPr>
            <a:spLocks noGrp="1"/>
          </p:cNvSpPr>
          <p:nvPr>
            <p:ph idx="13"/>
          </p:nvPr>
        </p:nvSpPr>
        <p:spPr>
          <a:xfrm>
            <a:off x="288083" y="1630275"/>
            <a:ext cx="3947087" cy="934506"/>
          </a:xfrm>
        </p:spPr>
        <p:txBody>
          <a:bodyPr>
            <a:normAutofit lnSpcReduction="10000"/>
          </a:bodyPr>
          <a:lstStyle/>
          <a:p>
            <a:r>
              <a:rPr lang="en-US" sz="2400" b="1" dirty="0"/>
              <a:t>r (taxa </a:t>
            </a:r>
            <a:r>
              <a:rPr lang="en-US" sz="2400" b="1" dirty="0" err="1"/>
              <a:t>intrínseca</a:t>
            </a:r>
            <a:r>
              <a:rPr lang="en-US" sz="2400" b="1" dirty="0"/>
              <a:t> de </a:t>
            </a:r>
            <a:r>
              <a:rPr lang="en-US" sz="2400" b="1" dirty="0" err="1"/>
              <a:t>crescimento-Produtividade</a:t>
            </a:r>
            <a:r>
              <a:rPr lang="en-US" sz="2400" b="1" dirty="0"/>
              <a:t>)</a:t>
            </a:r>
          </a:p>
          <a:p>
            <a:endParaRPr lang="en-US" dirty="0"/>
          </a:p>
        </p:txBody>
      </p:sp>
      <p:sp>
        <p:nvSpPr>
          <p:cNvPr id="5" name="Slide Number Placeholder 4">
            <a:extLst>
              <a:ext uri="{FF2B5EF4-FFF2-40B4-BE49-F238E27FC236}">
                <a16:creationId xmlns:a16="http://schemas.microsoft.com/office/drawing/2014/main" id="{7AD20085-7F51-4CDC-15B2-563B9DAC124D}"/>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4</a:t>
            </a:fld>
            <a:endParaRPr lang="en-US" dirty="0"/>
          </a:p>
        </p:txBody>
      </p:sp>
      <p:sp>
        <p:nvSpPr>
          <p:cNvPr id="4" name="Content Placeholder 2">
            <a:extLst>
              <a:ext uri="{FF2B5EF4-FFF2-40B4-BE49-F238E27FC236}">
                <a16:creationId xmlns:a16="http://schemas.microsoft.com/office/drawing/2014/main" id="{BBD0C8E5-9D6B-92F7-FE01-2A6B7A10801B}"/>
              </a:ext>
            </a:extLst>
          </p:cNvPr>
          <p:cNvSpPr txBox="1">
            <a:spLocks/>
          </p:cNvSpPr>
          <p:nvPr/>
        </p:nvSpPr>
        <p:spPr>
          <a:xfrm>
            <a:off x="4326673" y="319088"/>
            <a:ext cx="7761249" cy="3360814"/>
          </a:xfrm>
          <a:prstGeom prst="rect">
            <a:avLst/>
          </a:prstGeom>
          <a:solidFill>
            <a:schemeClr val="bg1">
              <a:lumMod val="95000"/>
            </a:schemeClr>
          </a:solidFill>
        </p:spPr>
        <p:txBody>
          <a:bodyPr vert="horz" lIns="91440" tIns="45720" rIns="45720" bIns="45720" rtlCol="0" anchor="t" anchorCtr="0">
            <a:noAutofit/>
          </a:bodyPr>
          <a:lstStyle>
            <a:lvl1pPr marL="228600" indent="-228600" algn="l" defTabSz="914400" rtl="0" eaLnBrk="1" latinLnBrk="0" hangingPunct="1">
              <a:lnSpc>
                <a:spcPct val="90000"/>
              </a:lnSpc>
              <a:spcBef>
                <a:spcPts val="1000"/>
              </a:spcBef>
              <a:spcAft>
                <a:spcPts val="1800"/>
              </a:spcAft>
              <a:buFont typeface="Arial" panose="020B0604020202020204" pitchFamily="34" charset="0"/>
              <a:buChar char="•"/>
              <a:defRPr sz="20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sz="1800" dirty="0" err="1"/>
              <a:t>Modelos</a:t>
            </a:r>
            <a:r>
              <a:rPr lang="en-US" sz="1800" dirty="0"/>
              <a:t> </a:t>
            </a:r>
            <a:r>
              <a:rPr lang="en-US" sz="1800" dirty="0" err="1"/>
              <a:t>demográficos</a:t>
            </a:r>
            <a:r>
              <a:rPr lang="en-US" sz="1800" dirty="0"/>
              <a:t> (Euler–Lotka — Euler, Myers, Smith rebound e Demographic invariant) com bootstrap </a:t>
            </a:r>
            <a:r>
              <a:rPr lang="en-US" sz="1800" dirty="0" err="1"/>
              <a:t>paramétrico</a:t>
            </a:r>
            <a:r>
              <a:rPr lang="en-US" sz="1800" dirty="0"/>
              <a:t> para </a:t>
            </a:r>
            <a:r>
              <a:rPr lang="en-US" sz="1800" dirty="0" err="1"/>
              <a:t>incorporar</a:t>
            </a:r>
            <a:r>
              <a:rPr lang="en-US" sz="1800" dirty="0"/>
              <a:t> a </a:t>
            </a:r>
            <a:r>
              <a:rPr lang="en-US" sz="1800" dirty="0" err="1"/>
              <a:t>variabilidade</a:t>
            </a:r>
            <a:r>
              <a:rPr lang="en-US" sz="1800" dirty="0"/>
              <a:t>.</a:t>
            </a:r>
          </a:p>
          <a:p>
            <a:pPr lvl="0"/>
            <a:r>
              <a:rPr lang="en-US" sz="1800" dirty="0"/>
              <a:t>Baixa </a:t>
            </a:r>
            <a:r>
              <a:rPr lang="en-US" sz="1800" dirty="0" err="1"/>
              <a:t>resiliência</a:t>
            </a:r>
            <a:r>
              <a:rPr lang="en-US" sz="1800" dirty="0"/>
              <a:t>: </a:t>
            </a:r>
            <a:r>
              <a:rPr lang="en-US" sz="1800" dirty="0" err="1"/>
              <a:t>cenário</a:t>
            </a:r>
            <a:r>
              <a:rPr lang="en-US" sz="1800" dirty="0"/>
              <a:t> </a:t>
            </a:r>
            <a:r>
              <a:rPr lang="en-US" sz="1800" dirty="0" err="1"/>
              <a:t>pessimista</a:t>
            </a:r>
            <a:r>
              <a:rPr lang="en-US" sz="1800" dirty="0"/>
              <a:t>, </a:t>
            </a:r>
            <a:r>
              <a:rPr lang="en-US" sz="1800" dirty="0" err="1"/>
              <a:t>reduzindo</a:t>
            </a:r>
            <a:r>
              <a:rPr lang="en-US" sz="1800" dirty="0"/>
              <a:t> </a:t>
            </a:r>
            <a:r>
              <a:rPr lang="en-US" sz="1800" dirty="0" err="1"/>
              <a:t>em</a:t>
            </a:r>
            <a:r>
              <a:rPr lang="en-US" sz="1800" dirty="0"/>
              <a:t> 0,2 </a:t>
            </a:r>
            <a:r>
              <a:rPr lang="en-US" sz="1800" dirty="0" err="1"/>
              <a:t>os</a:t>
            </a:r>
            <a:r>
              <a:rPr lang="en-US" sz="1800" dirty="0"/>
              <a:t> </a:t>
            </a:r>
            <a:r>
              <a:rPr lang="en-US" sz="1800" dirty="0" err="1"/>
              <a:t>valores</a:t>
            </a:r>
            <a:r>
              <a:rPr lang="en-US" sz="1800" dirty="0"/>
              <a:t> de r </a:t>
            </a:r>
            <a:r>
              <a:rPr lang="en-US" sz="1800" dirty="0" err="1"/>
              <a:t>estimados</a:t>
            </a:r>
            <a:r>
              <a:rPr lang="en-US" sz="1800" dirty="0"/>
              <a:t> </a:t>
            </a:r>
            <a:r>
              <a:rPr lang="en-US" sz="1800" dirty="0" err="1"/>
              <a:t>pelos</a:t>
            </a:r>
            <a:r>
              <a:rPr lang="en-US" sz="1800" dirty="0"/>
              <a:t> </a:t>
            </a:r>
            <a:r>
              <a:rPr lang="en-US" sz="1800" dirty="0" err="1"/>
              <a:t>modelos</a:t>
            </a:r>
            <a:r>
              <a:rPr lang="en-US" sz="1800" dirty="0"/>
              <a:t>.</a:t>
            </a:r>
          </a:p>
          <a:p>
            <a:pPr lvl="0"/>
            <a:r>
              <a:rPr lang="en-US" sz="1800" dirty="0"/>
              <a:t>Alta </a:t>
            </a:r>
            <a:r>
              <a:rPr lang="en-US" sz="1800" dirty="0" err="1"/>
              <a:t>resiliência</a:t>
            </a:r>
            <a:r>
              <a:rPr lang="en-US" sz="1800" dirty="0"/>
              <a:t>: </a:t>
            </a:r>
            <a:r>
              <a:rPr lang="en-US" sz="1800" dirty="0" err="1"/>
              <a:t>cenário</a:t>
            </a:r>
            <a:r>
              <a:rPr lang="en-US" sz="1800" dirty="0"/>
              <a:t> </a:t>
            </a:r>
            <a:r>
              <a:rPr lang="en-US" sz="1800" dirty="0" err="1"/>
              <a:t>otimista</a:t>
            </a:r>
            <a:r>
              <a:rPr lang="en-US" sz="1800" dirty="0"/>
              <a:t>, </a:t>
            </a:r>
            <a:r>
              <a:rPr lang="en-US" sz="1800" dirty="0" err="1"/>
              <a:t>aumentando</a:t>
            </a:r>
            <a:r>
              <a:rPr lang="en-US" sz="1800" dirty="0"/>
              <a:t> </a:t>
            </a:r>
            <a:r>
              <a:rPr lang="en-US" sz="1800" dirty="0" err="1"/>
              <a:t>em</a:t>
            </a:r>
            <a:r>
              <a:rPr lang="en-US" sz="1800" dirty="0"/>
              <a:t> 0,2 </a:t>
            </a:r>
            <a:r>
              <a:rPr lang="en-US" sz="1800" dirty="0" err="1"/>
              <a:t>os</a:t>
            </a:r>
            <a:r>
              <a:rPr lang="en-US" sz="1800" dirty="0"/>
              <a:t> </a:t>
            </a:r>
            <a:r>
              <a:rPr lang="en-US" sz="1800" dirty="0" err="1"/>
              <a:t>valores</a:t>
            </a:r>
            <a:r>
              <a:rPr lang="en-US" sz="1800" dirty="0"/>
              <a:t> de r </a:t>
            </a:r>
            <a:r>
              <a:rPr lang="en-US" sz="1800" dirty="0" err="1"/>
              <a:t>estimados</a:t>
            </a:r>
            <a:r>
              <a:rPr lang="en-US" sz="1800" dirty="0"/>
              <a:t> </a:t>
            </a:r>
            <a:r>
              <a:rPr lang="en-US" sz="1800" dirty="0" err="1"/>
              <a:t>pelos</a:t>
            </a:r>
            <a:r>
              <a:rPr lang="en-US" sz="1800" dirty="0"/>
              <a:t> </a:t>
            </a:r>
            <a:r>
              <a:rPr lang="en-US" sz="1800" dirty="0" err="1"/>
              <a:t>modelos</a:t>
            </a:r>
            <a:r>
              <a:rPr lang="en-US" sz="1800" dirty="0"/>
              <a:t>.</a:t>
            </a:r>
          </a:p>
          <a:p>
            <a:pPr lvl="0"/>
            <a:r>
              <a:rPr lang="en-US" sz="1800" dirty="0" err="1"/>
              <a:t>Não</a:t>
            </a:r>
            <a:r>
              <a:rPr lang="en-US" sz="1800" dirty="0"/>
              <a:t> </a:t>
            </a:r>
            <a:r>
              <a:rPr lang="en-US" sz="1800" dirty="0" err="1"/>
              <a:t>informativa</a:t>
            </a:r>
            <a:r>
              <a:rPr lang="en-US" sz="1800" dirty="0"/>
              <a:t>: </a:t>
            </a:r>
            <a:r>
              <a:rPr lang="en-US" sz="1800" dirty="0" err="1"/>
              <a:t>ausência</a:t>
            </a:r>
            <a:r>
              <a:rPr lang="en-US" sz="1800" dirty="0"/>
              <a:t> de </a:t>
            </a:r>
            <a:r>
              <a:rPr lang="en-US" sz="1800" dirty="0" err="1"/>
              <a:t>informação</a:t>
            </a:r>
            <a:r>
              <a:rPr lang="en-US" sz="1800" dirty="0"/>
              <a:t> </a:t>
            </a:r>
            <a:r>
              <a:rPr lang="en-US" sz="1800" dirty="0" err="1"/>
              <a:t>prévia</a:t>
            </a:r>
            <a:r>
              <a:rPr lang="en-US" sz="1800" dirty="0"/>
              <a:t> </a:t>
            </a:r>
            <a:r>
              <a:rPr lang="en-US" sz="1800" dirty="0" err="1"/>
              <a:t>sobre</a:t>
            </a:r>
            <a:r>
              <a:rPr lang="en-US" sz="1800" dirty="0"/>
              <a:t> r, </a:t>
            </a:r>
            <a:r>
              <a:rPr lang="en-US" sz="1800" dirty="0" err="1"/>
              <a:t>considerando</a:t>
            </a:r>
            <a:r>
              <a:rPr lang="en-US" sz="1800" dirty="0"/>
              <a:t> </a:t>
            </a:r>
            <a:r>
              <a:rPr lang="en-US" sz="1800" dirty="0" err="1"/>
              <a:t>uma</a:t>
            </a:r>
            <a:r>
              <a:rPr lang="en-US" sz="1800" dirty="0"/>
              <a:t> </a:t>
            </a:r>
            <a:r>
              <a:rPr lang="en-US" sz="1800" dirty="0" err="1"/>
              <a:t>distribuição</a:t>
            </a:r>
            <a:r>
              <a:rPr lang="en-US" sz="1800" dirty="0"/>
              <a:t> </a:t>
            </a:r>
            <a:r>
              <a:rPr lang="en-US" sz="1800" dirty="0" err="1"/>
              <a:t>uniforme</a:t>
            </a:r>
            <a:r>
              <a:rPr lang="en-US" sz="1800" dirty="0"/>
              <a:t> entre 0,1 e 1,5.</a:t>
            </a:r>
          </a:p>
        </p:txBody>
      </p:sp>
      <p:sp>
        <p:nvSpPr>
          <p:cNvPr id="10" name="Espaço Reservado para Conteúdo 9">
            <a:extLst>
              <a:ext uri="{FF2B5EF4-FFF2-40B4-BE49-F238E27FC236}">
                <a16:creationId xmlns:a16="http://schemas.microsoft.com/office/drawing/2014/main" id="{699311F5-F2F5-C728-5B17-49F0EA171384}"/>
              </a:ext>
            </a:extLst>
          </p:cNvPr>
          <p:cNvSpPr>
            <a:spLocks noGrp="1"/>
          </p:cNvSpPr>
          <p:nvPr>
            <p:ph idx="1"/>
          </p:nvPr>
        </p:nvSpPr>
        <p:spPr>
          <a:xfrm>
            <a:off x="4837344" y="3778985"/>
            <a:ext cx="6055970" cy="2759927"/>
          </a:xfrm>
        </p:spPr>
        <p:txBody>
          <a:bodyPr/>
          <a:lstStyle/>
          <a:p>
            <a:pPr lvl="0"/>
            <a:r>
              <a:rPr lang="en-US" dirty="0"/>
              <a:t>NN–CMSY++ e </a:t>
            </a:r>
            <a:r>
              <a:rPr lang="en-US" dirty="0" err="1"/>
              <a:t>zBRT</a:t>
            </a:r>
            <a:r>
              <a:rPr lang="en-US" dirty="0"/>
              <a:t>: B/K </a:t>
            </a:r>
            <a:r>
              <a:rPr lang="en-US" dirty="0" err="1"/>
              <a:t>inferido</a:t>
            </a:r>
            <a:r>
              <a:rPr lang="en-US" dirty="0"/>
              <a:t> a </a:t>
            </a:r>
            <a:r>
              <a:rPr lang="en-US" dirty="0" err="1"/>
              <a:t>partir</a:t>
            </a:r>
            <a:r>
              <a:rPr lang="en-US" dirty="0"/>
              <a:t> da </a:t>
            </a:r>
            <a:r>
              <a:rPr lang="en-US" dirty="0" err="1"/>
              <a:t>dinâmica</a:t>
            </a:r>
            <a:r>
              <a:rPr lang="en-US" dirty="0"/>
              <a:t> da </a:t>
            </a:r>
            <a:r>
              <a:rPr lang="en-US" dirty="0" err="1"/>
              <a:t>série</a:t>
            </a:r>
            <a:r>
              <a:rPr lang="en-US" dirty="0"/>
              <a:t> </a:t>
            </a:r>
            <a:r>
              <a:rPr lang="en-US" dirty="0" err="1"/>
              <a:t>histórica</a:t>
            </a:r>
            <a:r>
              <a:rPr lang="en-US" dirty="0"/>
              <a:t> de </a:t>
            </a:r>
            <a:r>
              <a:rPr lang="en-US" dirty="0" err="1"/>
              <a:t>capturas</a:t>
            </a:r>
            <a:r>
              <a:rPr lang="en-US" dirty="0"/>
              <a:t>.</a:t>
            </a:r>
          </a:p>
          <a:p>
            <a:pPr lvl="0"/>
            <a:r>
              <a:rPr lang="en-US" dirty="0"/>
              <a:t>Target switching: </a:t>
            </a:r>
            <a:r>
              <a:rPr lang="en-US" dirty="0" err="1"/>
              <a:t>possível</a:t>
            </a:r>
            <a:r>
              <a:rPr lang="en-US" dirty="0"/>
              <a:t> </a:t>
            </a:r>
            <a:r>
              <a:rPr lang="en-US" dirty="0" err="1"/>
              <a:t>redução</a:t>
            </a:r>
            <a:r>
              <a:rPr lang="en-US" dirty="0"/>
              <a:t> da </a:t>
            </a:r>
            <a:r>
              <a:rPr lang="en-US" dirty="0" err="1"/>
              <a:t>captura</a:t>
            </a:r>
            <a:r>
              <a:rPr lang="en-US" dirty="0"/>
              <a:t> </a:t>
            </a:r>
            <a:r>
              <a:rPr lang="en-US" dirty="0" err="1"/>
              <a:t>devido</a:t>
            </a:r>
            <a:r>
              <a:rPr lang="en-US" dirty="0"/>
              <a:t> à </a:t>
            </a:r>
            <a:r>
              <a:rPr lang="en-US" dirty="0" err="1"/>
              <a:t>mudança</a:t>
            </a:r>
            <a:r>
              <a:rPr lang="en-US" dirty="0"/>
              <a:t> de </a:t>
            </a:r>
            <a:r>
              <a:rPr lang="en-US" dirty="0" err="1"/>
              <a:t>alvo</a:t>
            </a:r>
            <a:r>
              <a:rPr lang="en-US" dirty="0"/>
              <a:t>/</a:t>
            </a:r>
            <a:r>
              <a:rPr lang="en-US" dirty="0" err="1"/>
              <a:t>capturabilidade</a:t>
            </a:r>
            <a:r>
              <a:rPr lang="en-US" dirty="0"/>
              <a:t>. B/K = 0,20–0,70.</a:t>
            </a:r>
          </a:p>
          <a:p>
            <a:pPr lvl="0"/>
            <a:r>
              <a:rPr lang="en-US" dirty="0" err="1"/>
              <a:t>Não</a:t>
            </a:r>
            <a:r>
              <a:rPr lang="en-US" dirty="0"/>
              <a:t> </a:t>
            </a:r>
            <a:r>
              <a:rPr lang="en-US" dirty="0" err="1"/>
              <a:t>informativa</a:t>
            </a:r>
            <a:r>
              <a:rPr lang="en-US" dirty="0"/>
              <a:t>: </a:t>
            </a:r>
            <a:r>
              <a:rPr lang="en-US" dirty="0" err="1"/>
              <a:t>ausência</a:t>
            </a:r>
            <a:r>
              <a:rPr lang="en-US" dirty="0"/>
              <a:t> de </a:t>
            </a:r>
            <a:r>
              <a:rPr lang="en-US" dirty="0" err="1"/>
              <a:t>informação</a:t>
            </a:r>
            <a:r>
              <a:rPr lang="en-US" dirty="0"/>
              <a:t> </a:t>
            </a:r>
            <a:r>
              <a:rPr lang="en-US" dirty="0" err="1"/>
              <a:t>prévia</a:t>
            </a:r>
            <a:r>
              <a:rPr lang="en-US" dirty="0"/>
              <a:t> </a:t>
            </a:r>
            <a:r>
              <a:rPr lang="en-US" dirty="0" err="1"/>
              <a:t>sobre</a:t>
            </a:r>
            <a:r>
              <a:rPr lang="en-US" dirty="0"/>
              <a:t> a </a:t>
            </a:r>
            <a:r>
              <a:rPr lang="en-US" dirty="0" err="1"/>
              <a:t>depleção</a:t>
            </a:r>
            <a:r>
              <a:rPr lang="en-US" dirty="0"/>
              <a:t> final. B/K = 0,01–1,00.</a:t>
            </a:r>
          </a:p>
          <a:p>
            <a:endParaRPr lang="en-US" dirty="0"/>
          </a:p>
        </p:txBody>
      </p:sp>
      <p:sp>
        <p:nvSpPr>
          <p:cNvPr id="13" name="Chave Esquerda 12">
            <a:extLst>
              <a:ext uri="{FF2B5EF4-FFF2-40B4-BE49-F238E27FC236}">
                <a16:creationId xmlns:a16="http://schemas.microsoft.com/office/drawing/2014/main" id="{33CCB12B-C801-D8B6-86C7-E04A79987A45}"/>
              </a:ext>
            </a:extLst>
          </p:cNvPr>
          <p:cNvSpPr/>
          <p:nvPr/>
        </p:nvSpPr>
        <p:spPr>
          <a:xfrm>
            <a:off x="4148254" y="319088"/>
            <a:ext cx="178419" cy="3360813"/>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Chave Esquerda 14">
            <a:extLst>
              <a:ext uri="{FF2B5EF4-FFF2-40B4-BE49-F238E27FC236}">
                <a16:creationId xmlns:a16="http://schemas.microsoft.com/office/drawing/2014/main" id="{A654276D-23A2-FFF8-B2AA-D459931A1CB2}"/>
              </a:ext>
            </a:extLst>
          </p:cNvPr>
          <p:cNvSpPr/>
          <p:nvPr/>
        </p:nvSpPr>
        <p:spPr>
          <a:xfrm>
            <a:off x="4603169" y="3778985"/>
            <a:ext cx="234175" cy="2759927"/>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CaixaDeTexto 16">
            <a:extLst>
              <a:ext uri="{FF2B5EF4-FFF2-40B4-BE49-F238E27FC236}">
                <a16:creationId xmlns:a16="http://schemas.microsoft.com/office/drawing/2014/main" id="{350066AB-AB2B-BEE3-6A11-D7C5902D3FF3}"/>
              </a:ext>
            </a:extLst>
          </p:cNvPr>
          <p:cNvSpPr txBox="1"/>
          <p:nvPr/>
        </p:nvSpPr>
        <p:spPr>
          <a:xfrm>
            <a:off x="805676" y="4928115"/>
            <a:ext cx="6094140" cy="461665"/>
          </a:xfrm>
          <a:prstGeom prst="rect">
            <a:avLst/>
          </a:prstGeom>
          <a:noFill/>
        </p:spPr>
        <p:txBody>
          <a:bodyPr wrap="square">
            <a:spAutoFit/>
          </a:bodyPr>
          <a:lstStyle/>
          <a:p>
            <a:r>
              <a:rPr lang="en-US" sz="2400" b="1" dirty="0" err="1">
                <a:solidFill>
                  <a:schemeClr val="accent4">
                    <a:lumMod val="75000"/>
                  </a:schemeClr>
                </a:solidFill>
              </a:rPr>
              <a:t>Bt</a:t>
            </a:r>
            <a:r>
              <a:rPr lang="en-US" sz="2400" b="1" dirty="0">
                <a:solidFill>
                  <a:schemeClr val="accent4">
                    <a:lumMod val="75000"/>
                  </a:schemeClr>
                </a:solidFill>
              </a:rPr>
              <a:t>/k </a:t>
            </a:r>
            <a:r>
              <a:rPr lang="en-US" sz="2400" b="1" dirty="0" err="1">
                <a:solidFill>
                  <a:schemeClr val="accent4">
                    <a:lumMod val="75000"/>
                  </a:schemeClr>
                </a:solidFill>
              </a:rPr>
              <a:t>Depleção</a:t>
            </a:r>
            <a:r>
              <a:rPr lang="en-US" sz="2400" b="1" dirty="0">
                <a:solidFill>
                  <a:schemeClr val="accent4">
                    <a:lumMod val="75000"/>
                  </a:schemeClr>
                </a:solidFill>
              </a:rPr>
              <a:t> de </a:t>
            </a:r>
            <a:r>
              <a:rPr lang="en-US" sz="2400" b="1" dirty="0" err="1">
                <a:solidFill>
                  <a:schemeClr val="accent4">
                    <a:lumMod val="75000"/>
                  </a:schemeClr>
                </a:solidFill>
              </a:rPr>
              <a:t>biomassa</a:t>
            </a:r>
            <a:endParaRPr lang="en-US" sz="2400" b="1" dirty="0">
              <a:solidFill>
                <a:schemeClr val="accent4">
                  <a:lumMod val="75000"/>
                </a:schemeClr>
              </a:solidFill>
            </a:endParaRPr>
          </a:p>
        </p:txBody>
      </p:sp>
    </p:spTree>
    <p:extLst>
      <p:ext uri="{BB962C8B-B14F-4D97-AF65-F5344CB8AC3E}">
        <p14:creationId xmlns:p14="http://schemas.microsoft.com/office/powerpoint/2010/main" val="3109084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3D05B-8E74-5560-99AA-CCAF58C0E9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067DFE-5DC1-2444-532F-27F3E63BC962}"/>
              </a:ext>
            </a:extLst>
          </p:cNvPr>
          <p:cNvSpPr>
            <a:spLocks noGrp="1"/>
          </p:cNvSpPr>
          <p:nvPr>
            <p:ph type="title"/>
          </p:nvPr>
        </p:nvSpPr>
        <p:spPr>
          <a:xfrm>
            <a:off x="777241" y="365761"/>
            <a:ext cx="4535423" cy="621792"/>
          </a:xfrm>
        </p:spPr>
        <p:txBody>
          <a:bodyPr>
            <a:normAutofit/>
          </a:bodyPr>
          <a:lstStyle/>
          <a:p>
            <a:r>
              <a:rPr lang="pt-BR" sz="3600" dirty="0"/>
              <a:t>Série base de captura</a:t>
            </a:r>
            <a:endParaRPr lang="en-US" sz="3600" dirty="0"/>
          </a:p>
        </p:txBody>
      </p:sp>
      <p:sp>
        <p:nvSpPr>
          <p:cNvPr id="5" name="Slide Number Placeholder 4">
            <a:extLst>
              <a:ext uri="{FF2B5EF4-FFF2-40B4-BE49-F238E27FC236}">
                <a16:creationId xmlns:a16="http://schemas.microsoft.com/office/drawing/2014/main" id="{DC34DAEE-C396-BDA8-2E57-CFAD4F56CEBE}"/>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5</a:t>
            </a:fld>
            <a:endParaRPr lang="en-US" dirty="0"/>
          </a:p>
        </p:txBody>
      </p:sp>
      <p:pic>
        <p:nvPicPr>
          <p:cNvPr id="15" name="Imagem 14">
            <a:extLst>
              <a:ext uri="{FF2B5EF4-FFF2-40B4-BE49-F238E27FC236}">
                <a16:creationId xmlns:a16="http://schemas.microsoft.com/office/drawing/2014/main" id="{1EDD2643-D6AB-DED3-51C7-35FF8426DF4A}"/>
              </a:ext>
            </a:extLst>
          </p:cNvPr>
          <p:cNvPicPr>
            <a:picLocks noChangeAspect="1"/>
          </p:cNvPicPr>
          <p:nvPr/>
        </p:nvPicPr>
        <p:blipFill>
          <a:blip r:embed="rId2"/>
          <a:stretch>
            <a:fillRect/>
          </a:stretch>
        </p:blipFill>
        <p:spPr>
          <a:xfrm>
            <a:off x="1773936" y="1412294"/>
            <a:ext cx="7379208" cy="4631439"/>
          </a:xfrm>
          <a:prstGeom prst="rect">
            <a:avLst/>
          </a:prstGeom>
        </p:spPr>
      </p:pic>
    </p:spTree>
    <p:extLst>
      <p:ext uri="{BB962C8B-B14F-4D97-AF65-F5344CB8AC3E}">
        <p14:creationId xmlns:p14="http://schemas.microsoft.com/office/powerpoint/2010/main" val="727180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CE783-B53C-6ADC-2CE8-B7AF925C50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2966E6-3E6C-E866-1426-EAA7AF72BCA4}"/>
              </a:ext>
            </a:extLst>
          </p:cNvPr>
          <p:cNvSpPr>
            <a:spLocks noGrp="1"/>
          </p:cNvSpPr>
          <p:nvPr>
            <p:ph type="title"/>
          </p:nvPr>
        </p:nvSpPr>
        <p:spPr>
          <a:xfrm>
            <a:off x="667512" y="210313"/>
            <a:ext cx="3163823" cy="621792"/>
          </a:xfrm>
        </p:spPr>
        <p:txBody>
          <a:bodyPr>
            <a:normAutofit/>
          </a:bodyPr>
          <a:lstStyle/>
          <a:p>
            <a:r>
              <a:rPr lang="pt-BR" sz="3600" dirty="0"/>
              <a:t>História de vida</a:t>
            </a:r>
            <a:endParaRPr lang="en-US" sz="3600" dirty="0"/>
          </a:p>
        </p:txBody>
      </p:sp>
      <p:sp>
        <p:nvSpPr>
          <p:cNvPr id="5" name="Slide Number Placeholder 4">
            <a:extLst>
              <a:ext uri="{FF2B5EF4-FFF2-40B4-BE49-F238E27FC236}">
                <a16:creationId xmlns:a16="http://schemas.microsoft.com/office/drawing/2014/main" id="{EAB25B50-22DF-C3DF-2971-16DB2E88171D}"/>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6</a:t>
            </a:fld>
            <a:endParaRPr lang="en-US" dirty="0"/>
          </a:p>
        </p:txBody>
      </p:sp>
      <p:graphicFrame>
        <p:nvGraphicFramePr>
          <p:cNvPr id="6" name="Tabela 5">
            <a:extLst>
              <a:ext uri="{FF2B5EF4-FFF2-40B4-BE49-F238E27FC236}">
                <a16:creationId xmlns:a16="http://schemas.microsoft.com/office/drawing/2014/main" id="{B446F8E8-023A-9C28-C8CD-429BC3DF103F}"/>
              </a:ext>
            </a:extLst>
          </p:cNvPr>
          <p:cNvGraphicFramePr>
            <a:graphicFrameLocks noGrp="1"/>
          </p:cNvGraphicFramePr>
          <p:nvPr>
            <p:extLst>
              <p:ext uri="{D42A27DB-BD31-4B8C-83A1-F6EECF244321}">
                <p14:modId xmlns:p14="http://schemas.microsoft.com/office/powerpoint/2010/main" val="3516847052"/>
              </p:ext>
            </p:extLst>
          </p:nvPr>
        </p:nvGraphicFramePr>
        <p:xfrm>
          <a:off x="0" y="920370"/>
          <a:ext cx="12191999" cy="13151683"/>
        </p:xfrm>
        <a:graphic>
          <a:graphicData uri="http://schemas.openxmlformats.org/drawingml/2006/table">
            <a:tbl>
              <a:tblPr/>
              <a:tblGrid>
                <a:gridCol w="731519">
                  <a:extLst>
                    <a:ext uri="{9D8B030D-6E8A-4147-A177-3AD203B41FA5}">
                      <a16:colId xmlns:a16="http://schemas.microsoft.com/office/drawing/2014/main" val="1974832778"/>
                    </a:ext>
                  </a:extLst>
                </a:gridCol>
                <a:gridCol w="2103119">
                  <a:extLst>
                    <a:ext uri="{9D8B030D-6E8A-4147-A177-3AD203B41FA5}">
                      <a16:colId xmlns:a16="http://schemas.microsoft.com/office/drawing/2014/main" val="335691708"/>
                    </a:ext>
                  </a:extLst>
                </a:gridCol>
                <a:gridCol w="1005839">
                  <a:extLst>
                    <a:ext uri="{9D8B030D-6E8A-4147-A177-3AD203B41FA5}">
                      <a16:colId xmlns:a16="http://schemas.microsoft.com/office/drawing/2014/main" val="124389573"/>
                    </a:ext>
                  </a:extLst>
                </a:gridCol>
                <a:gridCol w="548640">
                  <a:extLst>
                    <a:ext uri="{9D8B030D-6E8A-4147-A177-3AD203B41FA5}">
                      <a16:colId xmlns:a16="http://schemas.microsoft.com/office/drawing/2014/main" val="3635318658"/>
                    </a:ext>
                  </a:extLst>
                </a:gridCol>
                <a:gridCol w="548640">
                  <a:extLst>
                    <a:ext uri="{9D8B030D-6E8A-4147-A177-3AD203B41FA5}">
                      <a16:colId xmlns:a16="http://schemas.microsoft.com/office/drawing/2014/main" val="1008162038"/>
                    </a:ext>
                  </a:extLst>
                </a:gridCol>
                <a:gridCol w="1371601">
                  <a:extLst>
                    <a:ext uri="{9D8B030D-6E8A-4147-A177-3AD203B41FA5}">
                      <a16:colId xmlns:a16="http://schemas.microsoft.com/office/drawing/2014/main" val="1493366808"/>
                    </a:ext>
                  </a:extLst>
                </a:gridCol>
                <a:gridCol w="2011681">
                  <a:extLst>
                    <a:ext uri="{9D8B030D-6E8A-4147-A177-3AD203B41FA5}">
                      <a16:colId xmlns:a16="http://schemas.microsoft.com/office/drawing/2014/main" val="517670388"/>
                    </a:ext>
                  </a:extLst>
                </a:gridCol>
                <a:gridCol w="403859">
                  <a:extLst>
                    <a:ext uri="{9D8B030D-6E8A-4147-A177-3AD203B41FA5}">
                      <a16:colId xmlns:a16="http://schemas.microsoft.com/office/drawing/2014/main" val="416395309"/>
                    </a:ext>
                  </a:extLst>
                </a:gridCol>
                <a:gridCol w="403859">
                  <a:extLst>
                    <a:ext uri="{9D8B030D-6E8A-4147-A177-3AD203B41FA5}">
                      <a16:colId xmlns:a16="http://schemas.microsoft.com/office/drawing/2014/main" val="2563390055"/>
                    </a:ext>
                  </a:extLst>
                </a:gridCol>
                <a:gridCol w="502920">
                  <a:extLst>
                    <a:ext uri="{9D8B030D-6E8A-4147-A177-3AD203B41FA5}">
                      <a16:colId xmlns:a16="http://schemas.microsoft.com/office/drawing/2014/main" val="1940746095"/>
                    </a:ext>
                  </a:extLst>
                </a:gridCol>
                <a:gridCol w="518159">
                  <a:extLst>
                    <a:ext uri="{9D8B030D-6E8A-4147-A177-3AD203B41FA5}">
                      <a16:colId xmlns:a16="http://schemas.microsoft.com/office/drawing/2014/main" val="2891655734"/>
                    </a:ext>
                  </a:extLst>
                </a:gridCol>
                <a:gridCol w="579122">
                  <a:extLst>
                    <a:ext uri="{9D8B030D-6E8A-4147-A177-3AD203B41FA5}">
                      <a16:colId xmlns:a16="http://schemas.microsoft.com/office/drawing/2014/main" val="1233983699"/>
                    </a:ext>
                  </a:extLst>
                </a:gridCol>
                <a:gridCol w="533401">
                  <a:extLst>
                    <a:ext uri="{9D8B030D-6E8A-4147-A177-3AD203B41FA5}">
                      <a16:colId xmlns:a16="http://schemas.microsoft.com/office/drawing/2014/main" val="3384819574"/>
                    </a:ext>
                  </a:extLst>
                </a:gridCol>
                <a:gridCol w="381000">
                  <a:extLst>
                    <a:ext uri="{9D8B030D-6E8A-4147-A177-3AD203B41FA5}">
                      <a16:colId xmlns:a16="http://schemas.microsoft.com/office/drawing/2014/main" val="2478991054"/>
                    </a:ext>
                  </a:extLst>
                </a:gridCol>
                <a:gridCol w="548640">
                  <a:extLst>
                    <a:ext uri="{9D8B030D-6E8A-4147-A177-3AD203B41FA5}">
                      <a16:colId xmlns:a16="http://schemas.microsoft.com/office/drawing/2014/main" val="2603730486"/>
                    </a:ext>
                  </a:extLst>
                </a:gridCol>
              </a:tblGrid>
              <a:tr h="92434">
                <a:tc>
                  <a:txBody>
                    <a:bodyPr/>
                    <a:lstStyle/>
                    <a:p>
                      <a:pPr algn="ctr" fontAlgn="ctr">
                        <a:buNone/>
                      </a:pPr>
                      <a:r>
                        <a:rPr lang="en-US" sz="1050" b="1" i="0" u="none" strike="noStrike">
                          <a:solidFill>
                            <a:srgbClr val="FFFFFF"/>
                          </a:solidFill>
                          <a:effectLst/>
                          <a:latin typeface="Carlito"/>
                        </a:rPr>
                        <a:t>fonte</a:t>
                      </a:r>
                    </a:p>
                  </a:txBody>
                  <a:tcPr marL="2311" marR="2311" marT="2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algn="ctr" fontAlgn="ctr">
                        <a:buNone/>
                      </a:pPr>
                      <a:r>
                        <a:rPr lang="en-US" sz="1050" b="1" i="0" u="none" strike="noStrike">
                          <a:solidFill>
                            <a:srgbClr val="FFFFFF"/>
                          </a:solidFill>
                          <a:effectLst/>
                          <a:latin typeface="Carlito"/>
                        </a:rPr>
                        <a:t>referencia_completa</a:t>
                      </a:r>
                    </a:p>
                  </a:txBody>
                  <a:tcPr marL="2311" marR="2311" marT="2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algn="ctr" fontAlgn="ctr">
                        <a:buNone/>
                      </a:pPr>
                      <a:r>
                        <a:rPr lang="en-US" sz="1050" b="1" i="0" u="none" strike="noStrike">
                          <a:solidFill>
                            <a:srgbClr val="FFFFFF"/>
                          </a:solidFill>
                          <a:effectLst/>
                          <a:latin typeface="Carlito"/>
                        </a:rPr>
                        <a:t>tipo_publicacao</a:t>
                      </a:r>
                    </a:p>
                  </a:txBody>
                  <a:tcPr marL="2311" marR="2311" marT="2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algn="ctr" fontAlgn="ctr">
                        <a:buNone/>
                      </a:pPr>
                      <a:r>
                        <a:rPr lang="en-US" sz="1050" b="1" i="0" u="none" strike="noStrike">
                          <a:solidFill>
                            <a:srgbClr val="FFFFFF"/>
                          </a:solidFill>
                          <a:effectLst/>
                          <a:latin typeface="Carlito"/>
                        </a:rPr>
                        <a:t>periodo_amostragem</a:t>
                      </a:r>
                    </a:p>
                  </a:txBody>
                  <a:tcPr marL="2311" marR="2311" marT="2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algn="ctr" fontAlgn="ctr">
                        <a:buNone/>
                      </a:pPr>
                      <a:r>
                        <a:rPr lang="en-US" sz="1050" b="1" i="0" u="none" strike="noStrike">
                          <a:solidFill>
                            <a:srgbClr val="FFFFFF"/>
                          </a:solidFill>
                          <a:effectLst/>
                          <a:latin typeface="Carlito"/>
                        </a:rPr>
                        <a:t>n_amostral</a:t>
                      </a:r>
                    </a:p>
                  </a:txBody>
                  <a:tcPr marL="2311" marR="2311" marT="2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algn="ctr" fontAlgn="ctr">
                        <a:buNone/>
                      </a:pPr>
                      <a:r>
                        <a:rPr lang="en-US" sz="1050" b="1" i="0" u="none" strike="noStrike">
                          <a:solidFill>
                            <a:srgbClr val="FFFFFF"/>
                          </a:solidFill>
                          <a:effectLst/>
                          <a:latin typeface="Carlito"/>
                        </a:rPr>
                        <a:t>cobertura_espacial</a:t>
                      </a:r>
                    </a:p>
                  </a:txBody>
                  <a:tcPr marL="2311" marR="2311" marT="2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algn="ctr" fontAlgn="ctr">
                        <a:buNone/>
                      </a:pPr>
                      <a:r>
                        <a:rPr lang="en-US" sz="1050" b="1" i="0" u="none" strike="noStrike">
                          <a:solidFill>
                            <a:srgbClr val="FFFFFF"/>
                          </a:solidFill>
                          <a:effectLst/>
                          <a:latin typeface="Carlito"/>
                        </a:rPr>
                        <a:t>metodos_utilizados</a:t>
                      </a:r>
                    </a:p>
                  </a:txBody>
                  <a:tcPr marL="2311" marR="2311" marT="2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algn="ctr" fontAlgn="ctr">
                        <a:buNone/>
                      </a:pPr>
                      <a:r>
                        <a:rPr lang="en-US" sz="1050" b="1" i="0" u="none" strike="noStrike">
                          <a:solidFill>
                            <a:srgbClr val="FFFFFF"/>
                          </a:solidFill>
                          <a:effectLst/>
                          <a:latin typeface="Carlito"/>
                        </a:rPr>
                        <a:t>pont_publicacao</a:t>
                      </a:r>
                    </a:p>
                  </a:txBody>
                  <a:tcPr marL="2311" marR="2311" marT="2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algn="ctr" fontAlgn="ctr">
                        <a:buNone/>
                      </a:pPr>
                      <a:r>
                        <a:rPr lang="en-US" sz="1050" b="1" i="0" u="none" strike="noStrike">
                          <a:solidFill>
                            <a:srgbClr val="FFFFFF"/>
                          </a:solidFill>
                          <a:effectLst/>
                          <a:latin typeface="Carlito"/>
                        </a:rPr>
                        <a:t>pont_amostragem</a:t>
                      </a:r>
                    </a:p>
                  </a:txBody>
                  <a:tcPr marL="2311" marR="2311" marT="2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algn="ctr" fontAlgn="ctr">
                        <a:buNone/>
                      </a:pPr>
                      <a:r>
                        <a:rPr lang="en-US" sz="1050" b="1" i="0" u="none" strike="noStrike">
                          <a:solidFill>
                            <a:srgbClr val="FFFFFF"/>
                          </a:solidFill>
                          <a:effectLst/>
                          <a:latin typeface="Carlito"/>
                        </a:rPr>
                        <a:t>pont_cobertura_espacial</a:t>
                      </a:r>
                    </a:p>
                  </a:txBody>
                  <a:tcPr marL="2311" marR="2311" marT="2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algn="ctr" fontAlgn="ctr">
                        <a:buNone/>
                      </a:pPr>
                      <a:r>
                        <a:rPr lang="en-US" sz="1050" b="1" i="0" u="none" strike="noStrike">
                          <a:solidFill>
                            <a:srgbClr val="FFFFFF"/>
                          </a:solidFill>
                          <a:effectLst/>
                          <a:latin typeface="Carlito"/>
                        </a:rPr>
                        <a:t>pont_cobertura_temporal</a:t>
                      </a:r>
                    </a:p>
                  </a:txBody>
                  <a:tcPr marL="2311" marR="2311" marT="2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algn="ctr" fontAlgn="ctr">
                        <a:buNone/>
                      </a:pPr>
                      <a:r>
                        <a:rPr lang="en-US" sz="1050" b="1" i="0" u="none" strike="noStrike">
                          <a:solidFill>
                            <a:srgbClr val="FFFFFF"/>
                          </a:solidFill>
                          <a:effectLst/>
                          <a:latin typeface="Carlito"/>
                        </a:rPr>
                        <a:t>pont_robustez_metodologica</a:t>
                      </a:r>
                    </a:p>
                  </a:txBody>
                  <a:tcPr marL="2311" marR="2311" marT="2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algn="ctr" fontAlgn="ctr">
                        <a:buNone/>
                      </a:pPr>
                      <a:r>
                        <a:rPr lang="en-US" sz="1050" b="1" i="0" u="none" strike="noStrike">
                          <a:solidFill>
                            <a:srgbClr val="FFFFFF"/>
                          </a:solidFill>
                          <a:effectLst/>
                          <a:latin typeface="Carlito"/>
                        </a:rPr>
                        <a:t>pont_consistencia_interna</a:t>
                      </a:r>
                    </a:p>
                  </a:txBody>
                  <a:tcPr marL="2311" marR="2311" marT="2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algn="ctr" fontAlgn="ctr">
                        <a:buNone/>
                      </a:pPr>
                      <a:r>
                        <a:rPr lang="en-US" sz="1050" b="1" i="0" u="none" strike="noStrike">
                          <a:solidFill>
                            <a:srgbClr val="FFFFFF"/>
                          </a:solidFill>
                          <a:effectLst/>
                          <a:latin typeface="Carlito"/>
                        </a:rPr>
                        <a:t>pontuacao_media</a:t>
                      </a:r>
                    </a:p>
                  </a:txBody>
                  <a:tcPr marL="2311" marR="2311" marT="2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algn="ctr" fontAlgn="ctr">
                        <a:buNone/>
                      </a:pPr>
                      <a:r>
                        <a:rPr lang="en-US" sz="1050" b="1" i="0" u="none" strike="noStrike">
                          <a:solidFill>
                            <a:srgbClr val="FFFFFF"/>
                          </a:solidFill>
                          <a:effectLst/>
                          <a:latin typeface="Carlito"/>
                        </a:rPr>
                        <a:t>nivel_confiabilidade</a:t>
                      </a:r>
                    </a:p>
                  </a:txBody>
                  <a:tcPr marL="2311" marR="2311" marT="2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771760179"/>
                  </a:ext>
                </a:extLst>
              </a:tr>
              <a:tr h="263437">
                <a:tc>
                  <a:txBody>
                    <a:bodyPr/>
                    <a:lstStyle/>
                    <a:p>
                      <a:pPr algn="ctr" fontAlgn="t">
                        <a:buNone/>
                      </a:pPr>
                      <a:r>
                        <a:rPr lang="en-US" sz="1050" b="1" i="0" u="none" strike="noStrike">
                          <a:solidFill>
                            <a:srgbClr val="000000"/>
                          </a:solidFill>
                          <a:effectLst/>
                          <a:latin typeface="Carlito"/>
                        </a:rPr>
                        <a:t>Costa et al. (2020)</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Costa, S. et al. (2020). [artigo sobre estrutura de tamanhos e maturidade da cavala preta em desembarques industriais de Cabo Verde]. Periódico científico revisado por pares.</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Periódico revisado por pares</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2012-2018</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369 (284F + 85M)</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Barlavento (desembarques industriais)</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Ogiva de maturidade logística (L50/L95) por sexo, sobre amostra de desembarques industriais.</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5</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5</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Alta</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extLst>
                  <a:ext uri="{0D108BD9-81ED-4DB2-BD59-A6C34878D82A}">
                    <a16:rowId xmlns:a16="http://schemas.microsoft.com/office/drawing/2014/main" val="3627091963"/>
                  </a:ext>
                </a:extLst>
              </a:tr>
              <a:tr h="482968">
                <a:tc>
                  <a:txBody>
                    <a:bodyPr/>
                    <a:lstStyle/>
                    <a:p>
                      <a:pPr algn="ctr" fontAlgn="t">
                        <a:buNone/>
                      </a:pPr>
                      <a:r>
                        <a:rPr lang="en-US" sz="1050" b="1" i="0" u="none" strike="noStrike">
                          <a:solidFill>
                            <a:srgbClr val="000000"/>
                          </a:solidFill>
                          <a:effectLst/>
                          <a:latin typeface="Carlito"/>
                        </a:rPr>
                        <a:t>Jardim (1996/1999)</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Jardim, J.E. Contribuição para o estudo da pescaria de cavala preta (Decapterus macarellus) no Arquipélago de Cabo Verde no período de 1981 a 1992. In: Carvalho, E.M.; Morais, J.; Nascimento, J. (Eds.), Investigação e Gestão Halieuticas em Cabo Verde, INDP, pp.215-233.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Anais de reunião técnica (capítulo revisto, publ. 1999)</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1981-1994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1441 (maturidade)</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Mercados de Praia (Santiago, Sotavento) e Mindelo (São Vicente, Barlavento) — cobre os dois principais centros populacionais e as duas maiores sub-regiões do arquipélago.</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Crescimento: Bhattacharya + Stamatopoulos &amp; Caddy (1989). Mortalidade: M por Pauly E POR Tanaka (2 métodos cruzados); Z por Beverton&amp;Holt E POR Powell-Wetherall (2 métodos cruzados). Maturidade: ogiva logística.</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5</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Alta</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extLst>
                  <a:ext uri="{0D108BD9-81ED-4DB2-BD59-A6C34878D82A}">
                    <a16:rowId xmlns:a16="http://schemas.microsoft.com/office/drawing/2014/main" val="109932058"/>
                  </a:ext>
                </a:extLst>
              </a:tr>
              <a:tr h="395156">
                <a:tc>
                  <a:txBody>
                    <a:bodyPr/>
                    <a:lstStyle/>
                    <a:p>
                      <a:pPr algn="ctr" fontAlgn="t">
                        <a:buNone/>
                      </a:pPr>
                      <a:r>
                        <a:rPr lang="en-US" sz="1050" b="1" i="0" u="none" strike="noStrike">
                          <a:solidFill>
                            <a:srgbClr val="000000"/>
                          </a:solidFill>
                          <a:effectLst/>
                          <a:latin typeface="Carlito"/>
                        </a:rPr>
                        <a:t>Carvalho &amp; Caramelo (1996/1999)</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Carvalho, M.E.M.; Caramelo, A.M. Avaliação do estado da pescaria de cavala preta e do chicharro em Cabo Verde. In: Carvalho, E.M.; Morais, J.; Nascimento, J. (Eds.), Investigação e Gestão Halieuticas em Cabo Verde, INDP, pp.143-153.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Anais de reunião técnica (capítulo revisto, publ. 1999)</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1983-1995</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Não reportado explicitamente</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Dados agregados de TODO o arquipélago, combinando frota artesanal e industrial — a MELHOR cobertura espacial entre todas as fontes revisadas.</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Crescimento: ELEFAN/NORMSEP (Response Surface Analysis) + método de Shepherd. Mortalidade: M por Pauly; taxa de exploração pelo modelo de Jones.</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5</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3,67</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Média</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extLst>
                  <a:ext uri="{0D108BD9-81ED-4DB2-BD59-A6C34878D82A}">
                    <a16:rowId xmlns:a16="http://schemas.microsoft.com/office/drawing/2014/main" val="3079520781"/>
                  </a:ext>
                </a:extLst>
              </a:tr>
              <a:tr h="351250">
                <a:tc>
                  <a:txBody>
                    <a:bodyPr/>
                    <a:lstStyle/>
                    <a:p>
                      <a:pPr algn="ctr" fontAlgn="t">
                        <a:buNone/>
                      </a:pPr>
                      <a:r>
                        <a:rPr lang="en-US" sz="1050" b="1" i="0" u="none" strike="noStrike">
                          <a:solidFill>
                            <a:srgbClr val="000000"/>
                          </a:solidFill>
                          <a:effectLst/>
                          <a:latin typeface="Carlito"/>
                        </a:rPr>
                        <a:t>Santos (2018)</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Santos, [inicial]. (2018). [tese sobre biologia e dinâmica populacional da cavala preta em Cabo Verde]. Tese de licenciatura, [instituição não identificada nos metadados do documento].</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Tese de licenciatura</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2005-2018</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14006 (maior n da compilação)</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Barlavento — mercado de Mindelo com capturas de Sto Antão, S.Vicente, Sta Luzia, Branco/Raso e Sal (5 localidades dentro da mesma sub-região); não inclui Sotavento.</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Crescimento: Gulland &amp; Holt + inversão da VBGF, separado por sexo. Mortalidade: M por Tanaka E por Pauly (2 métodos cruzados); Z por curva de captura. Maturidade: ogiva por estádios macroscópicos (escala adaptada de sardinha, não específica para a espécie).</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5</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3,67</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Média</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extLst>
                  <a:ext uri="{0D108BD9-81ED-4DB2-BD59-A6C34878D82A}">
                    <a16:rowId xmlns:a16="http://schemas.microsoft.com/office/drawing/2014/main" val="1263379475"/>
                  </a:ext>
                </a:extLst>
              </a:tr>
              <a:tr h="439062">
                <a:tc>
                  <a:txBody>
                    <a:bodyPr/>
                    <a:lstStyle/>
                    <a:p>
                      <a:pPr algn="ctr" fontAlgn="t">
                        <a:buNone/>
                      </a:pPr>
                      <a:r>
                        <a:rPr lang="en-US" sz="1050" b="1" i="0" u="none" strike="noStrike">
                          <a:solidFill>
                            <a:srgbClr val="000000"/>
                          </a:solidFill>
                          <a:effectLst/>
                          <a:latin typeface="Carlito"/>
                        </a:rPr>
                        <a:t>da Cruz Delgado et al. (2024)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dirty="0">
                          <a:solidFill>
                            <a:srgbClr val="000000"/>
                          </a:solidFill>
                          <a:effectLst/>
                          <a:latin typeface="Carlito"/>
                        </a:rPr>
                        <a:t>da Cruz Delgado, [et al.] (2024). [</a:t>
                      </a:r>
                      <a:r>
                        <a:rPr lang="en-US" sz="1050" b="0" i="0" u="none" strike="noStrike" dirty="0" err="1">
                          <a:solidFill>
                            <a:srgbClr val="000000"/>
                          </a:solidFill>
                          <a:effectLst/>
                          <a:latin typeface="Carlito"/>
                        </a:rPr>
                        <a:t>artigo</a:t>
                      </a:r>
                      <a:r>
                        <a:rPr lang="en-US" sz="1050" b="0" i="0" u="none" strike="noStrike" dirty="0">
                          <a:solidFill>
                            <a:srgbClr val="000000"/>
                          </a:solidFill>
                          <a:effectLst/>
                          <a:latin typeface="Carlito"/>
                        </a:rPr>
                        <a:t> </a:t>
                      </a:r>
                      <a:r>
                        <a:rPr lang="en-US" sz="1050" b="0" i="0" u="none" strike="noStrike" dirty="0" err="1">
                          <a:solidFill>
                            <a:srgbClr val="000000"/>
                          </a:solidFill>
                          <a:effectLst/>
                          <a:latin typeface="Carlito"/>
                        </a:rPr>
                        <a:t>sobre</a:t>
                      </a:r>
                      <a:r>
                        <a:rPr lang="en-US" sz="1050" b="0" i="0" u="none" strike="noStrike" dirty="0">
                          <a:solidFill>
                            <a:srgbClr val="000000"/>
                          </a:solidFill>
                          <a:effectLst/>
                          <a:latin typeface="Carlito"/>
                        </a:rPr>
                        <a:t> </a:t>
                      </a:r>
                      <a:r>
                        <a:rPr lang="en-US" sz="1050" b="0" i="0" u="none" strike="noStrike" dirty="0" err="1">
                          <a:solidFill>
                            <a:srgbClr val="000000"/>
                          </a:solidFill>
                          <a:effectLst/>
                          <a:latin typeface="Carlito"/>
                        </a:rPr>
                        <a:t>estrutura</a:t>
                      </a:r>
                      <a:r>
                        <a:rPr lang="en-US" sz="1050" b="0" i="0" u="none" strike="noStrike" dirty="0">
                          <a:solidFill>
                            <a:srgbClr val="000000"/>
                          </a:solidFill>
                          <a:effectLst/>
                          <a:latin typeface="Carlito"/>
                        </a:rPr>
                        <a:t> de </a:t>
                      </a:r>
                      <a:r>
                        <a:rPr lang="en-US" sz="1050" b="0" i="0" u="none" strike="noStrike" dirty="0" err="1">
                          <a:solidFill>
                            <a:srgbClr val="000000"/>
                          </a:solidFill>
                          <a:effectLst/>
                          <a:latin typeface="Carlito"/>
                        </a:rPr>
                        <a:t>tamanhos</a:t>
                      </a:r>
                      <a:r>
                        <a:rPr lang="en-US" sz="1050" b="0" i="0" u="none" strike="noStrike" dirty="0">
                          <a:solidFill>
                            <a:srgbClr val="000000"/>
                          </a:solidFill>
                          <a:effectLst/>
                          <a:latin typeface="Carlito"/>
                        </a:rPr>
                        <a:t>, </a:t>
                      </a:r>
                      <a:r>
                        <a:rPr lang="en-US" sz="1050" b="0" i="0" u="none" strike="noStrike" dirty="0" err="1">
                          <a:solidFill>
                            <a:srgbClr val="000000"/>
                          </a:solidFill>
                          <a:effectLst/>
                          <a:latin typeface="Carlito"/>
                        </a:rPr>
                        <a:t>crescimento</a:t>
                      </a:r>
                      <a:r>
                        <a:rPr lang="en-US" sz="1050" b="0" i="0" u="none" strike="noStrike" dirty="0">
                          <a:solidFill>
                            <a:srgbClr val="000000"/>
                          </a:solidFill>
                          <a:effectLst/>
                          <a:latin typeface="Carlito"/>
                        </a:rPr>
                        <a:t> e </a:t>
                      </a:r>
                      <a:r>
                        <a:rPr lang="en-US" sz="1050" b="0" i="0" u="none" strike="noStrike" dirty="0" err="1">
                          <a:solidFill>
                            <a:srgbClr val="000000"/>
                          </a:solidFill>
                          <a:effectLst/>
                          <a:latin typeface="Carlito"/>
                        </a:rPr>
                        <a:t>reprodução</a:t>
                      </a:r>
                      <a:r>
                        <a:rPr lang="en-US" sz="1050" b="0" i="0" u="none" strike="noStrike" dirty="0">
                          <a:solidFill>
                            <a:srgbClr val="000000"/>
                          </a:solidFill>
                          <a:effectLst/>
                          <a:latin typeface="Carlito"/>
                        </a:rPr>
                        <a:t> da </a:t>
                      </a:r>
                      <a:r>
                        <a:rPr lang="en-US" sz="1050" b="0" i="0" u="none" strike="noStrike" dirty="0" err="1">
                          <a:solidFill>
                            <a:srgbClr val="000000"/>
                          </a:solidFill>
                          <a:effectLst/>
                          <a:latin typeface="Carlito"/>
                        </a:rPr>
                        <a:t>cavala</a:t>
                      </a:r>
                      <a:r>
                        <a:rPr lang="en-US" sz="1050" b="0" i="0" u="none" strike="noStrike" dirty="0">
                          <a:solidFill>
                            <a:srgbClr val="000000"/>
                          </a:solidFill>
                          <a:effectLst/>
                          <a:latin typeface="Carlito"/>
                        </a:rPr>
                        <a:t> preta </a:t>
                      </a:r>
                      <a:r>
                        <a:rPr lang="en-US" sz="1050" b="0" i="0" u="none" strike="noStrike" dirty="0" err="1">
                          <a:solidFill>
                            <a:srgbClr val="000000"/>
                          </a:solidFill>
                          <a:effectLst/>
                          <a:latin typeface="Carlito"/>
                        </a:rPr>
                        <a:t>na</a:t>
                      </a:r>
                      <a:r>
                        <a:rPr lang="en-US" sz="1050" b="0" i="0" u="none" strike="noStrike" dirty="0">
                          <a:solidFill>
                            <a:srgbClr val="000000"/>
                          </a:solidFill>
                          <a:effectLst/>
                          <a:latin typeface="Carlito"/>
                        </a:rPr>
                        <a:t> Cova </a:t>
                      </a:r>
                      <a:r>
                        <a:rPr lang="en-US" sz="1050" b="0" i="0" u="none" strike="noStrike" dirty="0" err="1">
                          <a:solidFill>
                            <a:srgbClr val="000000"/>
                          </a:solidFill>
                          <a:effectLst/>
                          <a:latin typeface="Carlito"/>
                        </a:rPr>
                        <a:t>d'Inglesa</a:t>
                      </a:r>
                      <a:r>
                        <a:rPr lang="en-US" sz="1050" b="0" i="0" u="none" strike="noStrike" dirty="0">
                          <a:solidFill>
                            <a:srgbClr val="000000"/>
                          </a:solidFill>
                          <a:effectLst/>
                          <a:latin typeface="Carlito"/>
                        </a:rPr>
                        <a:t>, Cabo Verde, </a:t>
                      </a:r>
                      <a:r>
                        <a:rPr lang="en-US" sz="1050" b="0" i="0" u="none" strike="noStrike" dirty="0" err="1">
                          <a:solidFill>
                            <a:srgbClr val="000000"/>
                          </a:solidFill>
                          <a:effectLst/>
                          <a:latin typeface="Carlito"/>
                        </a:rPr>
                        <a:t>comparando</a:t>
                      </a:r>
                      <a:r>
                        <a:rPr lang="en-US" sz="1050" b="0" i="0" u="none" strike="noStrike" dirty="0">
                          <a:solidFill>
                            <a:srgbClr val="000000"/>
                          </a:solidFill>
                          <a:effectLst/>
                          <a:latin typeface="Carlito"/>
                        </a:rPr>
                        <a:t> </a:t>
                      </a:r>
                      <a:r>
                        <a:rPr lang="en-US" sz="1050" b="0" i="0" u="none" strike="noStrike" dirty="0" err="1">
                          <a:solidFill>
                            <a:srgbClr val="000000"/>
                          </a:solidFill>
                          <a:effectLst/>
                          <a:latin typeface="Carlito"/>
                        </a:rPr>
                        <a:t>dois</a:t>
                      </a:r>
                      <a:r>
                        <a:rPr lang="en-US" sz="1050" b="0" i="0" u="none" strike="noStrike" dirty="0">
                          <a:solidFill>
                            <a:srgbClr val="000000"/>
                          </a:solidFill>
                          <a:effectLst/>
                          <a:latin typeface="Carlito"/>
                        </a:rPr>
                        <a:t> </a:t>
                      </a:r>
                      <a:r>
                        <a:rPr lang="en-US" sz="1050" b="0" i="0" u="none" strike="noStrike" dirty="0" err="1">
                          <a:solidFill>
                            <a:srgbClr val="000000"/>
                          </a:solidFill>
                          <a:effectLst/>
                          <a:latin typeface="Carlito"/>
                        </a:rPr>
                        <a:t>períodos</a:t>
                      </a:r>
                      <a:r>
                        <a:rPr lang="en-US" sz="1050" b="0" i="0" u="none" strike="noStrike" dirty="0">
                          <a:solidFill>
                            <a:srgbClr val="000000"/>
                          </a:solidFill>
                          <a:effectLst/>
                          <a:latin typeface="Carlito"/>
                        </a:rPr>
                        <a:t> 2003-07 e 2017-21]. </a:t>
                      </a:r>
                      <a:r>
                        <a:rPr lang="en-US" sz="1050" b="0" i="0" u="none" strike="noStrike" dirty="0" err="1">
                          <a:solidFill>
                            <a:srgbClr val="000000"/>
                          </a:solidFill>
                          <a:effectLst/>
                          <a:latin typeface="Carlito"/>
                        </a:rPr>
                        <a:t>Periódico</a:t>
                      </a:r>
                      <a:r>
                        <a:rPr lang="en-US" sz="1050" b="0" i="0" u="none" strike="noStrike" dirty="0">
                          <a:solidFill>
                            <a:srgbClr val="000000"/>
                          </a:solidFill>
                          <a:effectLst/>
                          <a:latin typeface="Carlito"/>
                        </a:rPr>
                        <a:t> </a:t>
                      </a:r>
                      <a:r>
                        <a:rPr lang="en-US" sz="1050" b="0" i="0" u="none" strike="noStrike" dirty="0" err="1">
                          <a:solidFill>
                            <a:srgbClr val="000000"/>
                          </a:solidFill>
                          <a:effectLst/>
                          <a:latin typeface="Carlito"/>
                        </a:rPr>
                        <a:t>científico</a:t>
                      </a:r>
                      <a:r>
                        <a:rPr lang="en-US" sz="1050" b="0" i="0" u="none" strike="noStrike" dirty="0">
                          <a:solidFill>
                            <a:srgbClr val="000000"/>
                          </a:solidFill>
                          <a:effectLst/>
                          <a:latin typeface="Carlito"/>
                        </a:rPr>
                        <a:t> </a:t>
                      </a:r>
                      <a:r>
                        <a:rPr lang="en-US" sz="1050" b="0" i="0" u="none" strike="noStrike" dirty="0" err="1">
                          <a:solidFill>
                            <a:srgbClr val="000000"/>
                          </a:solidFill>
                          <a:effectLst/>
                          <a:latin typeface="Carlito"/>
                        </a:rPr>
                        <a:t>revisado</a:t>
                      </a:r>
                      <a:r>
                        <a:rPr lang="en-US" sz="1050" b="0" i="0" u="none" strike="noStrike" dirty="0">
                          <a:solidFill>
                            <a:srgbClr val="000000"/>
                          </a:solidFill>
                          <a:effectLst/>
                          <a:latin typeface="Carlito"/>
                        </a:rPr>
                        <a:t> </a:t>
                      </a:r>
                      <a:r>
                        <a:rPr lang="en-US" sz="1050" b="0" i="0" u="none" strike="noStrike" dirty="0" err="1">
                          <a:solidFill>
                            <a:srgbClr val="000000"/>
                          </a:solidFill>
                          <a:effectLst/>
                          <a:latin typeface="Carlito"/>
                        </a:rPr>
                        <a:t>por</a:t>
                      </a:r>
                      <a:r>
                        <a:rPr lang="en-US" sz="1050" b="0" i="0" u="none" strike="noStrike" dirty="0">
                          <a:solidFill>
                            <a:srgbClr val="000000"/>
                          </a:solidFill>
                          <a:effectLst/>
                          <a:latin typeface="Carlito"/>
                        </a:rPr>
                        <a:t> pares.</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Periódico revisado por pares</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2003-2007 e 2017-2021</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7463 (4424 + 3039)</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Um único local de desembarque (Cova d'Inglesa) — mas é o principal porto industrial da região e permite uma comparação temporal valiosa entre duas décadas.</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Crescimento (VBGF), L50 por estádios macroscópicos, IGS (índice gonadossomático) para sazonalidade reprodutiva, comparando dois períodos de amostragem separados por ~10 anos.</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5</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5</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Alta</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extLst>
                  <a:ext uri="{0D108BD9-81ED-4DB2-BD59-A6C34878D82A}">
                    <a16:rowId xmlns:a16="http://schemas.microsoft.com/office/drawing/2014/main" val="1691920188"/>
                  </a:ext>
                </a:extLst>
              </a:tr>
              <a:tr h="263437">
                <a:tc>
                  <a:txBody>
                    <a:bodyPr/>
                    <a:lstStyle/>
                    <a:p>
                      <a:pPr algn="ctr" fontAlgn="t">
                        <a:buNone/>
                      </a:pPr>
                      <a:r>
                        <a:rPr lang="en-US" sz="1050" b="1" i="0" u="none" strike="noStrike">
                          <a:solidFill>
                            <a:srgbClr val="000000"/>
                          </a:solidFill>
                          <a:effectLst/>
                          <a:latin typeface="Carlito"/>
                        </a:rPr>
                        <a:t>Almada (1997)</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Almada, F. (1997). [tese sobre biologia e avaliação do estoque da cavala preta em Cabo Verde]. Tese acadêmica.</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Tese acadêmica</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1983-1996</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2808 (maturidade), demais não uniformes</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"Águas de Cabo Verde" — descrito como cobertura de todo o arquipélago, mas sem detalhamento por ilha nos trechos revisados.</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Crescimento e mortalidade por métodos padrão da época (incl. Tanaka); ogiva de maturidade por sexo.</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3,17</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Média</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extLst>
                  <a:ext uri="{0D108BD9-81ED-4DB2-BD59-A6C34878D82A}">
                    <a16:rowId xmlns:a16="http://schemas.microsoft.com/office/drawing/2014/main" val="1035887414"/>
                  </a:ext>
                </a:extLst>
              </a:tr>
              <a:tr h="351250">
                <a:tc>
                  <a:txBody>
                    <a:bodyPr/>
                    <a:lstStyle/>
                    <a:p>
                      <a:pPr algn="ctr" fontAlgn="t">
                        <a:buNone/>
                      </a:pPr>
                      <a:r>
                        <a:rPr lang="en-US" sz="1050" b="1" i="0" u="none" strike="noStrike">
                          <a:solidFill>
                            <a:srgbClr val="000000"/>
                          </a:solidFill>
                          <a:effectLst/>
                          <a:latin typeface="Carlito"/>
                        </a:rPr>
                        <a:t>da Luz &amp; Vieira (2020)</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da Luz, [et al.]; Vieira, N. (2020). [capítulo/relatório sobre avaliação de estoque da cavala preta em Cabo Verde via LBB e CMSY/BSM]. Relatório técnico/capítulo institucional.</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Relatório técnico institucional</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2004-2018</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10716</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Mercado de Mindelo (São Vicente) — um único ponto de amostragem representando a frota de Barlavento.</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LBB (Length-Based Bayesian biomass estimator) e CMSY/BSM — métodos modernos e sofisticados de avaliação de estoque baseados em comprimento/captura.</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5</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Média</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extLst>
                  <a:ext uri="{0D108BD9-81ED-4DB2-BD59-A6C34878D82A}">
                    <a16:rowId xmlns:a16="http://schemas.microsoft.com/office/drawing/2014/main" val="1922880693"/>
                  </a:ext>
                </a:extLst>
              </a:tr>
              <a:tr h="439062">
                <a:tc>
                  <a:txBody>
                    <a:bodyPr/>
                    <a:lstStyle/>
                    <a:p>
                      <a:pPr algn="ctr" fontAlgn="t">
                        <a:buNone/>
                      </a:pPr>
                      <a:r>
                        <a:rPr lang="en-US" sz="1050" b="1" i="0" u="none" strike="noStrike">
                          <a:solidFill>
                            <a:srgbClr val="000000"/>
                          </a:solidFill>
                          <a:effectLst/>
                          <a:latin typeface="Carlito"/>
                        </a:rPr>
                        <a:t>Vieira (2019)</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Vieira, N. (2019). Stock assessment and the influence of environmental parameters on the distribution of mackerel scad (Decapterus macarellus) in Cabo Verde waters. UNU Fisheries Training Programme (UNU-FTP), Reykjavik.</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Relatório de treinamento não publicado</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1988-2018 (sistemático só a partir de 2005)</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~27766</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Mercado de Mindelo / INDP — um único ponto de amostragem.</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VBGF padrão, M e t0 via Pauly, tmax via fórmula de Taylor (1959), padrão de recrutamento via FiSAT.</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5</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2,67</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Média</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extLst>
                  <a:ext uri="{0D108BD9-81ED-4DB2-BD59-A6C34878D82A}">
                    <a16:rowId xmlns:a16="http://schemas.microsoft.com/office/drawing/2014/main" val="482731525"/>
                  </a:ext>
                </a:extLst>
              </a:tr>
              <a:tr h="395156">
                <a:tc>
                  <a:txBody>
                    <a:bodyPr/>
                    <a:lstStyle/>
                    <a:p>
                      <a:pPr algn="ctr" fontAlgn="t">
                        <a:buNone/>
                      </a:pPr>
                      <a:r>
                        <a:rPr lang="en-US" sz="1050" b="1" i="0" u="none" strike="noStrike">
                          <a:solidFill>
                            <a:srgbClr val="000000"/>
                          </a:solidFill>
                          <a:effectLst/>
                          <a:latin typeface="Carlito"/>
                        </a:rPr>
                        <a:t>Stobberup &amp; Erzini (2006) — como fonte de crescimento</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Stobberup, K.; Erzini, K. (2006). [artigo de síntese/avaliação de pequenos pelágicos em Cabo Verde, incl. cavala preta]. Periódico científico revisado por pares.</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Periódico revisado por pares (mas síntese, não dado primário)</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Composto (herda de outras fontes)</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N/A — composto</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N/A — herdado das fontes originais</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Média geométrica de K de 4-5 fontes (Carvalho 1993, Jardim 1999, Carvalho &amp; Caramelo 1999, Almada 1997, + Fishbase para L∞); não é uma estimativa de crescimento independente.</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5</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1</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1</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1</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4</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2,33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Baixa</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CBAD"/>
                    </a:solidFill>
                  </a:tcPr>
                </a:tc>
                <a:extLst>
                  <a:ext uri="{0D108BD9-81ED-4DB2-BD59-A6C34878D82A}">
                    <a16:rowId xmlns:a16="http://schemas.microsoft.com/office/drawing/2014/main" val="73854900"/>
                  </a:ext>
                </a:extLst>
              </a:tr>
              <a:tr h="439062">
                <a:tc>
                  <a:txBody>
                    <a:bodyPr/>
                    <a:lstStyle/>
                    <a:p>
                      <a:pPr algn="ctr" fontAlgn="t">
                        <a:buNone/>
                      </a:pPr>
                      <a:r>
                        <a:rPr lang="en-US" sz="1050" b="1" i="0" u="none" strike="noStrike">
                          <a:solidFill>
                            <a:srgbClr val="000000"/>
                          </a:solidFill>
                          <a:effectLst/>
                          <a:latin typeface="Carlito"/>
                        </a:rPr>
                        <a:t>Tariche &amp; Martins (2009)</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Tariche, O.; Martins, A. (2009). Dinâmica populacional e avaliação do estado de exploração dos principais recursos haliêuticos de Cabo Verde. INDP, Mindelo.</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Relatório técnico interno (literatura cinzenta)</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Não especificado</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Não especificado</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Não especificado.</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Regressão peso-comprimento (LWR) — único parâmetro reportado com algum detalhe (r²=0,94); demais informações de contexto ausentes.</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1</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1</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1</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2</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1</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1,33</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Baixa</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CBAD"/>
                    </a:solidFill>
                  </a:tcPr>
                </a:tc>
                <a:extLst>
                  <a:ext uri="{0D108BD9-81ED-4DB2-BD59-A6C34878D82A}">
                    <a16:rowId xmlns:a16="http://schemas.microsoft.com/office/drawing/2014/main" val="2739434795"/>
                  </a:ext>
                </a:extLst>
              </a:tr>
              <a:tr h="219531">
                <a:tc>
                  <a:txBody>
                    <a:bodyPr/>
                    <a:lstStyle/>
                    <a:p>
                      <a:pPr algn="ctr" fontAlgn="t">
                        <a:buNone/>
                      </a:pPr>
                      <a:r>
                        <a:rPr lang="en-US" sz="1050" b="1" i="0" u="none" strike="noStrike">
                          <a:solidFill>
                            <a:srgbClr val="000000"/>
                          </a:solidFill>
                          <a:effectLst/>
                          <a:latin typeface="Carlito"/>
                        </a:rPr>
                        <a:t>Carvalho (1993) — apud</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Carvalho, E.M. (1993). Estudo de crescimento, mortalidade e taxa de exploração da cavala preta, Decapterus macarellus, Cuvier 1833. INDP, Boletim Técnico-Científico no. 0, pp. 31-39.</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Literatura cinzenta institucional (não obtida — apud)</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Não verificável</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Não verificável</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Não verificável.</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Não verificável — apenas o valor final (K=0,49) é conhecido, via apêndice de Stobberup &amp; Erzini (2006, p.202).</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 </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 </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 </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 </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 </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 </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 </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Não avaliável</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extLst>
                  <a:ext uri="{0D108BD9-81ED-4DB2-BD59-A6C34878D82A}">
                    <a16:rowId xmlns:a16="http://schemas.microsoft.com/office/drawing/2014/main" val="1542574344"/>
                  </a:ext>
                </a:extLst>
              </a:tr>
              <a:tr h="219531">
                <a:tc>
                  <a:txBody>
                    <a:bodyPr/>
                    <a:lstStyle/>
                    <a:p>
                      <a:pPr algn="ctr" fontAlgn="t">
                        <a:buNone/>
                      </a:pPr>
                      <a:r>
                        <a:rPr lang="en-US" sz="1050" b="1" i="0" u="none" strike="noStrike">
                          <a:solidFill>
                            <a:srgbClr val="000000"/>
                          </a:solidFill>
                          <a:effectLst/>
                          <a:latin typeface="Carlito"/>
                        </a:rPr>
                        <a:t>Magnusson (1984) — apud</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Magnusson, M.A. (1984). ICEIDA/Cape Verde Islands Fisheries Project: Survey of Demersal Fish Resources in the Waters off Cape Verde Islands in May/June 1984, II Report. Reykjavik.</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Relatório técnico institucional (não obtido — apud)</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Não verificável</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Não verificável</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Não verificável.</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050" b="0" i="0" u="none" strike="noStrike">
                          <a:solidFill>
                            <a:srgbClr val="000000"/>
                          </a:solidFill>
                          <a:effectLst/>
                          <a:latin typeface="Carlito"/>
                        </a:rPr>
                        <a:t>Não verificável — apenas os valores finais (a=0,00783, b=3,140, n=190) são conhecidos, via Tabela 4 de Vieira (2019, p.27).</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 </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 </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 </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 </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 </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 </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a:solidFill>
                            <a:srgbClr val="000000"/>
                          </a:solidFill>
                          <a:effectLst/>
                          <a:latin typeface="Carlito"/>
                        </a:rPr>
                        <a:t> </a:t>
                      </a: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t">
                        <a:buNone/>
                      </a:pPr>
                      <a:r>
                        <a:rPr lang="en-US" sz="1050" b="0" i="0" u="none" strike="noStrike" dirty="0" err="1">
                          <a:solidFill>
                            <a:srgbClr val="000000"/>
                          </a:solidFill>
                          <a:effectLst/>
                          <a:latin typeface="Carlito"/>
                        </a:rPr>
                        <a:t>Não</a:t>
                      </a:r>
                      <a:r>
                        <a:rPr lang="en-US" sz="1050" b="0" i="0" u="none" strike="noStrike" dirty="0">
                          <a:solidFill>
                            <a:srgbClr val="000000"/>
                          </a:solidFill>
                          <a:effectLst/>
                          <a:latin typeface="Carlito"/>
                        </a:rPr>
                        <a:t> </a:t>
                      </a:r>
                      <a:r>
                        <a:rPr lang="en-US" sz="1050" b="0" i="0" u="none" strike="noStrike" dirty="0" err="1">
                          <a:solidFill>
                            <a:srgbClr val="000000"/>
                          </a:solidFill>
                          <a:effectLst/>
                          <a:latin typeface="Carlito"/>
                        </a:rPr>
                        <a:t>avaliável</a:t>
                      </a:r>
                      <a:endParaRPr lang="en-US" sz="1050" b="0" i="0" u="none" strike="noStrike" dirty="0">
                        <a:solidFill>
                          <a:srgbClr val="000000"/>
                        </a:solidFill>
                        <a:effectLst/>
                        <a:latin typeface="Carlito"/>
                      </a:endParaRPr>
                    </a:p>
                  </a:txBody>
                  <a:tcPr marL="2311" marR="2311" marT="2311"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extLst>
                  <a:ext uri="{0D108BD9-81ED-4DB2-BD59-A6C34878D82A}">
                    <a16:rowId xmlns:a16="http://schemas.microsoft.com/office/drawing/2014/main" val="105844563"/>
                  </a:ext>
                </a:extLst>
              </a:tr>
            </a:tbl>
          </a:graphicData>
        </a:graphic>
      </p:graphicFrame>
    </p:spTree>
    <p:extLst>
      <p:ext uri="{BB962C8B-B14F-4D97-AF65-F5344CB8AC3E}">
        <p14:creationId xmlns:p14="http://schemas.microsoft.com/office/powerpoint/2010/main" val="2854118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A8A8-7E8F-6843-D768-5BD4331F2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5235E3-2D69-A809-5031-66E28985F4CA}"/>
              </a:ext>
            </a:extLst>
          </p:cNvPr>
          <p:cNvSpPr>
            <a:spLocks noGrp="1"/>
          </p:cNvSpPr>
          <p:nvPr>
            <p:ph type="title"/>
          </p:nvPr>
        </p:nvSpPr>
        <p:spPr>
          <a:xfrm>
            <a:off x="777241" y="365761"/>
            <a:ext cx="5021394" cy="621792"/>
          </a:xfrm>
        </p:spPr>
        <p:txBody>
          <a:bodyPr>
            <a:normAutofit/>
          </a:bodyPr>
          <a:lstStyle/>
          <a:p>
            <a:r>
              <a:rPr lang="pt-BR" sz="3600" dirty="0"/>
              <a:t>Estimativas de r e </a:t>
            </a:r>
            <a:r>
              <a:rPr lang="pt-BR" sz="3600" dirty="0" err="1"/>
              <a:t>Bt</a:t>
            </a:r>
            <a:r>
              <a:rPr lang="pt-BR" sz="3600" dirty="0"/>
              <a:t>/k</a:t>
            </a:r>
            <a:endParaRPr lang="en-US" sz="3600" dirty="0"/>
          </a:p>
        </p:txBody>
      </p:sp>
      <p:sp>
        <p:nvSpPr>
          <p:cNvPr id="5" name="Slide Number Placeholder 4">
            <a:extLst>
              <a:ext uri="{FF2B5EF4-FFF2-40B4-BE49-F238E27FC236}">
                <a16:creationId xmlns:a16="http://schemas.microsoft.com/office/drawing/2014/main" id="{D36A1C81-4E5C-24F2-4A21-A4824AD9ACE0}"/>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7</a:t>
            </a:fld>
            <a:endParaRPr lang="en-US" dirty="0"/>
          </a:p>
        </p:txBody>
      </p:sp>
      <p:pic>
        <p:nvPicPr>
          <p:cNvPr id="11" name="Imagem 10">
            <a:extLst>
              <a:ext uri="{FF2B5EF4-FFF2-40B4-BE49-F238E27FC236}">
                <a16:creationId xmlns:a16="http://schemas.microsoft.com/office/drawing/2014/main" id="{7BCA9889-676A-0F79-5FBE-02CE79C0D810}"/>
              </a:ext>
            </a:extLst>
          </p:cNvPr>
          <p:cNvPicPr>
            <a:picLocks noChangeAspect="1"/>
          </p:cNvPicPr>
          <p:nvPr/>
        </p:nvPicPr>
        <p:blipFill>
          <a:blip r:embed="rId2"/>
          <a:stretch>
            <a:fillRect/>
          </a:stretch>
        </p:blipFill>
        <p:spPr>
          <a:xfrm>
            <a:off x="223025" y="1658930"/>
            <a:ext cx="5872975" cy="3452735"/>
          </a:xfrm>
          <a:prstGeom prst="rect">
            <a:avLst/>
          </a:prstGeom>
        </p:spPr>
      </p:pic>
      <p:pic>
        <p:nvPicPr>
          <p:cNvPr id="13" name="Imagem 12">
            <a:extLst>
              <a:ext uri="{FF2B5EF4-FFF2-40B4-BE49-F238E27FC236}">
                <a16:creationId xmlns:a16="http://schemas.microsoft.com/office/drawing/2014/main" id="{AFBF607C-C207-D0C3-211A-37F5CCF36AD9}"/>
              </a:ext>
            </a:extLst>
          </p:cNvPr>
          <p:cNvPicPr>
            <a:picLocks noChangeAspect="1"/>
          </p:cNvPicPr>
          <p:nvPr/>
        </p:nvPicPr>
        <p:blipFill>
          <a:blip r:embed="rId3"/>
          <a:stretch>
            <a:fillRect/>
          </a:stretch>
        </p:blipFill>
        <p:spPr>
          <a:xfrm>
            <a:off x="6096000" y="1658929"/>
            <a:ext cx="6095187" cy="3452735"/>
          </a:xfrm>
          <a:prstGeom prst="rect">
            <a:avLst/>
          </a:prstGeom>
        </p:spPr>
      </p:pic>
    </p:spTree>
    <p:extLst>
      <p:ext uri="{BB962C8B-B14F-4D97-AF65-F5344CB8AC3E}">
        <p14:creationId xmlns:p14="http://schemas.microsoft.com/office/powerpoint/2010/main" val="2394242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DF602-6BE8-54FB-00E3-F43FC4D720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A7014-60C9-9D43-6E37-F9D86F03B961}"/>
              </a:ext>
            </a:extLst>
          </p:cNvPr>
          <p:cNvSpPr>
            <a:spLocks noGrp="1"/>
          </p:cNvSpPr>
          <p:nvPr>
            <p:ph type="title"/>
          </p:nvPr>
        </p:nvSpPr>
        <p:spPr>
          <a:xfrm>
            <a:off x="407889" y="0"/>
            <a:ext cx="6415297" cy="621792"/>
          </a:xfrm>
        </p:spPr>
        <p:txBody>
          <a:bodyPr>
            <a:normAutofit fontScale="90000"/>
          </a:bodyPr>
          <a:lstStyle/>
          <a:p>
            <a:r>
              <a:rPr lang="pt-BR" sz="3600" dirty="0"/>
              <a:t>Visão geral das hipóteses (r e </a:t>
            </a:r>
            <a:r>
              <a:rPr lang="pt-BR" sz="3600" dirty="0" err="1"/>
              <a:t>Bt</a:t>
            </a:r>
            <a:r>
              <a:rPr lang="pt-BR" sz="3600" dirty="0"/>
              <a:t>/k)</a:t>
            </a:r>
            <a:endParaRPr lang="en-US" sz="3600" dirty="0"/>
          </a:p>
        </p:txBody>
      </p:sp>
      <p:sp>
        <p:nvSpPr>
          <p:cNvPr id="5" name="Slide Number Placeholder 4">
            <a:extLst>
              <a:ext uri="{FF2B5EF4-FFF2-40B4-BE49-F238E27FC236}">
                <a16:creationId xmlns:a16="http://schemas.microsoft.com/office/drawing/2014/main" id="{2D773F33-1107-0B0F-14C1-EF9A46EEC705}"/>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8</a:t>
            </a:fld>
            <a:endParaRPr lang="en-US" dirty="0"/>
          </a:p>
        </p:txBody>
      </p:sp>
      <p:graphicFrame>
        <p:nvGraphicFramePr>
          <p:cNvPr id="3" name="Tabela 2">
            <a:extLst>
              <a:ext uri="{FF2B5EF4-FFF2-40B4-BE49-F238E27FC236}">
                <a16:creationId xmlns:a16="http://schemas.microsoft.com/office/drawing/2014/main" id="{D181A34B-2764-4658-E97D-488A5F8FD32B}"/>
              </a:ext>
            </a:extLst>
          </p:cNvPr>
          <p:cNvGraphicFramePr>
            <a:graphicFrameLocks noGrp="1"/>
          </p:cNvGraphicFramePr>
          <p:nvPr>
            <p:extLst>
              <p:ext uri="{D42A27DB-BD31-4B8C-83A1-F6EECF244321}">
                <p14:modId xmlns:p14="http://schemas.microsoft.com/office/powerpoint/2010/main" val="2850148481"/>
              </p:ext>
            </p:extLst>
          </p:nvPr>
        </p:nvGraphicFramePr>
        <p:xfrm>
          <a:off x="407889" y="3913639"/>
          <a:ext cx="11434704" cy="2625273"/>
        </p:xfrm>
        <a:graphic>
          <a:graphicData uri="http://schemas.openxmlformats.org/drawingml/2006/table">
            <a:tbl>
              <a:tblPr>
                <a:tableStyleId>{17292A2E-F333-43FB-9621-5CBBE7FDCDCB}</a:tableStyleId>
              </a:tblPr>
              <a:tblGrid>
                <a:gridCol w="1429338">
                  <a:extLst>
                    <a:ext uri="{9D8B030D-6E8A-4147-A177-3AD203B41FA5}">
                      <a16:colId xmlns:a16="http://schemas.microsoft.com/office/drawing/2014/main" val="2795427202"/>
                    </a:ext>
                  </a:extLst>
                </a:gridCol>
                <a:gridCol w="1247448">
                  <a:extLst>
                    <a:ext uri="{9D8B030D-6E8A-4147-A177-3AD203B41FA5}">
                      <a16:colId xmlns:a16="http://schemas.microsoft.com/office/drawing/2014/main" val="237924071"/>
                    </a:ext>
                  </a:extLst>
                </a:gridCol>
                <a:gridCol w="1611228">
                  <a:extLst>
                    <a:ext uri="{9D8B030D-6E8A-4147-A177-3AD203B41FA5}">
                      <a16:colId xmlns:a16="http://schemas.microsoft.com/office/drawing/2014/main" val="3833867099"/>
                    </a:ext>
                  </a:extLst>
                </a:gridCol>
                <a:gridCol w="1429338">
                  <a:extLst>
                    <a:ext uri="{9D8B030D-6E8A-4147-A177-3AD203B41FA5}">
                      <a16:colId xmlns:a16="http://schemas.microsoft.com/office/drawing/2014/main" val="3072010054"/>
                    </a:ext>
                  </a:extLst>
                </a:gridCol>
                <a:gridCol w="1429338">
                  <a:extLst>
                    <a:ext uri="{9D8B030D-6E8A-4147-A177-3AD203B41FA5}">
                      <a16:colId xmlns:a16="http://schemas.microsoft.com/office/drawing/2014/main" val="453624974"/>
                    </a:ext>
                  </a:extLst>
                </a:gridCol>
                <a:gridCol w="1429338">
                  <a:extLst>
                    <a:ext uri="{9D8B030D-6E8A-4147-A177-3AD203B41FA5}">
                      <a16:colId xmlns:a16="http://schemas.microsoft.com/office/drawing/2014/main" val="229631377"/>
                    </a:ext>
                  </a:extLst>
                </a:gridCol>
                <a:gridCol w="1429338">
                  <a:extLst>
                    <a:ext uri="{9D8B030D-6E8A-4147-A177-3AD203B41FA5}">
                      <a16:colId xmlns:a16="http://schemas.microsoft.com/office/drawing/2014/main" val="4179228710"/>
                    </a:ext>
                  </a:extLst>
                </a:gridCol>
                <a:gridCol w="1429338">
                  <a:extLst>
                    <a:ext uri="{9D8B030D-6E8A-4147-A177-3AD203B41FA5}">
                      <a16:colId xmlns:a16="http://schemas.microsoft.com/office/drawing/2014/main" val="481051048"/>
                    </a:ext>
                  </a:extLst>
                </a:gridCol>
              </a:tblGrid>
              <a:tr h="190033">
                <a:tc>
                  <a:txBody>
                    <a:bodyPr/>
                    <a:lstStyle/>
                    <a:p>
                      <a:pPr algn="ctr" fontAlgn="b">
                        <a:buNone/>
                      </a:pPr>
                      <a:r>
                        <a:rPr lang="en-US" sz="1600" b="1" u="none" strike="noStrike" dirty="0" err="1">
                          <a:effectLst/>
                        </a:rPr>
                        <a:t>Especie</a:t>
                      </a:r>
                      <a:endParaRPr lang="en-US" sz="1600" b="1"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1" u="none" strike="noStrike" dirty="0">
                          <a:effectLst/>
                        </a:rPr>
                        <a:t>Ano</a:t>
                      </a:r>
                      <a:endParaRPr lang="en-US" sz="1600" b="1"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1" u="none" strike="noStrike" dirty="0" err="1">
                          <a:effectLst/>
                        </a:rPr>
                        <a:t>Hipotese</a:t>
                      </a:r>
                      <a:endParaRPr lang="en-US" sz="1600" b="1"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1" u="none" strike="noStrike" dirty="0" err="1">
                          <a:effectLst/>
                        </a:rPr>
                        <a:t>Metodo</a:t>
                      </a:r>
                      <a:endParaRPr lang="en-US" sz="1600" b="1"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1" u="none" strike="noStrike" dirty="0">
                          <a:effectLst/>
                        </a:rPr>
                        <a:t>Fonte</a:t>
                      </a:r>
                      <a:endParaRPr lang="en-US" sz="1600" b="1"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1" u="none" strike="noStrike" dirty="0" err="1">
                          <a:effectLst/>
                        </a:rPr>
                        <a:t>bk_lo</a:t>
                      </a:r>
                      <a:endParaRPr lang="en-US" sz="1600" b="1"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1" u="none" strike="noStrike" dirty="0" err="1">
                          <a:effectLst/>
                        </a:rPr>
                        <a:t>bk_hi</a:t>
                      </a:r>
                      <a:endParaRPr lang="en-US" sz="1600" b="1"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1" u="none" strike="noStrike" dirty="0">
                          <a:effectLst/>
                        </a:rPr>
                        <a:t>bk</a:t>
                      </a:r>
                      <a:endParaRPr lang="en-US" sz="1600" b="1"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5332728"/>
                  </a:ext>
                </a:extLst>
              </a:tr>
              <a:tr h="566603">
                <a:tc>
                  <a:txBody>
                    <a:bodyPr/>
                    <a:lstStyle/>
                    <a:p>
                      <a:pPr algn="ctr" fontAlgn="b">
                        <a:buNone/>
                      </a:pPr>
                      <a:r>
                        <a:rPr lang="en-US" sz="1600" u="none" strike="noStrike">
                          <a:effectLst/>
                        </a:rPr>
                        <a:t>Decapterus macarellus</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2015</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dirty="0">
                          <a:effectLst/>
                        </a:rPr>
                        <a:t>NN_CMSY</a:t>
                      </a:r>
                      <a:endParaRPr lang="en-US" sz="1600" b="0"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Rede Neural CMSY++</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Informado pela Captura</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0.07</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dirty="0">
                          <a:effectLst/>
                        </a:rPr>
                        <a:t>0.33</a:t>
                      </a:r>
                      <a:endParaRPr lang="en-US" sz="1600" b="0"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0.2</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730527"/>
                  </a:ext>
                </a:extLst>
              </a:tr>
              <a:tr h="566603">
                <a:tc>
                  <a:txBody>
                    <a:bodyPr/>
                    <a:lstStyle/>
                    <a:p>
                      <a:pPr algn="ctr" fontAlgn="b">
                        <a:buNone/>
                      </a:pPr>
                      <a:r>
                        <a:rPr lang="en-US" sz="1600" u="none" strike="noStrike">
                          <a:effectLst/>
                        </a:rPr>
                        <a:t>Decapterus macarellus</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2015</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zBRT</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zBRT</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Informado pela Captura</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0.05</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0.69</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0.43</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7163260"/>
                  </a:ext>
                </a:extLst>
              </a:tr>
              <a:tr h="378318">
                <a:tc>
                  <a:txBody>
                    <a:bodyPr/>
                    <a:lstStyle/>
                    <a:p>
                      <a:pPr algn="ctr" fontAlgn="b">
                        <a:buNone/>
                      </a:pPr>
                      <a:r>
                        <a:rPr lang="en-US" sz="1600" u="none" strike="noStrike">
                          <a:effectLst/>
                        </a:rPr>
                        <a:t>Decapterus macarellus</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2015</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Target_switch</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dirty="0" err="1">
                          <a:effectLst/>
                        </a:rPr>
                        <a:t>Mudança</a:t>
                      </a:r>
                      <a:r>
                        <a:rPr lang="en-US" sz="1600" u="none" strike="noStrike" dirty="0">
                          <a:effectLst/>
                        </a:rPr>
                        <a:t> de </a:t>
                      </a:r>
                      <a:r>
                        <a:rPr lang="en-US" sz="1600" u="none" strike="noStrike" dirty="0" err="1">
                          <a:effectLst/>
                        </a:rPr>
                        <a:t>alvo</a:t>
                      </a:r>
                      <a:endParaRPr lang="en-US" sz="1600" b="0"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Independente</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0.2</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0.7</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0.45</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4360344"/>
                  </a:ext>
                </a:extLst>
              </a:tr>
              <a:tr h="754887">
                <a:tc>
                  <a:txBody>
                    <a:bodyPr/>
                    <a:lstStyle/>
                    <a:p>
                      <a:pPr algn="ctr" fontAlgn="b">
                        <a:buNone/>
                      </a:pPr>
                      <a:r>
                        <a:rPr lang="en-US" sz="1600" u="none" strike="noStrike" dirty="0" err="1">
                          <a:effectLst/>
                        </a:rPr>
                        <a:t>Decapterus</a:t>
                      </a:r>
                      <a:r>
                        <a:rPr lang="en-US" sz="1600" u="none" strike="noStrike" dirty="0">
                          <a:effectLst/>
                        </a:rPr>
                        <a:t> </a:t>
                      </a:r>
                      <a:r>
                        <a:rPr lang="en-US" sz="1600" u="none" strike="noStrike" dirty="0" err="1">
                          <a:effectLst/>
                        </a:rPr>
                        <a:t>macarellus</a:t>
                      </a:r>
                      <a:endParaRPr lang="en-US" sz="1600" b="0"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2015</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Uninformative_bk</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dirty="0">
                          <a:effectLst/>
                        </a:rPr>
                        <a:t>Priori de </a:t>
                      </a:r>
                      <a:r>
                        <a:rPr lang="en-US" sz="1600" u="none" strike="noStrike" dirty="0" err="1">
                          <a:effectLst/>
                        </a:rPr>
                        <a:t>depleção</a:t>
                      </a:r>
                      <a:r>
                        <a:rPr lang="en-US" sz="1600" u="none" strike="noStrike" dirty="0">
                          <a:effectLst/>
                        </a:rPr>
                        <a:t> </a:t>
                      </a:r>
                      <a:r>
                        <a:rPr lang="en-US" sz="1600" u="none" strike="noStrike" dirty="0" err="1">
                          <a:effectLst/>
                        </a:rPr>
                        <a:t>não</a:t>
                      </a:r>
                      <a:r>
                        <a:rPr lang="en-US" sz="1600" u="none" strike="noStrike" dirty="0">
                          <a:effectLst/>
                        </a:rPr>
                        <a:t> </a:t>
                      </a:r>
                      <a:r>
                        <a:rPr lang="en-US" sz="1600" u="none" strike="noStrike" dirty="0" err="1">
                          <a:effectLst/>
                        </a:rPr>
                        <a:t>informativo</a:t>
                      </a:r>
                      <a:endParaRPr lang="en-US" sz="1600" b="0"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dirty="0">
                          <a:effectLst/>
                        </a:rPr>
                        <a:t>Independente</a:t>
                      </a:r>
                      <a:endParaRPr lang="en-US" sz="1600" b="0"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dirty="0">
                          <a:effectLst/>
                        </a:rPr>
                        <a:t>0.01</a:t>
                      </a:r>
                      <a:endParaRPr lang="en-US" sz="1600" b="0"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dirty="0">
                          <a:effectLst/>
                        </a:rPr>
                        <a:t>0.5</a:t>
                      </a:r>
                      <a:endParaRPr lang="en-US" sz="1600" b="0"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9646245"/>
                  </a:ext>
                </a:extLst>
              </a:tr>
            </a:tbl>
          </a:graphicData>
        </a:graphic>
      </p:graphicFrame>
      <p:graphicFrame>
        <p:nvGraphicFramePr>
          <p:cNvPr id="4" name="Tabela 3">
            <a:extLst>
              <a:ext uri="{FF2B5EF4-FFF2-40B4-BE49-F238E27FC236}">
                <a16:creationId xmlns:a16="http://schemas.microsoft.com/office/drawing/2014/main" id="{87E9DFD8-8884-0B0A-CF4A-D48EBEF3DF73}"/>
              </a:ext>
            </a:extLst>
          </p:cNvPr>
          <p:cNvGraphicFramePr>
            <a:graphicFrameLocks noGrp="1"/>
          </p:cNvGraphicFramePr>
          <p:nvPr>
            <p:extLst>
              <p:ext uri="{D42A27DB-BD31-4B8C-83A1-F6EECF244321}">
                <p14:modId xmlns:p14="http://schemas.microsoft.com/office/powerpoint/2010/main" val="165024885"/>
              </p:ext>
            </p:extLst>
          </p:nvPr>
        </p:nvGraphicFramePr>
        <p:xfrm>
          <a:off x="407889" y="777282"/>
          <a:ext cx="11434704" cy="2840212"/>
        </p:xfrm>
        <a:graphic>
          <a:graphicData uri="http://schemas.openxmlformats.org/drawingml/2006/table">
            <a:tbl>
              <a:tblPr>
                <a:tableStyleId>{17292A2E-F333-43FB-9621-5CBBE7FDCDCB}</a:tableStyleId>
              </a:tblPr>
              <a:tblGrid>
                <a:gridCol w="1429338">
                  <a:extLst>
                    <a:ext uri="{9D8B030D-6E8A-4147-A177-3AD203B41FA5}">
                      <a16:colId xmlns:a16="http://schemas.microsoft.com/office/drawing/2014/main" val="3348883324"/>
                    </a:ext>
                  </a:extLst>
                </a:gridCol>
                <a:gridCol w="1429338">
                  <a:extLst>
                    <a:ext uri="{9D8B030D-6E8A-4147-A177-3AD203B41FA5}">
                      <a16:colId xmlns:a16="http://schemas.microsoft.com/office/drawing/2014/main" val="3111499198"/>
                    </a:ext>
                  </a:extLst>
                </a:gridCol>
                <a:gridCol w="1429338">
                  <a:extLst>
                    <a:ext uri="{9D8B030D-6E8A-4147-A177-3AD203B41FA5}">
                      <a16:colId xmlns:a16="http://schemas.microsoft.com/office/drawing/2014/main" val="1240115859"/>
                    </a:ext>
                  </a:extLst>
                </a:gridCol>
                <a:gridCol w="1429338">
                  <a:extLst>
                    <a:ext uri="{9D8B030D-6E8A-4147-A177-3AD203B41FA5}">
                      <a16:colId xmlns:a16="http://schemas.microsoft.com/office/drawing/2014/main" val="3450633535"/>
                    </a:ext>
                  </a:extLst>
                </a:gridCol>
                <a:gridCol w="1429338">
                  <a:extLst>
                    <a:ext uri="{9D8B030D-6E8A-4147-A177-3AD203B41FA5}">
                      <a16:colId xmlns:a16="http://schemas.microsoft.com/office/drawing/2014/main" val="3246166378"/>
                    </a:ext>
                  </a:extLst>
                </a:gridCol>
                <a:gridCol w="1429338">
                  <a:extLst>
                    <a:ext uri="{9D8B030D-6E8A-4147-A177-3AD203B41FA5}">
                      <a16:colId xmlns:a16="http://schemas.microsoft.com/office/drawing/2014/main" val="3748598680"/>
                    </a:ext>
                  </a:extLst>
                </a:gridCol>
                <a:gridCol w="1429338">
                  <a:extLst>
                    <a:ext uri="{9D8B030D-6E8A-4147-A177-3AD203B41FA5}">
                      <a16:colId xmlns:a16="http://schemas.microsoft.com/office/drawing/2014/main" val="3061140631"/>
                    </a:ext>
                  </a:extLst>
                </a:gridCol>
                <a:gridCol w="1429338">
                  <a:extLst>
                    <a:ext uri="{9D8B030D-6E8A-4147-A177-3AD203B41FA5}">
                      <a16:colId xmlns:a16="http://schemas.microsoft.com/office/drawing/2014/main" val="152533273"/>
                    </a:ext>
                  </a:extLst>
                </a:gridCol>
              </a:tblGrid>
              <a:tr h="188759">
                <a:tc>
                  <a:txBody>
                    <a:bodyPr/>
                    <a:lstStyle/>
                    <a:p>
                      <a:pPr algn="ctr" fontAlgn="b">
                        <a:buNone/>
                      </a:pPr>
                      <a:r>
                        <a:rPr lang="en-US" sz="1600" b="1" u="none" strike="noStrike" dirty="0" err="1">
                          <a:effectLst/>
                        </a:rPr>
                        <a:t>Especie</a:t>
                      </a:r>
                      <a:endParaRPr lang="en-US" sz="1600" b="1"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1" u="none" strike="noStrike" dirty="0">
                          <a:effectLst/>
                        </a:rPr>
                        <a:t>Ano</a:t>
                      </a:r>
                      <a:endParaRPr lang="en-US" sz="1600" b="1"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1" u="none" strike="noStrike" dirty="0" err="1">
                          <a:effectLst/>
                        </a:rPr>
                        <a:t>Hipotese</a:t>
                      </a:r>
                      <a:endParaRPr lang="en-US" sz="1600" b="1"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1" u="none" strike="noStrike" dirty="0" err="1">
                          <a:effectLst/>
                        </a:rPr>
                        <a:t>Metodo</a:t>
                      </a:r>
                      <a:endParaRPr lang="en-US" sz="1600" b="1"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1" u="none" strike="noStrike" dirty="0">
                          <a:effectLst/>
                        </a:rPr>
                        <a:t>Fonte</a:t>
                      </a:r>
                      <a:endParaRPr lang="en-US" sz="1600" b="1"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1" u="none" strike="noStrike" dirty="0" err="1">
                          <a:effectLst/>
                        </a:rPr>
                        <a:t>r_lo</a:t>
                      </a:r>
                      <a:endParaRPr lang="en-US" sz="1600" b="1"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1" u="none" strike="noStrike" dirty="0" err="1">
                          <a:effectLst/>
                        </a:rPr>
                        <a:t>r_hi</a:t>
                      </a:r>
                      <a:endParaRPr lang="en-US" sz="1600" b="1"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1" u="none" strike="noStrike" dirty="0">
                          <a:effectLst/>
                        </a:rPr>
                        <a:t>r</a:t>
                      </a:r>
                      <a:endParaRPr lang="en-US" sz="1600" b="1"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5301712"/>
                  </a:ext>
                </a:extLst>
              </a:tr>
              <a:tr h="294358">
                <a:tc>
                  <a:txBody>
                    <a:bodyPr/>
                    <a:lstStyle/>
                    <a:p>
                      <a:pPr algn="ctr" fontAlgn="b">
                        <a:buNone/>
                      </a:pPr>
                      <a:r>
                        <a:rPr lang="en-US" sz="1600" u="none" strike="noStrike">
                          <a:effectLst/>
                        </a:rPr>
                        <a:t>Decapterus macarellus</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1989-2015</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Euler-lotka methods</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Euler / Myers / Smith rebound / Demographic inv</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Baseado em modelo</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0.1</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0.59</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0.33</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9794044"/>
                  </a:ext>
                </a:extLst>
              </a:tr>
              <a:tr h="562421">
                <a:tc>
                  <a:txBody>
                    <a:bodyPr/>
                    <a:lstStyle/>
                    <a:p>
                      <a:pPr algn="ctr" fontAlgn="b">
                        <a:buNone/>
                      </a:pPr>
                      <a:r>
                        <a:rPr lang="en-US" sz="1600" u="none" strike="noStrike">
                          <a:effectLst/>
                        </a:rPr>
                        <a:t>Decapterus macarellus</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1989-2015</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lower resilience</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Metodos Euler-Lotka - 0.2</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Sensibilidade</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0.05</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0.39</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0.13</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4683366"/>
                  </a:ext>
                </a:extLst>
              </a:tr>
              <a:tr h="562421">
                <a:tc>
                  <a:txBody>
                    <a:bodyPr/>
                    <a:lstStyle/>
                    <a:p>
                      <a:pPr algn="ctr" fontAlgn="b">
                        <a:buNone/>
                      </a:pPr>
                      <a:r>
                        <a:rPr lang="en-US" sz="1600" u="none" strike="noStrike">
                          <a:effectLst/>
                        </a:rPr>
                        <a:t>Decapterus macarellus</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dirty="0">
                          <a:effectLst/>
                        </a:rPr>
                        <a:t>1989-2015</a:t>
                      </a:r>
                      <a:endParaRPr lang="en-US" sz="1600" b="0"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Higher resilience</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Metodos Euler-Lotka + 0.2</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Sensibilidade</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0.3</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0.79</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0.53</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3579259"/>
                  </a:ext>
                </a:extLst>
              </a:tr>
              <a:tr h="375590">
                <a:tc>
                  <a:txBody>
                    <a:bodyPr/>
                    <a:lstStyle/>
                    <a:p>
                      <a:pPr algn="ctr" fontAlgn="b">
                        <a:buNone/>
                      </a:pPr>
                      <a:r>
                        <a:rPr lang="en-US" sz="1600" u="none" strike="noStrike">
                          <a:effectLst/>
                        </a:rPr>
                        <a:t>Decapterus macarellus</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1989-2015</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Non-informative_r</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dirty="0">
                          <a:effectLst/>
                        </a:rPr>
                        <a:t>Priori </a:t>
                      </a:r>
                      <a:r>
                        <a:rPr lang="en-US" sz="1600" u="none" strike="noStrike" dirty="0" err="1">
                          <a:effectLst/>
                        </a:rPr>
                        <a:t>não</a:t>
                      </a:r>
                      <a:r>
                        <a:rPr lang="en-US" sz="1600" u="none" strike="noStrike" dirty="0">
                          <a:effectLst/>
                        </a:rPr>
                        <a:t> </a:t>
                      </a:r>
                      <a:r>
                        <a:rPr lang="en-US" sz="1600" u="none" strike="noStrike" dirty="0" err="1">
                          <a:effectLst/>
                        </a:rPr>
                        <a:t>informativa</a:t>
                      </a:r>
                      <a:endParaRPr lang="en-US" sz="1600" b="0"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Independente</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dirty="0">
                          <a:effectLst/>
                        </a:rPr>
                        <a:t>0.1</a:t>
                      </a:r>
                      <a:endParaRPr lang="en-US" sz="1600" b="0"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a:effectLst/>
                        </a:rPr>
                        <a:t>1.5</a:t>
                      </a:r>
                      <a:endParaRPr lang="en-US" sz="1600" b="0" i="0" u="none" strike="noStrike">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u="none" strike="noStrike" dirty="0">
                          <a:effectLst/>
                        </a:rPr>
                        <a:t>NA</a:t>
                      </a:r>
                      <a:endParaRPr lang="en-US" sz="1600" b="0" i="0" u="none" strike="noStrike" dirty="0">
                        <a:solidFill>
                          <a:srgbClr val="000000"/>
                        </a:solidFill>
                        <a:effectLst/>
                        <a:latin typeface="Calibri" panose="020F0502020204030204" pitchFamily="34" charset="0"/>
                      </a:endParaRPr>
                    </a:p>
                  </a:txBody>
                  <a:tcPr marL="2830" marR="2830" marT="28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1783383"/>
                  </a:ext>
                </a:extLst>
              </a:tr>
            </a:tbl>
          </a:graphicData>
        </a:graphic>
      </p:graphicFrame>
      <p:sp>
        <p:nvSpPr>
          <p:cNvPr id="7" name="CaixaDeTexto 6">
            <a:extLst>
              <a:ext uri="{FF2B5EF4-FFF2-40B4-BE49-F238E27FC236}">
                <a16:creationId xmlns:a16="http://schemas.microsoft.com/office/drawing/2014/main" id="{70457BB9-2F6C-3960-A653-AB7FD9787496}"/>
              </a:ext>
            </a:extLst>
          </p:cNvPr>
          <p:cNvSpPr txBox="1"/>
          <p:nvPr/>
        </p:nvSpPr>
        <p:spPr>
          <a:xfrm>
            <a:off x="0" y="1935557"/>
            <a:ext cx="300230" cy="523220"/>
          </a:xfrm>
          <a:prstGeom prst="rect">
            <a:avLst/>
          </a:prstGeom>
          <a:noFill/>
        </p:spPr>
        <p:txBody>
          <a:bodyPr wrap="square">
            <a:spAutoFit/>
          </a:bodyPr>
          <a:lstStyle/>
          <a:p>
            <a:r>
              <a:rPr lang="pt-BR" sz="2800" b="1" dirty="0"/>
              <a:t>r</a:t>
            </a:r>
            <a:endParaRPr lang="en-US" sz="1400" b="1" dirty="0"/>
          </a:p>
        </p:txBody>
      </p:sp>
      <p:sp>
        <p:nvSpPr>
          <p:cNvPr id="9" name="CaixaDeTexto 8">
            <a:extLst>
              <a:ext uri="{FF2B5EF4-FFF2-40B4-BE49-F238E27FC236}">
                <a16:creationId xmlns:a16="http://schemas.microsoft.com/office/drawing/2014/main" id="{271E46BC-063F-E71A-0C84-9B034B83BABB}"/>
              </a:ext>
            </a:extLst>
          </p:cNvPr>
          <p:cNvSpPr txBox="1"/>
          <p:nvPr/>
        </p:nvSpPr>
        <p:spPr>
          <a:xfrm>
            <a:off x="-64008" y="4922443"/>
            <a:ext cx="822960" cy="400110"/>
          </a:xfrm>
          <a:prstGeom prst="rect">
            <a:avLst/>
          </a:prstGeom>
          <a:noFill/>
        </p:spPr>
        <p:txBody>
          <a:bodyPr wrap="square">
            <a:spAutoFit/>
          </a:bodyPr>
          <a:lstStyle/>
          <a:p>
            <a:r>
              <a:rPr lang="pt-BR" sz="2000" b="1" dirty="0" err="1"/>
              <a:t>Bt</a:t>
            </a:r>
            <a:r>
              <a:rPr lang="pt-BR" sz="2000" b="1" dirty="0"/>
              <a:t>/k</a:t>
            </a:r>
            <a:endParaRPr lang="en-US" sz="1200" b="1" dirty="0"/>
          </a:p>
        </p:txBody>
      </p:sp>
    </p:spTree>
    <p:extLst>
      <p:ext uri="{BB962C8B-B14F-4D97-AF65-F5344CB8AC3E}">
        <p14:creationId xmlns:p14="http://schemas.microsoft.com/office/powerpoint/2010/main" val="2966678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56794-BF2A-D366-0186-C646B702E5C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37C6C72-D4CE-8A74-B3C2-E371C45418FE}"/>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9</a:t>
            </a:fld>
            <a:endParaRPr lang="en-US" dirty="0"/>
          </a:p>
        </p:txBody>
      </p:sp>
      <p:pic>
        <p:nvPicPr>
          <p:cNvPr id="4" name="Imagem 3">
            <a:extLst>
              <a:ext uri="{FF2B5EF4-FFF2-40B4-BE49-F238E27FC236}">
                <a16:creationId xmlns:a16="http://schemas.microsoft.com/office/drawing/2014/main" id="{A1BD2C44-077B-67EC-303F-929D5768E42F}"/>
              </a:ext>
            </a:extLst>
          </p:cNvPr>
          <p:cNvPicPr>
            <a:picLocks noChangeAspect="1"/>
          </p:cNvPicPr>
          <p:nvPr/>
        </p:nvPicPr>
        <p:blipFill>
          <a:blip r:embed="rId2"/>
          <a:stretch>
            <a:fillRect/>
          </a:stretch>
        </p:blipFill>
        <p:spPr>
          <a:xfrm>
            <a:off x="1222248" y="190442"/>
            <a:ext cx="9144000" cy="6531033"/>
          </a:xfrm>
          <a:prstGeom prst="rect">
            <a:avLst/>
          </a:prstGeom>
        </p:spPr>
      </p:pic>
      <p:sp>
        <p:nvSpPr>
          <p:cNvPr id="10" name="Title 1">
            <a:extLst>
              <a:ext uri="{FF2B5EF4-FFF2-40B4-BE49-F238E27FC236}">
                <a16:creationId xmlns:a16="http://schemas.microsoft.com/office/drawing/2014/main" id="{CC18168D-62D6-CAAC-A288-B9FCC41A127B}"/>
              </a:ext>
            </a:extLst>
          </p:cNvPr>
          <p:cNvSpPr txBox="1">
            <a:spLocks/>
          </p:cNvSpPr>
          <p:nvPr/>
        </p:nvSpPr>
        <p:spPr>
          <a:xfrm>
            <a:off x="0" y="190442"/>
            <a:ext cx="2276855" cy="358198"/>
          </a:xfrm>
          <a:prstGeom prst="rect">
            <a:avLst/>
          </a:prstGeom>
          <a:solidFill>
            <a:schemeClr val="bg1">
              <a:lumMod val="95000"/>
            </a:schemeClr>
          </a:solid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baseline="0">
                <a:solidFill>
                  <a:schemeClr val="accent4">
                    <a:lumMod val="75000"/>
                  </a:schemeClr>
                </a:solidFill>
                <a:latin typeface="+mj-lt"/>
                <a:ea typeface="+mj-ea"/>
                <a:cs typeface="+mj-cs"/>
              </a:defRPr>
            </a:lvl1pPr>
          </a:lstStyle>
          <a:p>
            <a:r>
              <a:rPr lang="pt-BR" sz="2000" dirty="0"/>
              <a:t>Resultados DB-SRA</a:t>
            </a:r>
            <a:endParaRPr lang="en-US" sz="2000" dirty="0"/>
          </a:p>
        </p:txBody>
      </p:sp>
    </p:spTree>
    <p:extLst>
      <p:ext uri="{BB962C8B-B14F-4D97-AF65-F5344CB8AC3E}">
        <p14:creationId xmlns:p14="http://schemas.microsoft.com/office/powerpoint/2010/main" val="1315781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D8032-9047-DCA0-998F-A59300AEF65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3B066B8-7528-044C-2AF6-649C70319081}"/>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10</a:t>
            </a:fld>
            <a:endParaRPr lang="en-US" dirty="0"/>
          </a:p>
        </p:txBody>
      </p:sp>
      <p:pic>
        <p:nvPicPr>
          <p:cNvPr id="6" name="Imagem 5">
            <a:extLst>
              <a:ext uri="{FF2B5EF4-FFF2-40B4-BE49-F238E27FC236}">
                <a16:creationId xmlns:a16="http://schemas.microsoft.com/office/drawing/2014/main" id="{749B619A-BB8E-62DA-3793-17B920473D44}"/>
              </a:ext>
            </a:extLst>
          </p:cNvPr>
          <p:cNvPicPr>
            <a:picLocks noChangeAspect="1"/>
          </p:cNvPicPr>
          <p:nvPr/>
        </p:nvPicPr>
        <p:blipFill>
          <a:blip r:embed="rId2"/>
          <a:stretch>
            <a:fillRect/>
          </a:stretch>
        </p:blipFill>
        <p:spPr>
          <a:xfrm>
            <a:off x="1185673" y="259479"/>
            <a:ext cx="9192767" cy="6565865"/>
          </a:xfrm>
          <a:prstGeom prst="rect">
            <a:avLst/>
          </a:prstGeom>
        </p:spPr>
      </p:pic>
      <p:sp>
        <p:nvSpPr>
          <p:cNvPr id="9" name="Title 1">
            <a:extLst>
              <a:ext uri="{FF2B5EF4-FFF2-40B4-BE49-F238E27FC236}">
                <a16:creationId xmlns:a16="http://schemas.microsoft.com/office/drawing/2014/main" id="{F32EE4A3-825F-D6E9-1115-16F7404476BB}"/>
              </a:ext>
            </a:extLst>
          </p:cNvPr>
          <p:cNvSpPr txBox="1">
            <a:spLocks/>
          </p:cNvSpPr>
          <p:nvPr/>
        </p:nvSpPr>
        <p:spPr>
          <a:xfrm>
            <a:off x="1" y="259479"/>
            <a:ext cx="2249424" cy="325737"/>
          </a:xfrm>
          <a:prstGeom prst="rect">
            <a:avLst/>
          </a:prstGeom>
          <a:solidFill>
            <a:schemeClr val="bg1">
              <a:lumMod val="95000"/>
            </a:schemeClr>
          </a:solid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baseline="0">
                <a:solidFill>
                  <a:schemeClr val="accent4">
                    <a:lumMod val="75000"/>
                  </a:schemeClr>
                </a:solidFill>
                <a:latin typeface="+mj-lt"/>
                <a:ea typeface="+mj-ea"/>
                <a:cs typeface="+mj-cs"/>
              </a:defRPr>
            </a:lvl1pPr>
          </a:lstStyle>
          <a:p>
            <a:r>
              <a:rPr lang="pt-BR" sz="2000"/>
              <a:t>Resultados DB-SRA</a:t>
            </a:r>
            <a:endParaRPr lang="en-US" sz="2000" dirty="0"/>
          </a:p>
        </p:txBody>
      </p:sp>
    </p:spTree>
    <p:extLst>
      <p:ext uri="{BB962C8B-B14F-4D97-AF65-F5344CB8AC3E}">
        <p14:creationId xmlns:p14="http://schemas.microsoft.com/office/powerpoint/2010/main" val="3600713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DCF09-4CAB-99B2-4313-466D69D541A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DEB6A42-90EE-1265-2E19-F7407D59422C}"/>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11</a:t>
            </a:fld>
            <a:endParaRPr lang="en-US" dirty="0"/>
          </a:p>
        </p:txBody>
      </p:sp>
      <p:pic>
        <p:nvPicPr>
          <p:cNvPr id="3" name="Imagem 2">
            <a:extLst>
              <a:ext uri="{FF2B5EF4-FFF2-40B4-BE49-F238E27FC236}">
                <a16:creationId xmlns:a16="http://schemas.microsoft.com/office/drawing/2014/main" id="{B4AF4531-9B76-7F60-5C3C-66F106F8F799}"/>
              </a:ext>
            </a:extLst>
          </p:cNvPr>
          <p:cNvPicPr>
            <a:picLocks noChangeAspect="1"/>
          </p:cNvPicPr>
          <p:nvPr/>
        </p:nvPicPr>
        <p:blipFill>
          <a:blip r:embed="rId2"/>
          <a:stretch>
            <a:fillRect/>
          </a:stretch>
        </p:blipFill>
        <p:spPr>
          <a:xfrm>
            <a:off x="1368261" y="174995"/>
            <a:ext cx="9165627" cy="6546480"/>
          </a:xfrm>
          <a:prstGeom prst="rect">
            <a:avLst/>
          </a:prstGeom>
        </p:spPr>
      </p:pic>
      <p:sp>
        <p:nvSpPr>
          <p:cNvPr id="7" name="Title 1">
            <a:extLst>
              <a:ext uri="{FF2B5EF4-FFF2-40B4-BE49-F238E27FC236}">
                <a16:creationId xmlns:a16="http://schemas.microsoft.com/office/drawing/2014/main" id="{B276EB2B-B216-F902-FFF5-8070CF7B1F42}"/>
              </a:ext>
            </a:extLst>
          </p:cNvPr>
          <p:cNvSpPr txBox="1">
            <a:spLocks/>
          </p:cNvSpPr>
          <p:nvPr/>
        </p:nvSpPr>
        <p:spPr>
          <a:xfrm>
            <a:off x="1" y="259479"/>
            <a:ext cx="2249424" cy="325737"/>
          </a:xfrm>
          <a:prstGeom prst="rect">
            <a:avLst/>
          </a:prstGeom>
          <a:solidFill>
            <a:schemeClr val="bg1">
              <a:lumMod val="95000"/>
            </a:schemeClr>
          </a:solid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baseline="0">
                <a:solidFill>
                  <a:schemeClr val="accent4">
                    <a:lumMod val="75000"/>
                  </a:schemeClr>
                </a:solidFill>
                <a:latin typeface="+mj-lt"/>
                <a:ea typeface="+mj-ea"/>
                <a:cs typeface="+mj-cs"/>
              </a:defRPr>
            </a:lvl1pPr>
          </a:lstStyle>
          <a:p>
            <a:r>
              <a:rPr lang="pt-BR" sz="2000" dirty="0"/>
              <a:t>Resultados DB-SRA</a:t>
            </a:r>
            <a:endParaRPr lang="en-US" sz="2000" dirty="0"/>
          </a:p>
        </p:txBody>
      </p:sp>
    </p:spTree>
    <p:extLst>
      <p:ext uri="{BB962C8B-B14F-4D97-AF65-F5344CB8AC3E}">
        <p14:creationId xmlns:p14="http://schemas.microsoft.com/office/powerpoint/2010/main" val="3983362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56851-7C6A-1A84-108F-C6980FE0976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9FE686A-563D-89E9-EB57-6787DFCBBD77}"/>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12</a:t>
            </a:fld>
            <a:endParaRPr lang="en-US" dirty="0"/>
          </a:p>
        </p:txBody>
      </p:sp>
      <p:pic>
        <p:nvPicPr>
          <p:cNvPr id="4" name="Imagem 3">
            <a:extLst>
              <a:ext uri="{FF2B5EF4-FFF2-40B4-BE49-F238E27FC236}">
                <a16:creationId xmlns:a16="http://schemas.microsoft.com/office/drawing/2014/main" id="{3B2A8D79-198F-2E71-1F1A-BC49C4C2A7B9}"/>
              </a:ext>
            </a:extLst>
          </p:cNvPr>
          <p:cNvPicPr>
            <a:picLocks noChangeAspect="1"/>
          </p:cNvPicPr>
          <p:nvPr/>
        </p:nvPicPr>
        <p:blipFill>
          <a:blip r:embed="rId2"/>
          <a:stretch>
            <a:fillRect/>
          </a:stretch>
        </p:blipFill>
        <p:spPr>
          <a:xfrm>
            <a:off x="609891" y="142700"/>
            <a:ext cx="10743909" cy="6715299"/>
          </a:xfrm>
          <a:prstGeom prst="rect">
            <a:avLst/>
          </a:prstGeom>
        </p:spPr>
      </p:pic>
      <p:sp>
        <p:nvSpPr>
          <p:cNvPr id="8" name="Title 1">
            <a:extLst>
              <a:ext uri="{FF2B5EF4-FFF2-40B4-BE49-F238E27FC236}">
                <a16:creationId xmlns:a16="http://schemas.microsoft.com/office/drawing/2014/main" id="{EBAD6D50-F2FE-565E-0BDD-3F5A7F60E45A}"/>
              </a:ext>
            </a:extLst>
          </p:cNvPr>
          <p:cNvSpPr txBox="1">
            <a:spLocks/>
          </p:cNvSpPr>
          <p:nvPr/>
        </p:nvSpPr>
        <p:spPr>
          <a:xfrm>
            <a:off x="1" y="259479"/>
            <a:ext cx="2249424" cy="325737"/>
          </a:xfrm>
          <a:prstGeom prst="rect">
            <a:avLst/>
          </a:prstGeom>
          <a:solidFill>
            <a:schemeClr val="bg1">
              <a:lumMod val="95000"/>
            </a:schemeClr>
          </a:solid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baseline="0">
                <a:solidFill>
                  <a:schemeClr val="accent4">
                    <a:lumMod val="75000"/>
                  </a:schemeClr>
                </a:solidFill>
                <a:latin typeface="+mj-lt"/>
                <a:ea typeface="+mj-ea"/>
                <a:cs typeface="+mj-cs"/>
              </a:defRPr>
            </a:lvl1pPr>
          </a:lstStyle>
          <a:p>
            <a:r>
              <a:rPr lang="pt-BR" sz="2000" dirty="0"/>
              <a:t>Resultados DB-SRA</a:t>
            </a:r>
            <a:endParaRPr lang="en-US" sz="2000" dirty="0"/>
          </a:p>
        </p:txBody>
      </p:sp>
    </p:spTree>
    <p:extLst>
      <p:ext uri="{BB962C8B-B14F-4D97-AF65-F5344CB8AC3E}">
        <p14:creationId xmlns:p14="http://schemas.microsoft.com/office/powerpoint/2010/main" val="2502333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ED4FD-5C98-BD29-839B-D91C6476B14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7301C02-457A-C9AD-79AA-DEC6E2AB7513}"/>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13</a:t>
            </a:fld>
            <a:endParaRPr lang="en-US" dirty="0"/>
          </a:p>
        </p:txBody>
      </p:sp>
      <p:sp>
        <p:nvSpPr>
          <p:cNvPr id="8" name="Title 1">
            <a:extLst>
              <a:ext uri="{FF2B5EF4-FFF2-40B4-BE49-F238E27FC236}">
                <a16:creationId xmlns:a16="http://schemas.microsoft.com/office/drawing/2014/main" id="{DE978134-4B26-5032-53F2-DBFF588DE620}"/>
              </a:ext>
            </a:extLst>
          </p:cNvPr>
          <p:cNvSpPr txBox="1">
            <a:spLocks/>
          </p:cNvSpPr>
          <p:nvPr/>
        </p:nvSpPr>
        <p:spPr>
          <a:xfrm>
            <a:off x="1" y="259479"/>
            <a:ext cx="2249424" cy="325737"/>
          </a:xfrm>
          <a:prstGeom prst="rect">
            <a:avLst/>
          </a:prstGeom>
          <a:solidFill>
            <a:schemeClr val="bg1">
              <a:lumMod val="95000"/>
            </a:schemeClr>
          </a:solid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baseline="0">
                <a:solidFill>
                  <a:schemeClr val="accent4">
                    <a:lumMod val="75000"/>
                  </a:schemeClr>
                </a:solidFill>
                <a:latin typeface="+mj-lt"/>
                <a:ea typeface="+mj-ea"/>
                <a:cs typeface="+mj-cs"/>
              </a:defRPr>
            </a:lvl1pPr>
          </a:lstStyle>
          <a:p>
            <a:r>
              <a:rPr lang="pt-BR" sz="2000" dirty="0"/>
              <a:t>Resultados DB-SRA</a:t>
            </a:r>
            <a:endParaRPr lang="en-US" sz="2000" dirty="0"/>
          </a:p>
        </p:txBody>
      </p:sp>
      <p:pic>
        <p:nvPicPr>
          <p:cNvPr id="3" name="Imagem 2">
            <a:extLst>
              <a:ext uri="{FF2B5EF4-FFF2-40B4-BE49-F238E27FC236}">
                <a16:creationId xmlns:a16="http://schemas.microsoft.com/office/drawing/2014/main" id="{1E6BBF27-EE07-0BD1-B8F1-73973F3F4A88}"/>
              </a:ext>
            </a:extLst>
          </p:cNvPr>
          <p:cNvPicPr>
            <a:picLocks noChangeAspect="1"/>
          </p:cNvPicPr>
          <p:nvPr/>
        </p:nvPicPr>
        <p:blipFill>
          <a:blip r:embed="rId2"/>
          <a:stretch>
            <a:fillRect/>
          </a:stretch>
        </p:blipFill>
        <p:spPr>
          <a:xfrm>
            <a:off x="0" y="674319"/>
            <a:ext cx="12097512" cy="6047156"/>
          </a:xfrm>
          <a:prstGeom prst="rect">
            <a:avLst/>
          </a:prstGeom>
        </p:spPr>
      </p:pic>
    </p:spTree>
    <p:extLst>
      <p:ext uri="{BB962C8B-B14F-4D97-AF65-F5344CB8AC3E}">
        <p14:creationId xmlns:p14="http://schemas.microsoft.com/office/powerpoint/2010/main" val="2262318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23F85-D3D0-4B92-6444-6BE9BCB5E4E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46B1FAC-FEAB-86E9-9469-16E949DC6E4C}"/>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14</a:t>
            </a:fld>
            <a:endParaRPr lang="en-US" dirty="0"/>
          </a:p>
        </p:txBody>
      </p:sp>
      <p:pic>
        <p:nvPicPr>
          <p:cNvPr id="4" name="Imagem 3">
            <a:extLst>
              <a:ext uri="{FF2B5EF4-FFF2-40B4-BE49-F238E27FC236}">
                <a16:creationId xmlns:a16="http://schemas.microsoft.com/office/drawing/2014/main" id="{33158A20-F938-33FF-C025-83B1C2D5414B}"/>
              </a:ext>
            </a:extLst>
          </p:cNvPr>
          <p:cNvPicPr>
            <a:picLocks noChangeAspect="1"/>
          </p:cNvPicPr>
          <p:nvPr/>
        </p:nvPicPr>
        <p:blipFill>
          <a:blip r:embed="rId2"/>
          <a:stretch>
            <a:fillRect/>
          </a:stretch>
        </p:blipFill>
        <p:spPr>
          <a:xfrm>
            <a:off x="1295109" y="213555"/>
            <a:ext cx="9302787" cy="6644445"/>
          </a:xfrm>
          <a:prstGeom prst="rect">
            <a:avLst/>
          </a:prstGeom>
        </p:spPr>
      </p:pic>
      <p:sp>
        <p:nvSpPr>
          <p:cNvPr id="8" name="Title 1">
            <a:extLst>
              <a:ext uri="{FF2B5EF4-FFF2-40B4-BE49-F238E27FC236}">
                <a16:creationId xmlns:a16="http://schemas.microsoft.com/office/drawing/2014/main" id="{7993F45D-8695-B1EC-4C7F-811951175C89}"/>
              </a:ext>
            </a:extLst>
          </p:cNvPr>
          <p:cNvSpPr txBox="1">
            <a:spLocks/>
          </p:cNvSpPr>
          <p:nvPr/>
        </p:nvSpPr>
        <p:spPr>
          <a:xfrm>
            <a:off x="1" y="259479"/>
            <a:ext cx="2249424" cy="325737"/>
          </a:xfrm>
          <a:prstGeom prst="rect">
            <a:avLst/>
          </a:prstGeom>
          <a:solidFill>
            <a:schemeClr val="bg1">
              <a:lumMod val="95000"/>
            </a:schemeClr>
          </a:solid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baseline="0">
                <a:solidFill>
                  <a:schemeClr val="accent4">
                    <a:lumMod val="75000"/>
                  </a:schemeClr>
                </a:solidFill>
                <a:latin typeface="+mj-lt"/>
                <a:ea typeface="+mj-ea"/>
                <a:cs typeface="+mj-cs"/>
              </a:defRPr>
            </a:lvl1pPr>
          </a:lstStyle>
          <a:p>
            <a:r>
              <a:rPr lang="pt-BR" sz="2000" dirty="0"/>
              <a:t>Resultados DB-SRA</a:t>
            </a:r>
            <a:endParaRPr lang="en-US" sz="2000" dirty="0"/>
          </a:p>
        </p:txBody>
      </p:sp>
    </p:spTree>
    <p:extLst>
      <p:ext uri="{BB962C8B-B14F-4D97-AF65-F5344CB8AC3E}">
        <p14:creationId xmlns:p14="http://schemas.microsoft.com/office/powerpoint/2010/main" val="3456969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A8D8C-6A64-F021-0A32-93A1B341916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5E091D4-3AF2-466F-E5FF-DD3BEA789AEA}"/>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15</a:t>
            </a:fld>
            <a:endParaRPr lang="en-US" dirty="0"/>
          </a:p>
        </p:txBody>
      </p:sp>
      <p:pic>
        <p:nvPicPr>
          <p:cNvPr id="3" name="Imagem 2">
            <a:extLst>
              <a:ext uri="{FF2B5EF4-FFF2-40B4-BE49-F238E27FC236}">
                <a16:creationId xmlns:a16="http://schemas.microsoft.com/office/drawing/2014/main" id="{5AB46996-E319-5C7A-E113-67E48140905C}"/>
              </a:ext>
            </a:extLst>
          </p:cNvPr>
          <p:cNvPicPr>
            <a:picLocks noChangeAspect="1"/>
          </p:cNvPicPr>
          <p:nvPr/>
        </p:nvPicPr>
        <p:blipFill>
          <a:blip r:embed="rId2"/>
          <a:stretch>
            <a:fillRect/>
          </a:stretch>
        </p:blipFill>
        <p:spPr>
          <a:xfrm>
            <a:off x="1046818" y="182546"/>
            <a:ext cx="10218590" cy="6538929"/>
          </a:xfrm>
          <a:prstGeom prst="rect">
            <a:avLst/>
          </a:prstGeom>
        </p:spPr>
      </p:pic>
      <p:sp>
        <p:nvSpPr>
          <p:cNvPr id="7" name="Title 1">
            <a:extLst>
              <a:ext uri="{FF2B5EF4-FFF2-40B4-BE49-F238E27FC236}">
                <a16:creationId xmlns:a16="http://schemas.microsoft.com/office/drawing/2014/main" id="{C3230E32-D79A-9923-E457-11922E9F289C}"/>
              </a:ext>
            </a:extLst>
          </p:cNvPr>
          <p:cNvSpPr txBox="1">
            <a:spLocks/>
          </p:cNvSpPr>
          <p:nvPr/>
        </p:nvSpPr>
        <p:spPr>
          <a:xfrm>
            <a:off x="1" y="259479"/>
            <a:ext cx="2249424" cy="325737"/>
          </a:xfrm>
          <a:prstGeom prst="rect">
            <a:avLst/>
          </a:prstGeom>
          <a:solidFill>
            <a:schemeClr val="bg1">
              <a:lumMod val="95000"/>
            </a:schemeClr>
          </a:solid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baseline="0">
                <a:solidFill>
                  <a:schemeClr val="accent4">
                    <a:lumMod val="75000"/>
                  </a:schemeClr>
                </a:solidFill>
                <a:latin typeface="+mj-lt"/>
                <a:ea typeface="+mj-ea"/>
                <a:cs typeface="+mj-cs"/>
              </a:defRPr>
            </a:lvl1pPr>
          </a:lstStyle>
          <a:p>
            <a:r>
              <a:rPr lang="pt-BR" sz="2000" dirty="0"/>
              <a:t>Resultados DB-SRA</a:t>
            </a:r>
            <a:endParaRPr lang="en-US" sz="2000" dirty="0"/>
          </a:p>
        </p:txBody>
      </p:sp>
    </p:spTree>
    <p:extLst>
      <p:ext uri="{BB962C8B-B14F-4D97-AF65-F5344CB8AC3E}">
        <p14:creationId xmlns:p14="http://schemas.microsoft.com/office/powerpoint/2010/main" val="664588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4E413-FC4F-62CF-00D7-02FB1CEC782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626CA37-2DA9-2BA9-C92E-1B4C1F648BBB}"/>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16</a:t>
            </a:fld>
            <a:endParaRPr lang="en-US" dirty="0"/>
          </a:p>
        </p:txBody>
      </p:sp>
      <p:sp>
        <p:nvSpPr>
          <p:cNvPr id="7" name="Title 1">
            <a:extLst>
              <a:ext uri="{FF2B5EF4-FFF2-40B4-BE49-F238E27FC236}">
                <a16:creationId xmlns:a16="http://schemas.microsoft.com/office/drawing/2014/main" id="{E5B0C974-B16B-3A92-ED2C-29D33DE21EC5}"/>
              </a:ext>
            </a:extLst>
          </p:cNvPr>
          <p:cNvSpPr txBox="1">
            <a:spLocks/>
          </p:cNvSpPr>
          <p:nvPr/>
        </p:nvSpPr>
        <p:spPr>
          <a:xfrm>
            <a:off x="1" y="259479"/>
            <a:ext cx="2249424" cy="325737"/>
          </a:xfrm>
          <a:prstGeom prst="rect">
            <a:avLst/>
          </a:prstGeom>
          <a:solidFill>
            <a:schemeClr val="bg1">
              <a:lumMod val="95000"/>
            </a:schemeClr>
          </a:solid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baseline="0">
                <a:solidFill>
                  <a:schemeClr val="accent4">
                    <a:lumMod val="75000"/>
                  </a:schemeClr>
                </a:solidFill>
                <a:latin typeface="+mj-lt"/>
                <a:ea typeface="+mj-ea"/>
                <a:cs typeface="+mj-cs"/>
              </a:defRPr>
            </a:lvl1pPr>
          </a:lstStyle>
          <a:p>
            <a:r>
              <a:rPr lang="pt-BR" sz="2000" dirty="0"/>
              <a:t>Resultados CMSY++</a:t>
            </a:r>
            <a:endParaRPr lang="en-US" sz="2000" dirty="0"/>
          </a:p>
        </p:txBody>
      </p:sp>
    </p:spTree>
    <p:extLst>
      <p:ext uri="{BB962C8B-B14F-4D97-AF65-F5344CB8AC3E}">
        <p14:creationId xmlns:p14="http://schemas.microsoft.com/office/powerpoint/2010/main" val="3028420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AF76D-A0D2-8179-168C-8025D377329E}"/>
              </a:ext>
            </a:extLst>
          </p:cNvPr>
          <p:cNvSpPr>
            <a:spLocks noGrp="1"/>
          </p:cNvSpPr>
          <p:nvPr>
            <p:ph type="title"/>
          </p:nvPr>
        </p:nvSpPr>
        <p:spPr>
          <a:xfrm>
            <a:off x="768096" y="667512"/>
            <a:ext cx="3291840" cy="5513832"/>
          </a:xfrm>
        </p:spPr>
        <p:txBody>
          <a:bodyPr/>
          <a:lstStyle/>
          <a:p>
            <a:r>
              <a:rPr lang="en-US" dirty="0"/>
              <a:t>Agenda</a:t>
            </a:r>
          </a:p>
        </p:txBody>
      </p:sp>
      <p:sp>
        <p:nvSpPr>
          <p:cNvPr id="3" name="Content Placeholder 2">
            <a:extLst>
              <a:ext uri="{FF2B5EF4-FFF2-40B4-BE49-F238E27FC236}">
                <a16:creationId xmlns:a16="http://schemas.microsoft.com/office/drawing/2014/main" id="{B16F5ACA-5B20-DED2-F6EA-E50B5B17F3AE}"/>
              </a:ext>
            </a:extLst>
          </p:cNvPr>
          <p:cNvSpPr>
            <a:spLocks noGrp="1"/>
          </p:cNvSpPr>
          <p:nvPr>
            <p:ph idx="1"/>
          </p:nvPr>
        </p:nvSpPr>
        <p:spPr>
          <a:xfrm>
            <a:off x="5239512" y="667512"/>
            <a:ext cx="4105656" cy="5568696"/>
          </a:xfrm>
        </p:spPr>
        <p:txBody>
          <a:bodyPr/>
          <a:lstStyle/>
          <a:p>
            <a:r>
              <a:rPr lang="en-US" dirty="0"/>
              <a:t>Growth strategy</a:t>
            </a:r>
          </a:p>
          <a:p>
            <a:r>
              <a:rPr lang="en-US" dirty="0"/>
              <a:t>Market analysis</a:t>
            </a:r>
          </a:p>
          <a:p>
            <a:r>
              <a:rPr lang="en-US" dirty="0"/>
              <a:t>Financial overview</a:t>
            </a:r>
          </a:p>
          <a:p>
            <a:r>
              <a:rPr lang="en-US" dirty="0"/>
              <a:t>Innovative solutions</a:t>
            </a:r>
          </a:p>
          <a:p>
            <a:r>
              <a:rPr lang="en-US" dirty="0"/>
              <a:t>Future initiatives</a:t>
            </a:r>
          </a:p>
        </p:txBody>
      </p:sp>
      <p:sp>
        <p:nvSpPr>
          <p:cNvPr id="5" name="Slide Number Placeholder 4">
            <a:extLst>
              <a:ext uri="{FF2B5EF4-FFF2-40B4-BE49-F238E27FC236}">
                <a16:creationId xmlns:a16="http://schemas.microsoft.com/office/drawing/2014/main" id="{269330A5-9701-4D21-4CCC-742D1F9B425E}"/>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17</a:t>
            </a:fld>
            <a:endParaRPr lang="en-US" dirty="0"/>
          </a:p>
        </p:txBody>
      </p:sp>
    </p:spTree>
    <p:extLst>
      <p:ext uri="{BB962C8B-B14F-4D97-AF65-F5344CB8AC3E}">
        <p14:creationId xmlns:p14="http://schemas.microsoft.com/office/powerpoint/2010/main" val="8522095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B81E6-1867-27A1-6531-F327A72D5C84}"/>
              </a:ext>
            </a:extLst>
          </p:cNvPr>
          <p:cNvSpPr>
            <a:spLocks noGrp="1"/>
          </p:cNvSpPr>
          <p:nvPr>
            <p:ph type="title"/>
          </p:nvPr>
        </p:nvSpPr>
        <p:spPr>
          <a:xfrm>
            <a:off x="6099048" y="658368"/>
            <a:ext cx="5486400" cy="3621024"/>
          </a:xfrm>
        </p:spPr>
        <p:txBody>
          <a:bodyPr/>
          <a:lstStyle/>
          <a:p>
            <a:r>
              <a:rPr lang="en-US" dirty="0"/>
              <a:t>STRATEGIES FOR GROWTH</a:t>
            </a:r>
          </a:p>
        </p:txBody>
      </p:sp>
      <p:pic>
        <p:nvPicPr>
          <p:cNvPr id="5" name="Picture Placeholder 4" descr="Umbrellas at the beach">
            <a:extLst>
              <a:ext uri="{FF2B5EF4-FFF2-40B4-BE49-F238E27FC236}">
                <a16:creationId xmlns:a16="http://schemas.microsoft.com/office/drawing/2014/main" id="{C9711FA8-82E0-BC2D-81D0-FE7DE3A5C723}"/>
              </a:ext>
            </a:extLst>
          </p:cNvPr>
          <p:cNvPicPr>
            <a:picLocks noGrp="1" noChangeAspect="1"/>
          </p:cNvPicPr>
          <p:nvPr>
            <p:ph type="pic" sz="quarter" idx="11"/>
          </p:nvPr>
        </p:nvPicPr>
        <p:blipFill>
          <a:blip r:embed="rId2"/>
          <a:srcRect l="40" r="40"/>
          <a:stretch/>
        </p:blipFill>
        <p:spPr>
          <a:xfrm>
            <a:off x="630936" y="576072"/>
            <a:ext cx="4023360" cy="5495544"/>
          </a:xfrm>
        </p:spPr>
      </p:pic>
      <p:sp>
        <p:nvSpPr>
          <p:cNvPr id="3" name="Text Placeholder 2">
            <a:extLst>
              <a:ext uri="{FF2B5EF4-FFF2-40B4-BE49-F238E27FC236}">
                <a16:creationId xmlns:a16="http://schemas.microsoft.com/office/drawing/2014/main" id="{5C27B755-8483-1C3D-23B2-7AFF295A449E}"/>
              </a:ext>
            </a:extLst>
          </p:cNvPr>
          <p:cNvSpPr>
            <a:spLocks noGrp="1"/>
          </p:cNvSpPr>
          <p:nvPr>
            <p:ph type="body" sz="quarter" idx="10"/>
          </p:nvPr>
        </p:nvSpPr>
        <p:spPr>
          <a:xfrm>
            <a:off x="6099048" y="4553712"/>
            <a:ext cx="5486400" cy="1005840"/>
          </a:xfrm>
        </p:spPr>
        <p:txBody>
          <a:bodyPr/>
          <a:lstStyle/>
          <a:p>
            <a:r>
              <a:rPr lang="en-US" dirty="0"/>
              <a:t>Navigating the future</a:t>
            </a:r>
          </a:p>
          <a:p>
            <a:endParaRPr lang="en-US" dirty="0"/>
          </a:p>
        </p:txBody>
      </p:sp>
    </p:spTree>
    <p:extLst>
      <p:ext uri="{BB962C8B-B14F-4D97-AF65-F5344CB8AC3E}">
        <p14:creationId xmlns:p14="http://schemas.microsoft.com/office/powerpoint/2010/main" val="2348906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99B05-C604-092A-7393-1520DFBF0872}"/>
              </a:ext>
            </a:extLst>
          </p:cNvPr>
          <p:cNvSpPr>
            <a:spLocks noGrp="1"/>
          </p:cNvSpPr>
          <p:nvPr>
            <p:ph type="title"/>
          </p:nvPr>
        </p:nvSpPr>
        <p:spPr>
          <a:xfrm>
            <a:off x="777240" y="365760"/>
            <a:ext cx="10149840" cy="1545336"/>
          </a:xfrm>
        </p:spPr>
        <p:txBody>
          <a:bodyPr/>
          <a:lstStyle/>
          <a:p>
            <a:r>
              <a:rPr lang="en-US" dirty="0"/>
              <a:t>Current market analysis</a:t>
            </a:r>
          </a:p>
        </p:txBody>
      </p:sp>
      <p:sp>
        <p:nvSpPr>
          <p:cNvPr id="3" name="Content Placeholder 2">
            <a:extLst>
              <a:ext uri="{FF2B5EF4-FFF2-40B4-BE49-F238E27FC236}">
                <a16:creationId xmlns:a16="http://schemas.microsoft.com/office/drawing/2014/main" id="{20229CA5-F65D-C44D-D811-E9647AD65584}"/>
              </a:ext>
            </a:extLst>
          </p:cNvPr>
          <p:cNvSpPr>
            <a:spLocks noGrp="1"/>
          </p:cNvSpPr>
          <p:nvPr>
            <p:ph idx="1"/>
          </p:nvPr>
        </p:nvSpPr>
        <p:spPr>
          <a:xfrm>
            <a:off x="777240" y="2093976"/>
            <a:ext cx="4370832" cy="3776472"/>
          </a:xfrm>
        </p:spPr>
        <p:txBody>
          <a:bodyPr/>
          <a:lstStyle/>
          <a:p>
            <a:r>
              <a:rPr lang="en-US" dirty="0"/>
              <a:t>Make eye contact with your audience to create a sense of intimacy and involvement</a:t>
            </a:r>
          </a:p>
          <a:p>
            <a:r>
              <a:rPr lang="en-US" dirty="0"/>
              <a:t>Weave relatable stories into your presentation using narratives that make your message memorable and impactful</a:t>
            </a:r>
          </a:p>
          <a:p>
            <a:endParaRPr lang="en-US" dirty="0"/>
          </a:p>
        </p:txBody>
      </p:sp>
      <p:sp>
        <p:nvSpPr>
          <p:cNvPr id="6" name="Content Placeholder 5">
            <a:extLst>
              <a:ext uri="{FF2B5EF4-FFF2-40B4-BE49-F238E27FC236}">
                <a16:creationId xmlns:a16="http://schemas.microsoft.com/office/drawing/2014/main" id="{3C6CC8E5-7AE6-8398-DD50-E5FE543E3C97}"/>
              </a:ext>
            </a:extLst>
          </p:cNvPr>
          <p:cNvSpPr>
            <a:spLocks noGrp="1"/>
          </p:cNvSpPr>
          <p:nvPr>
            <p:ph idx="13"/>
          </p:nvPr>
        </p:nvSpPr>
        <p:spPr>
          <a:xfrm>
            <a:off x="6099048" y="2112264"/>
            <a:ext cx="4370832" cy="3776472"/>
          </a:xfrm>
        </p:spPr>
        <p:txBody>
          <a:bodyPr/>
          <a:lstStyle/>
          <a:p>
            <a:r>
              <a:rPr lang="en-US" dirty="0"/>
              <a:t>Encourage questions and provide thoughtful responses to enhance audience participation</a:t>
            </a:r>
          </a:p>
          <a:p>
            <a:r>
              <a:rPr lang="en-US" dirty="0"/>
              <a:t>Use live polls or surveys to gather audience opinions, promoting engagement and making sure the audience feel involved</a:t>
            </a:r>
          </a:p>
          <a:p>
            <a:endParaRPr lang="en-US" dirty="0"/>
          </a:p>
        </p:txBody>
      </p:sp>
      <p:sp>
        <p:nvSpPr>
          <p:cNvPr id="5" name="Slide Number Placeholder 4">
            <a:extLst>
              <a:ext uri="{FF2B5EF4-FFF2-40B4-BE49-F238E27FC236}">
                <a16:creationId xmlns:a16="http://schemas.microsoft.com/office/drawing/2014/main" id="{8CBF3930-7226-63E0-7754-B4FBBDA56AE5}"/>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19</a:t>
            </a:fld>
            <a:endParaRPr lang="en-US" dirty="0"/>
          </a:p>
        </p:txBody>
      </p:sp>
    </p:spTree>
    <p:extLst>
      <p:ext uri="{BB962C8B-B14F-4D97-AF65-F5344CB8AC3E}">
        <p14:creationId xmlns:p14="http://schemas.microsoft.com/office/powerpoint/2010/main" val="685724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D5C0C-AC08-411A-5743-AAEE17931EFD}"/>
              </a:ext>
            </a:extLst>
          </p:cNvPr>
          <p:cNvSpPr>
            <a:spLocks noGrp="1"/>
          </p:cNvSpPr>
          <p:nvPr>
            <p:ph type="title"/>
          </p:nvPr>
        </p:nvSpPr>
        <p:spPr>
          <a:xfrm>
            <a:off x="768096" y="685800"/>
            <a:ext cx="5486400" cy="3383280"/>
          </a:xfrm>
        </p:spPr>
        <p:txBody>
          <a:bodyPr/>
          <a:lstStyle/>
          <a:p>
            <a:r>
              <a:rPr lang="en-US" dirty="0"/>
              <a:t>MARKET</a:t>
            </a:r>
            <a:br>
              <a:rPr lang="en-US" dirty="0"/>
            </a:br>
            <a:r>
              <a:rPr lang="en-US" dirty="0"/>
              <a:t>EXPANSION</a:t>
            </a:r>
          </a:p>
        </p:txBody>
      </p:sp>
      <p:sp>
        <p:nvSpPr>
          <p:cNvPr id="3" name="Text Placeholder 2">
            <a:extLst>
              <a:ext uri="{FF2B5EF4-FFF2-40B4-BE49-F238E27FC236}">
                <a16:creationId xmlns:a16="http://schemas.microsoft.com/office/drawing/2014/main" id="{B37360DF-3FD1-505F-FB7F-3AD167868E9D}"/>
              </a:ext>
            </a:extLst>
          </p:cNvPr>
          <p:cNvSpPr>
            <a:spLocks noGrp="1"/>
          </p:cNvSpPr>
          <p:nvPr>
            <p:ph type="body" sz="quarter" idx="10"/>
          </p:nvPr>
        </p:nvSpPr>
        <p:spPr>
          <a:xfrm>
            <a:off x="768096" y="4343400"/>
            <a:ext cx="5486400" cy="1005840"/>
          </a:xfrm>
        </p:spPr>
        <p:txBody>
          <a:bodyPr/>
          <a:lstStyle/>
          <a:p>
            <a:r>
              <a:rPr lang="en-US" dirty="0"/>
              <a:t>Unlocking new horizons</a:t>
            </a:r>
          </a:p>
          <a:p>
            <a:endParaRPr lang="en-US" dirty="0"/>
          </a:p>
        </p:txBody>
      </p:sp>
      <p:pic>
        <p:nvPicPr>
          <p:cNvPr id="8" name="Picture Placeholder 7" descr="Person with large hat on a wooden chair on the beach">
            <a:extLst>
              <a:ext uri="{FF2B5EF4-FFF2-40B4-BE49-F238E27FC236}">
                <a16:creationId xmlns:a16="http://schemas.microsoft.com/office/drawing/2014/main" id="{1A2C36C1-B28E-D335-858C-C9746B6F79C6}"/>
              </a:ext>
            </a:extLst>
          </p:cNvPr>
          <p:cNvPicPr>
            <a:picLocks noGrp="1" noChangeAspect="1"/>
          </p:cNvPicPr>
          <p:nvPr>
            <p:ph type="pic" sz="quarter" idx="11"/>
          </p:nvPr>
        </p:nvPicPr>
        <p:blipFill>
          <a:blip r:embed="rId2"/>
          <a:srcRect t="16" b="16"/>
          <a:stretch/>
        </p:blipFill>
        <p:spPr>
          <a:xfrm>
            <a:off x="6684264" y="576072"/>
            <a:ext cx="4023360" cy="5495544"/>
          </a:xfrm>
        </p:spPr>
      </p:pic>
    </p:spTree>
    <p:extLst>
      <p:ext uri="{BB962C8B-B14F-4D97-AF65-F5344CB8AC3E}">
        <p14:creationId xmlns:p14="http://schemas.microsoft.com/office/powerpoint/2010/main" val="2207652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5FB9-8092-6AC4-0B88-415B5224C3DC}"/>
              </a:ext>
            </a:extLst>
          </p:cNvPr>
          <p:cNvSpPr>
            <a:spLocks noGrp="1"/>
          </p:cNvSpPr>
          <p:nvPr>
            <p:ph type="title"/>
          </p:nvPr>
        </p:nvSpPr>
        <p:spPr/>
        <p:txBody>
          <a:bodyPr/>
          <a:lstStyle/>
          <a:p>
            <a:r>
              <a:rPr lang="en-US" dirty="0">
                <a:solidFill>
                  <a:schemeClr val="accent4">
                    <a:lumMod val="75000"/>
                  </a:schemeClr>
                </a:solidFill>
              </a:rPr>
              <a:t>Dynamic delivery</a:t>
            </a:r>
            <a:endParaRPr lang="en-US" dirty="0"/>
          </a:p>
        </p:txBody>
      </p:sp>
      <p:sp>
        <p:nvSpPr>
          <p:cNvPr id="3" name="Content Placeholder 2">
            <a:extLst>
              <a:ext uri="{FF2B5EF4-FFF2-40B4-BE49-F238E27FC236}">
                <a16:creationId xmlns:a16="http://schemas.microsoft.com/office/drawing/2014/main" id="{5EDF0A71-CCBA-435C-46F6-1381739D2F56}"/>
              </a:ext>
            </a:extLst>
          </p:cNvPr>
          <p:cNvSpPr>
            <a:spLocks noGrp="1"/>
          </p:cNvSpPr>
          <p:nvPr>
            <p:ph idx="1"/>
          </p:nvPr>
        </p:nvSpPr>
        <p:spPr/>
        <p:txBody>
          <a:bodyPr/>
          <a:lstStyle/>
          <a:p>
            <a:pPr>
              <a:spcAft>
                <a:spcPts val="1800"/>
              </a:spcAft>
              <a:buClr>
                <a:schemeClr val="accent3">
                  <a:lumMod val="75000"/>
                </a:schemeClr>
              </a:buClr>
            </a:pPr>
            <a:r>
              <a:rPr lang="en-US" sz="1800" dirty="0">
                <a:solidFill>
                  <a:schemeClr val="accent4">
                    <a:lumMod val="50000"/>
                  </a:schemeClr>
                </a:solidFill>
              </a:rPr>
              <a:t>Currently gearing up for a ground-breaking launch </a:t>
            </a:r>
          </a:p>
          <a:p>
            <a:pPr>
              <a:spcAft>
                <a:spcPts val="1800"/>
              </a:spcAft>
              <a:buClr>
                <a:schemeClr val="accent3">
                  <a:lumMod val="75000"/>
                </a:schemeClr>
              </a:buClr>
            </a:pPr>
            <a:r>
              <a:rPr lang="en-US" sz="1800" dirty="0">
                <a:solidFill>
                  <a:schemeClr val="accent4">
                    <a:lumMod val="50000"/>
                  </a:schemeClr>
                </a:solidFill>
              </a:rPr>
              <a:t>Our new offerings will captivate the market</a:t>
            </a:r>
          </a:p>
          <a:p>
            <a:pPr>
              <a:spcAft>
                <a:spcPts val="1800"/>
              </a:spcAft>
              <a:buClr>
                <a:schemeClr val="accent3">
                  <a:lumMod val="75000"/>
                </a:schemeClr>
              </a:buClr>
            </a:pPr>
            <a:r>
              <a:rPr lang="en-US" sz="1800" dirty="0">
                <a:solidFill>
                  <a:schemeClr val="accent4">
                    <a:lumMod val="50000"/>
                  </a:schemeClr>
                </a:solidFill>
              </a:rPr>
              <a:t>Our marketing campaign will generate anticipation</a:t>
            </a:r>
          </a:p>
          <a:p>
            <a:endParaRPr lang="en-US" dirty="0"/>
          </a:p>
        </p:txBody>
      </p:sp>
      <p:sp>
        <p:nvSpPr>
          <p:cNvPr id="5" name="Slide Number Placeholder 4">
            <a:extLst>
              <a:ext uri="{FF2B5EF4-FFF2-40B4-BE49-F238E27FC236}">
                <a16:creationId xmlns:a16="http://schemas.microsoft.com/office/drawing/2014/main" id="{A915BC64-6AC5-A7BE-0281-C9832CBF4D7F}"/>
              </a:ext>
            </a:extLst>
          </p:cNvPr>
          <p:cNvSpPr>
            <a:spLocks noGrp="1"/>
          </p:cNvSpPr>
          <p:nvPr>
            <p:ph type="sldNum" sz="quarter" idx="12"/>
          </p:nvPr>
        </p:nvSpPr>
        <p:spPr/>
        <p:txBody>
          <a:bodyPr/>
          <a:lstStyle/>
          <a:p>
            <a:fld id="{CBD12358-51D2-46B3-9BDE-DF29528B9454}" type="slidenum">
              <a:rPr lang="en-US" smtClean="0"/>
              <a:t>21</a:t>
            </a:fld>
            <a:endParaRPr lang="en-US" dirty="0"/>
          </a:p>
        </p:txBody>
      </p:sp>
      <p:graphicFrame>
        <p:nvGraphicFramePr>
          <p:cNvPr id="7" name="Content Placeholder 6" descr="A timeline of the product launch">
            <a:extLst>
              <a:ext uri="{FF2B5EF4-FFF2-40B4-BE49-F238E27FC236}">
                <a16:creationId xmlns:a16="http://schemas.microsoft.com/office/drawing/2014/main" id="{801E9530-19BA-1C15-C49F-55660C5772B2}"/>
              </a:ext>
            </a:extLst>
          </p:cNvPr>
          <p:cNvGraphicFramePr>
            <a:graphicFrameLocks noGrp="1"/>
          </p:cNvGraphicFramePr>
          <p:nvPr>
            <p:ph idx="13"/>
            <p:extLst>
              <p:ext uri="{D42A27DB-BD31-4B8C-83A1-F6EECF244321}">
                <p14:modId xmlns:p14="http://schemas.microsoft.com/office/powerpoint/2010/main" val="3808203934"/>
              </p:ext>
            </p:extLst>
          </p:nvPr>
        </p:nvGraphicFramePr>
        <p:xfrm>
          <a:off x="4864100" y="1645920"/>
          <a:ext cx="6383338" cy="3749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8565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77C6F9-B646-5C7D-C75E-C0A52DC72116}"/>
              </a:ext>
            </a:extLst>
          </p:cNvPr>
          <p:cNvSpPr>
            <a:spLocks noGrp="1"/>
          </p:cNvSpPr>
          <p:nvPr>
            <p:ph type="title"/>
          </p:nvPr>
        </p:nvSpPr>
        <p:spPr>
          <a:xfrm>
            <a:off x="777240" y="365760"/>
            <a:ext cx="6291072" cy="2670048"/>
          </a:xfrm>
        </p:spPr>
        <p:txBody>
          <a:bodyPr/>
          <a:lstStyle/>
          <a:p>
            <a:r>
              <a:rPr lang="en-US" dirty="0"/>
              <a:t>Marketing strategies</a:t>
            </a:r>
          </a:p>
        </p:txBody>
      </p:sp>
      <p:sp>
        <p:nvSpPr>
          <p:cNvPr id="6" name="Content Placeholder 5">
            <a:extLst>
              <a:ext uri="{FF2B5EF4-FFF2-40B4-BE49-F238E27FC236}">
                <a16:creationId xmlns:a16="http://schemas.microsoft.com/office/drawing/2014/main" id="{0560E33F-C072-D53E-4C22-9772E6996B38}"/>
              </a:ext>
            </a:extLst>
          </p:cNvPr>
          <p:cNvSpPr>
            <a:spLocks noGrp="1"/>
          </p:cNvSpPr>
          <p:nvPr>
            <p:ph idx="1"/>
          </p:nvPr>
        </p:nvSpPr>
        <p:spPr>
          <a:xfrm>
            <a:off x="777240" y="3346704"/>
            <a:ext cx="6016752" cy="2670048"/>
          </a:xfrm>
        </p:spPr>
        <p:txBody>
          <a:bodyPr>
            <a:normAutofit/>
          </a:bodyPr>
          <a:lstStyle/>
          <a:p>
            <a:r>
              <a:rPr lang="en-US" dirty="0"/>
              <a:t>Implement personalized engagement strategies</a:t>
            </a:r>
          </a:p>
          <a:p>
            <a:r>
              <a:rPr lang="en-US" dirty="0"/>
              <a:t>Tailor campaigns to resonate with specific demographics, fostering a sense of relevance and connection</a:t>
            </a:r>
          </a:p>
          <a:p>
            <a:r>
              <a:rPr lang="en-US" dirty="0"/>
              <a:t>Collaborate with influencers and thought leaders to amplify our brand message</a:t>
            </a:r>
          </a:p>
        </p:txBody>
      </p:sp>
      <p:pic>
        <p:nvPicPr>
          <p:cNvPr id="7" name="Picture Placeholder 6" descr="A close up of a weed on the beach">
            <a:extLst>
              <a:ext uri="{FF2B5EF4-FFF2-40B4-BE49-F238E27FC236}">
                <a16:creationId xmlns:a16="http://schemas.microsoft.com/office/drawing/2014/main" id="{445EDA40-7B1B-CCF2-633A-B6D50868BCB3}"/>
              </a:ext>
            </a:extLst>
          </p:cNvPr>
          <p:cNvPicPr>
            <a:picLocks noGrp="1" noChangeAspect="1"/>
          </p:cNvPicPr>
          <p:nvPr>
            <p:ph type="pic" sz="quarter" idx="13"/>
          </p:nvPr>
        </p:nvPicPr>
        <p:blipFill>
          <a:blip r:embed="rId2"/>
          <a:srcRect t="50" b="50"/>
          <a:stretch/>
        </p:blipFill>
        <p:spPr>
          <a:xfrm>
            <a:off x="7818120" y="950976"/>
            <a:ext cx="4050792" cy="4965192"/>
          </a:xfrm>
        </p:spPr>
      </p:pic>
      <p:sp>
        <p:nvSpPr>
          <p:cNvPr id="3" name="Slide Number Placeholder 2">
            <a:extLst>
              <a:ext uri="{FF2B5EF4-FFF2-40B4-BE49-F238E27FC236}">
                <a16:creationId xmlns:a16="http://schemas.microsoft.com/office/drawing/2014/main" id="{CBFCE61F-A4B1-C1BD-8937-C2A157D029EE}"/>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22</a:t>
            </a:fld>
            <a:endParaRPr lang="en-US" dirty="0"/>
          </a:p>
        </p:txBody>
      </p:sp>
    </p:spTree>
    <p:extLst>
      <p:ext uri="{BB962C8B-B14F-4D97-AF65-F5344CB8AC3E}">
        <p14:creationId xmlns:p14="http://schemas.microsoft.com/office/powerpoint/2010/main" val="2346848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CFC0B0-8375-0EFB-5560-78FD88F24B62}"/>
              </a:ext>
            </a:extLst>
          </p:cNvPr>
          <p:cNvSpPr>
            <a:spLocks noGrp="1"/>
          </p:cNvSpPr>
          <p:nvPr>
            <p:ph type="title"/>
          </p:nvPr>
        </p:nvSpPr>
        <p:spPr>
          <a:xfrm>
            <a:off x="777240" y="667512"/>
            <a:ext cx="3621024" cy="5513832"/>
          </a:xfrm>
        </p:spPr>
        <p:txBody>
          <a:bodyPr/>
          <a:lstStyle/>
          <a:p>
            <a:r>
              <a:rPr lang="en-US" dirty="0"/>
              <a:t>Financial overview</a:t>
            </a:r>
          </a:p>
        </p:txBody>
      </p:sp>
      <p:sp>
        <p:nvSpPr>
          <p:cNvPr id="5" name="Content Placeholder 4">
            <a:extLst>
              <a:ext uri="{FF2B5EF4-FFF2-40B4-BE49-F238E27FC236}">
                <a16:creationId xmlns:a16="http://schemas.microsoft.com/office/drawing/2014/main" id="{26C3EB53-F5A8-F2BE-C684-067C8F8AA61A}"/>
              </a:ext>
            </a:extLst>
          </p:cNvPr>
          <p:cNvSpPr>
            <a:spLocks noGrp="1"/>
          </p:cNvSpPr>
          <p:nvPr>
            <p:ph idx="1"/>
          </p:nvPr>
        </p:nvSpPr>
        <p:spPr>
          <a:xfrm>
            <a:off x="4846320" y="1161288"/>
            <a:ext cx="5276088" cy="4535424"/>
          </a:xfrm>
        </p:spPr>
        <p:txBody>
          <a:bodyPr>
            <a:normAutofit/>
          </a:bodyPr>
          <a:lstStyle/>
          <a:p>
            <a:r>
              <a:rPr lang="en-US" dirty="0"/>
              <a:t>Our financial overview reflects a robust and resilient fiscal performance.</a:t>
            </a:r>
          </a:p>
          <a:p>
            <a:r>
              <a:rPr lang="en-US" dirty="0"/>
              <a:t>Key indicators show consistent revenue growth over the past quarter, attributed to strategic cost management and successful marketing.</a:t>
            </a:r>
          </a:p>
          <a:p>
            <a:r>
              <a:rPr lang="en-US" dirty="0"/>
              <a:t>Operating margins have improved, signaling operational efficiency, while strengthening our reserves.</a:t>
            </a:r>
          </a:p>
          <a:p>
            <a:r>
              <a:rPr lang="en-US" dirty="0"/>
              <a:t>This underscores our commitment to financial stability, positioning us for sustained growth. </a:t>
            </a:r>
          </a:p>
        </p:txBody>
      </p:sp>
      <p:sp>
        <p:nvSpPr>
          <p:cNvPr id="3" name="Slide Number Placeholder 2">
            <a:extLst>
              <a:ext uri="{FF2B5EF4-FFF2-40B4-BE49-F238E27FC236}">
                <a16:creationId xmlns:a16="http://schemas.microsoft.com/office/drawing/2014/main" id="{B24C7587-DB63-4AB0-CEFD-FA701A9E8F26}"/>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23</a:t>
            </a:fld>
            <a:endParaRPr lang="en-US" dirty="0"/>
          </a:p>
        </p:txBody>
      </p:sp>
    </p:spTree>
    <p:extLst>
      <p:ext uri="{BB962C8B-B14F-4D97-AF65-F5344CB8AC3E}">
        <p14:creationId xmlns:p14="http://schemas.microsoft.com/office/powerpoint/2010/main" val="675328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CC4E6D-ED41-3B9C-A04D-0DD72A5B0E24}"/>
              </a:ext>
            </a:extLst>
          </p:cNvPr>
          <p:cNvSpPr>
            <a:spLocks noGrp="1"/>
          </p:cNvSpPr>
          <p:nvPr>
            <p:ph type="title"/>
          </p:nvPr>
        </p:nvSpPr>
        <p:spPr>
          <a:xfrm>
            <a:off x="777240" y="365760"/>
            <a:ext cx="10890504" cy="1545336"/>
          </a:xfrm>
        </p:spPr>
        <p:txBody>
          <a:bodyPr/>
          <a:lstStyle/>
          <a:p>
            <a:r>
              <a:rPr lang="en-US" dirty="0"/>
              <a:t>Quarterly targets</a:t>
            </a:r>
          </a:p>
        </p:txBody>
      </p:sp>
      <p:sp>
        <p:nvSpPr>
          <p:cNvPr id="5" name="Content Placeholder 4">
            <a:extLst>
              <a:ext uri="{FF2B5EF4-FFF2-40B4-BE49-F238E27FC236}">
                <a16:creationId xmlns:a16="http://schemas.microsoft.com/office/drawing/2014/main" id="{94B2A761-53FB-6C7B-DA9E-26D46207B5BE}"/>
              </a:ext>
            </a:extLst>
          </p:cNvPr>
          <p:cNvSpPr>
            <a:spLocks noGrp="1"/>
          </p:cNvSpPr>
          <p:nvPr>
            <p:ph idx="1"/>
          </p:nvPr>
        </p:nvSpPr>
        <p:spPr>
          <a:xfrm>
            <a:off x="777240" y="2093976"/>
            <a:ext cx="2880360" cy="3776472"/>
          </a:xfrm>
        </p:spPr>
        <p:txBody>
          <a:bodyPr/>
          <a:lstStyle/>
          <a:p>
            <a:r>
              <a:rPr lang="en-US" dirty="0"/>
              <a:t>Market expansion</a:t>
            </a:r>
          </a:p>
          <a:p>
            <a:r>
              <a:rPr lang="en-US" dirty="0"/>
              <a:t>Product innovation</a:t>
            </a:r>
          </a:p>
          <a:p>
            <a:r>
              <a:rPr lang="en-US" dirty="0"/>
              <a:t>Customer retention</a:t>
            </a:r>
          </a:p>
          <a:p>
            <a:r>
              <a:rPr lang="en-US" dirty="0"/>
              <a:t>Operational efficiency</a:t>
            </a:r>
          </a:p>
          <a:p>
            <a:endParaRPr lang="en-US" dirty="0"/>
          </a:p>
        </p:txBody>
      </p:sp>
      <p:graphicFrame>
        <p:nvGraphicFramePr>
          <p:cNvPr id="7" name="Table Placeholder 2">
            <a:extLst>
              <a:ext uri="{FF2B5EF4-FFF2-40B4-BE49-F238E27FC236}">
                <a16:creationId xmlns:a16="http://schemas.microsoft.com/office/drawing/2014/main" id="{FF220D15-C864-12C9-055A-DB44DD16F45E}"/>
              </a:ext>
            </a:extLst>
          </p:cNvPr>
          <p:cNvGraphicFramePr>
            <a:graphicFrameLocks noGrp="1"/>
          </p:cNvGraphicFramePr>
          <p:nvPr>
            <p:ph idx="13"/>
            <p:extLst>
              <p:ext uri="{D42A27DB-BD31-4B8C-83A1-F6EECF244321}">
                <p14:modId xmlns:p14="http://schemas.microsoft.com/office/powerpoint/2010/main" val="2475220661"/>
              </p:ext>
            </p:extLst>
          </p:nvPr>
        </p:nvGraphicFramePr>
        <p:xfrm>
          <a:off x="4260850" y="2093913"/>
          <a:ext cx="6968359" cy="4016470"/>
        </p:xfrm>
        <a:graphic>
          <a:graphicData uri="http://schemas.openxmlformats.org/drawingml/2006/table">
            <a:tbl>
              <a:tblPr firstRow="1" bandRow="1">
                <a:tableStyleId>{17292A2E-F333-43FB-9621-5CBBE7FDCDCB}</a:tableStyleId>
              </a:tblPr>
              <a:tblGrid>
                <a:gridCol w="1756953">
                  <a:extLst>
                    <a:ext uri="{9D8B030D-6E8A-4147-A177-3AD203B41FA5}">
                      <a16:colId xmlns:a16="http://schemas.microsoft.com/office/drawing/2014/main" val="30750867"/>
                    </a:ext>
                  </a:extLst>
                </a:gridCol>
                <a:gridCol w="1745062">
                  <a:extLst>
                    <a:ext uri="{9D8B030D-6E8A-4147-A177-3AD203B41FA5}">
                      <a16:colId xmlns:a16="http://schemas.microsoft.com/office/drawing/2014/main" val="1038941322"/>
                    </a:ext>
                  </a:extLst>
                </a:gridCol>
                <a:gridCol w="1733172">
                  <a:extLst>
                    <a:ext uri="{9D8B030D-6E8A-4147-A177-3AD203B41FA5}">
                      <a16:colId xmlns:a16="http://schemas.microsoft.com/office/drawing/2014/main" val="529645500"/>
                    </a:ext>
                  </a:extLst>
                </a:gridCol>
                <a:gridCol w="1733172">
                  <a:extLst>
                    <a:ext uri="{9D8B030D-6E8A-4147-A177-3AD203B41FA5}">
                      <a16:colId xmlns:a16="http://schemas.microsoft.com/office/drawing/2014/main" val="3469610457"/>
                    </a:ext>
                  </a:extLst>
                </a:gridCol>
              </a:tblGrid>
              <a:tr h="803294">
                <a:tc>
                  <a:txBody>
                    <a:bodyPr/>
                    <a:lstStyle/>
                    <a:p>
                      <a:pPr algn="ctr"/>
                      <a:r>
                        <a:rPr lang="en-US" dirty="0"/>
                        <a:t>Quarter</a:t>
                      </a:r>
                    </a:p>
                  </a:txBody>
                  <a:tcPr anchor="ctr"/>
                </a:tc>
                <a:tc>
                  <a:txBody>
                    <a:bodyPr/>
                    <a:lstStyle/>
                    <a:p>
                      <a:pPr algn="ctr"/>
                      <a:r>
                        <a:rPr lang="en-US" dirty="0"/>
                        <a:t>Revenue growth (%)</a:t>
                      </a:r>
                    </a:p>
                  </a:txBody>
                  <a:tcPr anchor="ctr"/>
                </a:tc>
                <a:tc>
                  <a:txBody>
                    <a:bodyPr/>
                    <a:lstStyle/>
                    <a:p>
                      <a:pPr algn="ctr"/>
                      <a:r>
                        <a:rPr lang="en-US" dirty="0"/>
                        <a:t>Market share increase (%)</a:t>
                      </a:r>
                    </a:p>
                  </a:txBody>
                  <a:tcPr anchor="ctr"/>
                </a:tc>
                <a:tc>
                  <a:txBody>
                    <a:bodyPr/>
                    <a:lstStyle/>
                    <a:p>
                      <a:pPr algn="ctr"/>
                      <a:r>
                        <a:rPr lang="en-US" dirty="0"/>
                        <a:t>Customer acquisition</a:t>
                      </a:r>
                    </a:p>
                  </a:txBody>
                  <a:tcPr anchor="ctr"/>
                </a:tc>
                <a:extLst>
                  <a:ext uri="{0D108BD9-81ED-4DB2-BD59-A6C34878D82A}">
                    <a16:rowId xmlns:a16="http://schemas.microsoft.com/office/drawing/2014/main" val="4251432886"/>
                  </a:ext>
                </a:extLst>
              </a:tr>
              <a:tr h="803294">
                <a:tc>
                  <a:txBody>
                    <a:bodyPr/>
                    <a:lstStyle/>
                    <a:p>
                      <a:pPr algn="ctr"/>
                      <a:r>
                        <a:rPr lang="en-US" dirty="0"/>
                        <a:t>Q1</a:t>
                      </a:r>
                    </a:p>
                  </a:txBody>
                  <a:tcPr anchor="ctr"/>
                </a:tc>
                <a:tc>
                  <a:txBody>
                    <a:bodyPr/>
                    <a:lstStyle/>
                    <a:p>
                      <a:pPr algn="ctr"/>
                      <a:r>
                        <a:rPr lang="en-US" dirty="0"/>
                        <a:t>12</a:t>
                      </a:r>
                    </a:p>
                  </a:txBody>
                  <a:tcPr anchor="ctr"/>
                </a:tc>
                <a:tc>
                  <a:txBody>
                    <a:bodyPr/>
                    <a:lstStyle/>
                    <a:p>
                      <a:pPr algn="ctr"/>
                      <a:r>
                        <a:rPr lang="en-US" dirty="0"/>
                        <a:t>2</a:t>
                      </a:r>
                    </a:p>
                  </a:txBody>
                  <a:tcPr anchor="ctr"/>
                </a:tc>
                <a:tc>
                  <a:txBody>
                    <a:bodyPr/>
                    <a:lstStyle/>
                    <a:p>
                      <a:pPr algn="ctr"/>
                      <a:r>
                        <a:rPr lang="en-US" dirty="0"/>
                        <a:t>500</a:t>
                      </a:r>
                    </a:p>
                  </a:txBody>
                  <a:tcPr anchor="ctr"/>
                </a:tc>
                <a:extLst>
                  <a:ext uri="{0D108BD9-81ED-4DB2-BD59-A6C34878D82A}">
                    <a16:rowId xmlns:a16="http://schemas.microsoft.com/office/drawing/2014/main" val="360240625"/>
                  </a:ext>
                </a:extLst>
              </a:tr>
              <a:tr h="803294">
                <a:tc>
                  <a:txBody>
                    <a:bodyPr/>
                    <a:lstStyle/>
                    <a:p>
                      <a:pPr algn="ctr"/>
                      <a:r>
                        <a:rPr lang="en-US" dirty="0"/>
                        <a:t>Q2</a:t>
                      </a:r>
                    </a:p>
                  </a:txBody>
                  <a:tcPr anchor="ctr"/>
                </a:tc>
                <a:tc>
                  <a:txBody>
                    <a:bodyPr/>
                    <a:lstStyle/>
                    <a:p>
                      <a:pPr algn="ctr"/>
                      <a:r>
                        <a:rPr lang="en-US" dirty="0"/>
                        <a:t>15</a:t>
                      </a:r>
                    </a:p>
                  </a:txBody>
                  <a:tcPr anchor="ctr"/>
                </a:tc>
                <a:tc>
                  <a:txBody>
                    <a:bodyPr/>
                    <a:lstStyle/>
                    <a:p>
                      <a:pPr algn="ctr"/>
                      <a:r>
                        <a:rPr lang="en-US" dirty="0"/>
                        <a:t>3</a:t>
                      </a:r>
                    </a:p>
                  </a:txBody>
                  <a:tcPr anchor="ctr"/>
                </a:tc>
                <a:tc>
                  <a:txBody>
                    <a:bodyPr/>
                    <a:lstStyle/>
                    <a:p>
                      <a:pPr algn="ctr"/>
                      <a:r>
                        <a:rPr lang="en-US" dirty="0"/>
                        <a:t>600</a:t>
                      </a:r>
                    </a:p>
                  </a:txBody>
                  <a:tcPr anchor="ctr"/>
                </a:tc>
                <a:extLst>
                  <a:ext uri="{0D108BD9-81ED-4DB2-BD59-A6C34878D82A}">
                    <a16:rowId xmlns:a16="http://schemas.microsoft.com/office/drawing/2014/main" val="2762393470"/>
                  </a:ext>
                </a:extLst>
              </a:tr>
              <a:tr h="803294">
                <a:tc>
                  <a:txBody>
                    <a:bodyPr/>
                    <a:lstStyle/>
                    <a:p>
                      <a:pPr algn="ctr"/>
                      <a:r>
                        <a:rPr lang="en-US" dirty="0"/>
                        <a:t>Q3</a:t>
                      </a:r>
                    </a:p>
                  </a:txBody>
                  <a:tcPr anchor="ctr"/>
                </a:tc>
                <a:tc>
                  <a:txBody>
                    <a:bodyPr/>
                    <a:lstStyle/>
                    <a:p>
                      <a:pPr algn="ctr"/>
                      <a:r>
                        <a:rPr lang="en-US" dirty="0"/>
                        <a:t>18</a:t>
                      </a:r>
                    </a:p>
                  </a:txBody>
                  <a:tcPr anchor="ctr"/>
                </a:tc>
                <a:tc>
                  <a:txBody>
                    <a:bodyPr/>
                    <a:lstStyle/>
                    <a:p>
                      <a:pPr algn="ctr"/>
                      <a:r>
                        <a:rPr lang="en-US" dirty="0"/>
                        <a:t>4</a:t>
                      </a:r>
                    </a:p>
                  </a:txBody>
                  <a:tcPr anchor="ctr"/>
                </a:tc>
                <a:tc>
                  <a:txBody>
                    <a:bodyPr/>
                    <a:lstStyle/>
                    <a:p>
                      <a:pPr algn="ctr"/>
                      <a:r>
                        <a:rPr lang="en-US" dirty="0"/>
                        <a:t>700</a:t>
                      </a:r>
                    </a:p>
                  </a:txBody>
                  <a:tcPr anchor="ctr"/>
                </a:tc>
                <a:extLst>
                  <a:ext uri="{0D108BD9-81ED-4DB2-BD59-A6C34878D82A}">
                    <a16:rowId xmlns:a16="http://schemas.microsoft.com/office/drawing/2014/main" val="1311364400"/>
                  </a:ext>
                </a:extLst>
              </a:tr>
              <a:tr h="803294">
                <a:tc>
                  <a:txBody>
                    <a:bodyPr/>
                    <a:lstStyle/>
                    <a:p>
                      <a:pPr algn="ctr"/>
                      <a:r>
                        <a:rPr lang="en-US" dirty="0"/>
                        <a:t>Q4</a:t>
                      </a:r>
                    </a:p>
                  </a:txBody>
                  <a:tcPr anchor="ctr"/>
                </a:tc>
                <a:tc>
                  <a:txBody>
                    <a:bodyPr/>
                    <a:lstStyle/>
                    <a:p>
                      <a:pPr algn="ctr"/>
                      <a:r>
                        <a:rPr lang="en-US" dirty="0"/>
                        <a:t>20</a:t>
                      </a:r>
                    </a:p>
                  </a:txBody>
                  <a:tcPr anchor="ctr"/>
                </a:tc>
                <a:tc>
                  <a:txBody>
                    <a:bodyPr/>
                    <a:lstStyle/>
                    <a:p>
                      <a:pPr algn="ctr"/>
                      <a:r>
                        <a:rPr lang="en-US" dirty="0"/>
                        <a:t>5</a:t>
                      </a:r>
                    </a:p>
                  </a:txBody>
                  <a:tcPr anchor="ctr"/>
                </a:tc>
                <a:tc>
                  <a:txBody>
                    <a:bodyPr/>
                    <a:lstStyle/>
                    <a:p>
                      <a:pPr algn="ctr"/>
                      <a:r>
                        <a:rPr lang="en-US" dirty="0"/>
                        <a:t>800</a:t>
                      </a:r>
                    </a:p>
                  </a:txBody>
                  <a:tcPr anchor="ctr"/>
                </a:tc>
                <a:extLst>
                  <a:ext uri="{0D108BD9-81ED-4DB2-BD59-A6C34878D82A}">
                    <a16:rowId xmlns:a16="http://schemas.microsoft.com/office/drawing/2014/main" val="2526263980"/>
                  </a:ext>
                </a:extLst>
              </a:tr>
            </a:tbl>
          </a:graphicData>
        </a:graphic>
      </p:graphicFrame>
      <p:sp>
        <p:nvSpPr>
          <p:cNvPr id="3" name="Slide Number Placeholder 2">
            <a:extLst>
              <a:ext uri="{FF2B5EF4-FFF2-40B4-BE49-F238E27FC236}">
                <a16:creationId xmlns:a16="http://schemas.microsoft.com/office/drawing/2014/main" id="{F1210C35-A628-0DFD-9B82-B9D92A99CCA0}"/>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24</a:t>
            </a:fld>
            <a:endParaRPr lang="en-US" dirty="0"/>
          </a:p>
        </p:txBody>
      </p:sp>
    </p:spTree>
    <p:extLst>
      <p:ext uri="{BB962C8B-B14F-4D97-AF65-F5344CB8AC3E}">
        <p14:creationId xmlns:p14="http://schemas.microsoft.com/office/powerpoint/2010/main" val="1155373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68167B-5A2E-FCAC-1623-F839F32BD90C}"/>
              </a:ext>
            </a:extLst>
          </p:cNvPr>
          <p:cNvSpPr>
            <a:spLocks noGrp="1"/>
          </p:cNvSpPr>
          <p:nvPr>
            <p:ph type="title"/>
          </p:nvPr>
        </p:nvSpPr>
        <p:spPr>
          <a:xfrm>
            <a:off x="777240" y="365760"/>
            <a:ext cx="10890504" cy="1545336"/>
          </a:xfrm>
        </p:spPr>
        <p:txBody>
          <a:bodyPr/>
          <a:lstStyle/>
          <a:p>
            <a:r>
              <a:rPr lang="en-US" dirty="0"/>
              <a:t>Financial snapshot</a:t>
            </a:r>
          </a:p>
        </p:txBody>
      </p:sp>
      <p:graphicFrame>
        <p:nvGraphicFramePr>
          <p:cNvPr id="6" name="Table Placeholder 3">
            <a:extLst>
              <a:ext uri="{FF2B5EF4-FFF2-40B4-BE49-F238E27FC236}">
                <a16:creationId xmlns:a16="http://schemas.microsoft.com/office/drawing/2014/main" id="{CE74907B-84BC-35FC-8560-C602C8F63567}"/>
              </a:ext>
            </a:extLst>
          </p:cNvPr>
          <p:cNvGraphicFramePr>
            <a:graphicFrameLocks noGrp="1"/>
          </p:cNvGraphicFramePr>
          <p:nvPr>
            <p:ph idx="13"/>
            <p:extLst>
              <p:ext uri="{D42A27DB-BD31-4B8C-83A1-F6EECF244321}">
                <p14:modId xmlns:p14="http://schemas.microsoft.com/office/powerpoint/2010/main" val="4031518350"/>
              </p:ext>
            </p:extLst>
          </p:nvPr>
        </p:nvGraphicFramePr>
        <p:xfrm>
          <a:off x="804863" y="2093913"/>
          <a:ext cx="10470930" cy="4000494"/>
        </p:xfrm>
        <a:graphic>
          <a:graphicData uri="http://schemas.openxmlformats.org/drawingml/2006/table">
            <a:tbl>
              <a:tblPr firstRow="1" bandRow="1">
                <a:tableStyleId>{17292A2E-F333-43FB-9621-5CBBE7FDCDCB}</a:tableStyleId>
              </a:tblPr>
              <a:tblGrid>
                <a:gridCol w="2743257">
                  <a:extLst>
                    <a:ext uri="{9D8B030D-6E8A-4147-A177-3AD203B41FA5}">
                      <a16:colId xmlns:a16="http://schemas.microsoft.com/office/drawing/2014/main" val="130956065"/>
                    </a:ext>
                  </a:extLst>
                </a:gridCol>
                <a:gridCol w="2377295">
                  <a:extLst>
                    <a:ext uri="{9D8B030D-6E8A-4147-A177-3AD203B41FA5}">
                      <a16:colId xmlns:a16="http://schemas.microsoft.com/office/drawing/2014/main" val="2749965458"/>
                    </a:ext>
                  </a:extLst>
                </a:gridCol>
                <a:gridCol w="2775463">
                  <a:extLst>
                    <a:ext uri="{9D8B030D-6E8A-4147-A177-3AD203B41FA5}">
                      <a16:colId xmlns:a16="http://schemas.microsoft.com/office/drawing/2014/main" val="2116711163"/>
                    </a:ext>
                  </a:extLst>
                </a:gridCol>
                <a:gridCol w="2574915">
                  <a:extLst>
                    <a:ext uri="{9D8B030D-6E8A-4147-A177-3AD203B41FA5}">
                      <a16:colId xmlns:a16="http://schemas.microsoft.com/office/drawing/2014/main" val="1186885001"/>
                    </a:ext>
                  </a:extLst>
                </a:gridCol>
              </a:tblGrid>
              <a:tr h="666749">
                <a:tc>
                  <a:txBody>
                    <a:bodyPr/>
                    <a:lstStyle/>
                    <a:p>
                      <a:pPr marL="274320" algn="ctr"/>
                      <a:r>
                        <a:rPr lang="en-US" dirty="0"/>
                        <a:t>Metric</a:t>
                      </a:r>
                    </a:p>
                  </a:txBody>
                  <a:tcPr anchor="ctr"/>
                </a:tc>
                <a:tc>
                  <a:txBody>
                    <a:bodyPr/>
                    <a:lstStyle/>
                    <a:p>
                      <a:pPr algn="ctr"/>
                      <a:r>
                        <a:rPr lang="en-US" dirty="0"/>
                        <a:t>Current value</a:t>
                      </a:r>
                    </a:p>
                  </a:txBody>
                  <a:tcPr anchor="ctr"/>
                </a:tc>
                <a:tc>
                  <a:txBody>
                    <a:bodyPr/>
                    <a:lstStyle/>
                    <a:p>
                      <a:pPr algn="ctr"/>
                      <a:r>
                        <a:rPr lang="en-US" dirty="0"/>
                        <a:t>Previous quarter</a:t>
                      </a:r>
                    </a:p>
                  </a:txBody>
                  <a:tcPr anchor="ctr"/>
                </a:tc>
                <a:tc>
                  <a:txBody>
                    <a:bodyPr/>
                    <a:lstStyle/>
                    <a:p>
                      <a:pPr algn="ctr"/>
                      <a:r>
                        <a:rPr lang="en-US" dirty="0"/>
                        <a:t>Change (%)</a:t>
                      </a:r>
                    </a:p>
                  </a:txBody>
                  <a:tcPr anchor="ctr"/>
                </a:tc>
                <a:extLst>
                  <a:ext uri="{0D108BD9-81ED-4DB2-BD59-A6C34878D82A}">
                    <a16:rowId xmlns:a16="http://schemas.microsoft.com/office/drawing/2014/main" val="3741017008"/>
                  </a:ext>
                </a:extLst>
              </a:tr>
              <a:tr h="666749">
                <a:tc>
                  <a:txBody>
                    <a:bodyPr/>
                    <a:lstStyle/>
                    <a:p>
                      <a:pPr marL="274320" algn="ctr"/>
                      <a:r>
                        <a:rPr lang="en-US" dirty="0"/>
                        <a:t>Revenue</a:t>
                      </a:r>
                    </a:p>
                  </a:txBody>
                  <a:tcPr anchor="ctr"/>
                </a:tc>
                <a:tc>
                  <a:txBody>
                    <a:bodyPr/>
                    <a:lstStyle/>
                    <a:p>
                      <a:pPr algn="ctr">
                        <a:spcAft>
                          <a:spcPts val="600"/>
                        </a:spcAft>
                      </a:pPr>
                      <a:r>
                        <a:rPr lang="en-US" dirty="0"/>
                        <a:t>$2,500,000</a:t>
                      </a:r>
                    </a:p>
                  </a:txBody>
                  <a:tcPr anchor="ctr"/>
                </a:tc>
                <a:tc>
                  <a:txBody>
                    <a:bodyPr/>
                    <a:lstStyle/>
                    <a:p>
                      <a:pPr algn="ctr">
                        <a:spcAft>
                          <a:spcPts val="600"/>
                        </a:spcAft>
                      </a:pPr>
                      <a:r>
                        <a:rPr lang="en-US" dirty="0"/>
                        <a:t>$2,200,000</a:t>
                      </a:r>
                    </a:p>
                  </a:txBody>
                  <a:tcPr anchor="ctr"/>
                </a:tc>
                <a:tc>
                  <a:txBody>
                    <a:bodyPr/>
                    <a:lstStyle/>
                    <a:p>
                      <a:pPr algn="ctr"/>
                      <a:r>
                        <a:rPr lang="en-US" dirty="0"/>
                        <a:t>+14%</a:t>
                      </a:r>
                    </a:p>
                  </a:txBody>
                  <a:tcPr anchor="ctr"/>
                </a:tc>
                <a:extLst>
                  <a:ext uri="{0D108BD9-81ED-4DB2-BD59-A6C34878D82A}">
                    <a16:rowId xmlns:a16="http://schemas.microsoft.com/office/drawing/2014/main" val="511888340"/>
                  </a:ext>
                </a:extLst>
              </a:tr>
              <a:tr h="666749">
                <a:tc>
                  <a:txBody>
                    <a:bodyPr/>
                    <a:lstStyle/>
                    <a:p>
                      <a:pPr marL="274320" algn="ctr"/>
                      <a:r>
                        <a:rPr lang="en-US" dirty="0"/>
                        <a:t>Operating expenses</a:t>
                      </a:r>
                    </a:p>
                  </a:txBody>
                  <a:tcPr anchor="ctr"/>
                </a:tc>
                <a:tc>
                  <a:txBody>
                    <a:bodyPr/>
                    <a:lstStyle/>
                    <a:p>
                      <a:pPr algn="ctr">
                        <a:spcAft>
                          <a:spcPts val="600"/>
                        </a:spcAft>
                      </a:pPr>
                      <a:r>
                        <a:rPr lang="en-US" dirty="0"/>
                        <a:t>$1,200,000</a:t>
                      </a:r>
                    </a:p>
                  </a:txBody>
                  <a:tcPr anchor="ctr"/>
                </a:tc>
                <a:tc>
                  <a:txBody>
                    <a:bodyPr/>
                    <a:lstStyle/>
                    <a:p>
                      <a:pPr algn="ctr">
                        <a:spcAft>
                          <a:spcPts val="600"/>
                        </a:spcAft>
                      </a:pPr>
                      <a:r>
                        <a:rPr lang="en-US" dirty="0"/>
                        <a:t>$1,400,000</a:t>
                      </a:r>
                    </a:p>
                  </a:txBody>
                  <a:tcPr anchor="ctr"/>
                </a:tc>
                <a:tc>
                  <a:txBody>
                    <a:bodyPr/>
                    <a:lstStyle/>
                    <a:p>
                      <a:pPr algn="ctr"/>
                      <a:r>
                        <a:rPr lang="en-US" dirty="0"/>
                        <a:t>-14%</a:t>
                      </a:r>
                    </a:p>
                  </a:txBody>
                  <a:tcPr anchor="ctr"/>
                </a:tc>
                <a:extLst>
                  <a:ext uri="{0D108BD9-81ED-4DB2-BD59-A6C34878D82A}">
                    <a16:rowId xmlns:a16="http://schemas.microsoft.com/office/drawing/2014/main" val="3937089168"/>
                  </a:ext>
                </a:extLst>
              </a:tr>
              <a:tr h="666749">
                <a:tc>
                  <a:txBody>
                    <a:bodyPr/>
                    <a:lstStyle/>
                    <a:p>
                      <a:pPr marL="274320" algn="ctr"/>
                      <a:r>
                        <a:rPr lang="en-US" dirty="0"/>
                        <a:t>Net profit</a:t>
                      </a:r>
                    </a:p>
                  </a:txBody>
                  <a:tcPr anchor="ctr"/>
                </a:tc>
                <a:tc>
                  <a:txBody>
                    <a:bodyPr/>
                    <a:lstStyle/>
                    <a:p>
                      <a:pPr algn="ctr">
                        <a:spcAft>
                          <a:spcPts val="600"/>
                        </a:spcAft>
                      </a:pPr>
                      <a:r>
                        <a:rPr lang="en-US" dirty="0"/>
                        <a:t>$1,000,000</a:t>
                      </a:r>
                    </a:p>
                  </a:txBody>
                  <a:tcPr anchor="ctr"/>
                </a:tc>
                <a:tc>
                  <a:txBody>
                    <a:bodyPr/>
                    <a:lstStyle/>
                    <a:p>
                      <a:pPr algn="ctr">
                        <a:spcAft>
                          <a:spcPts val="600"/>
                        </a:spcAft>
                      </a:pPr>
                      <a:r>
                        <a:rPr lang="en-US" dirty="0"/>
                        <a:t>$800,000	</a:t>
                      </a:r>
                    </a:p>
                  </a:txBody>
                  <a:tcPr anchor="ctr"/>
                </a:tc>
                <a:tc>
                  <a:txBody>
                    <a:bodyPr/>
                    <a:lstStyle/>
                    <a:p>
                      <a:pPr algn="ctr"/>
                      <a:r>
                        <a:rPr lang="en-US" dirty="0"/>
                        <a:t>+25%</a:t>
                      </a:r>
                    </a:p>
                  </a:txBody>
                  <a:tcPr anchor="ctr"/>
                </a:tc>
                <a:extLst>
                  <a:ext uri="{0D108BD9-81ED-4DB2-BD59-A6C34878D82A}">
                    <a16:rowId xmlns:a16="http://schemas.microsoft.com/office/drawing/2014/main" val="1031597798"/>
                  </a:ext>
                </a:extLst>
              </a:tr>
              <a:tr h="666749">
                <a:tc>
                  <a:txBody>
                    <a:bodyPr/>
                    <a:lstStyle/>
                    <a:p>
                      <a:pPr marL="274320" algn="ctr"/>
                      <a:r>
                        <a:rPr lang="en-US" dirty="0"/>
                        <a:t>Operating margin</a:t>
                      </a:r>
                    </a:p>
                  </a:txBody>
                  <a:tcPr anchor="ctr"/>
                </a:tc>
                <a:tc>
                  <a:txBody>
                    <a:bodyPr/>
                    <a:lstStyle/>
                    <a:p>
                      <a:pPr algn="ctr">
                        <a:spcAft>
                          <a:spcPts val="600"/>
                        </a:spcAft>
                      </a:pPr>
                      <a:r>
                        <a:rPr lang="en-US" dirty="0"/>
                        <a:t>40%</a:t>
                      </a:r>
                    </a:p>
                  </a:txBody>
                  <a:tcPr anchor="ctr"/>
                </a:tc>
                <a:tc>
                  <a:txBody>
                    <a:bodyPr/>
                    <a:lstStyle/>
                    <a:p>
                      <a:pPr algn="ctr">
                        <a:spcAft>
                          <a:spcPts val="600"/>
                        </a:spcAft>
                      </a:pPr>
                      <a:r>
                        <a:rPr lang="en-US" dirty="0"/>
                        <a:t>36%</a:t>
                      </a:r>
                    </a:p>
                  </a:txBody>
                  <a:tcPr anchor="ctr"/>
                </a:tc>
                <a:tc>
                  <a:txBody>
                    <a:bodyPr/>
                    <a:lstStyle/>
                    <a:p>
                      <a:pPr algn="ctr"/>
                      <a:r>
                        <a:rPr lang="en-US" dirty="0"/>
                        <a:t>+4%</a:t>
                      </a:r>
                    </a:p>
                  </a:txBody>
                  <a:tcPr anchor="ctr"/>
                </a:tc>
                <a:extLst>
                  <a:ext uri="{0D108BD9-81ED-4DB2-BD59-A6C34878D82A}">
                    <a16:rowId xmlns:a16="http://schemas.microsoft.com/office/drawing/2014/main" val="1194376521"/>
                  </a:ext>
                </a:extLst>
              </a:tr>
              <a:tr h="666749">
                <a:tc>
                  <a:txBody>
                    <a:bodyPr/>
                    <a:lstStyle/>
                    <a:p>
                      <a:pPr marL="274320" algn="ctr"/>
                      <a:r>
                        <a:rPr lang="en-US" dirty="0"/>
                        <a:t>Cash reserves</a:t>
                      </a:r>
                    </a:p>
                  </a:txBody>
                  <a:tcPr anchor="ctr"/>
                </a:tc>
                <a:tc>
                  <a:txBody>
                    <a:bodyPr/>
                    <a:lstStyle/>
                    <a:p>
                      <a:pPr algn="ctr">
                        <a:spcAft>
                          <a:spcPts val="600"/>
                        </a:spcAft>
                      </a:pPr>
                      <a:r>
                        <a:rPr lang="en-US" dirty="0"/>
                        <a:t>$5,000,000</a:t>
                      </a:r>
                    </a:p>
                  </a:txBody>
                  <a:tcPr anchor="ctr"/>
                </a:tc>
                <a:tc>
                  <a:txBody>
                    <a:bodyPr/>
                    <a:lstStyle/>
                    <a:p>
                      <a:pPr algn="ctr">
                        <a:spcAft>
                          <a:spcPts val="600"/>
                        </a:spcAft>
                      </a:pPr>
                      <a:r>
                        <a:rPr lang="en-US" dirty="0"/>
                        <a:t>$4,500,000</a:t>
                      </a:r>
                    </a:p>
                  </a:txBody>
                  <a:tcPr anchor="ctr"/>
                </a:tc>
                <a:tc>
                  <a:txBody>
                    <a:bodyPr/>
                    <a:lstStyle/>
                    <a:p>
                      <a:pPr algn="ctr"/>
                      <a:r>
                        <a:rPr lang="en-US" dirty="0"/>
                        <a:t>+11%</a:t>
                      </a:r>
                    </a:p>
                  </a:txBody>
                  <a:tcPr anchor="ctr"/>
                </a:tc>
                <a:extLst>
                  <a:ext uri="{0D108BD9-81ED-4DB2-BD59-A6C34878D82A}">
                    <a16:rowId xmlns:a16="http://schemas.microsoft.com/office/drawing/2014/main" val="1918266800"/>
                  </a:ext>
                </a:extLst>
              </a:tr>
            </a:tbl>
          </a:graphicData>
        </a:graphic>
      </p:graphicFrame>
      <p:sp>
        <p:nvSpPr>
          <p:cNvPr id="3" name="Slide Number Placeholder 2">
            <a:extLst>
              <a:ext uri="{FF2B5EF4-FFF2-40B4-BE49-F238E27FC236}">
                <a16:creationId xmlns:a16="http://schemas.microsoft.com/office/drawing/2014/main" id="{E72D1435-9E6A-5F3A-C02E-7ABBE33226FF}"/>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25</a:t>
            </a:fld>
            <a:endParaRPr lang="en-US" dirty="0"/>
          </a:p>
        </p:txBody>
      </p:sp>
    </p:spTree>
    <p:extLst>
      <p:ext uri="{BB962C8B-B14F-4D97-AF65-F5344CB8AC3E}">
        <p14:creationId xmlns:p14="http://schemas.microsoft.com/office/powerpoint/2010/main" val="2551074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80B411-C43A-6F9F-4E0A-2D77669726BB}"/>
              </a:ext>
            </a:extLst>
          </p:cNvPr>
          <p:cNvSpPr>
            <a:spLocks noGrp="1"/>
          </p:cNvSpPr>
          <p:nvPr>
            <p:ph type="title"/>
          </p:nvPr>
        </p:nvSpPr>
        <p:spPr>
          <a:xfrm>
            <a:off x="5632704" y="795528"/>
            <a:ext cx="6099048" cy="5120640"/>
          </a:xfrm>
        </p:spPr>
        <p:txBody>
          <a:bodyPr/>
          <a:lstStyle/>
          <a:p>
            <a:r>
              <a:rPr lang="en-US" dirty="0"/>
              <a:t>INNOVATIVE</a:t>
            </a:r>
            <a:br>
              <a:rPr lang="en-US" dirty="0"/>
            </a:br>
            <a:r>
              <a:rPr lang="en-US" dirty="0"/>
              <a:t>SOLUTIONS</a:t>
            </a:r>
          </a:p>
        </p:txBody>
      </p:sp>
      <p:pic>
        <p:nvPicPr>
          <p:cNvPr id="6" name="Picture Placeholder 5" descr="A hammock hanging from a palm tree on the beach">
            <a:extLst>
              <a:ext uri="{FF2B5EF4-FFF2-40B4-BE49-F238E27FC236}">
                <a16:creationId xmlns:a16="http://schemas.microsoft.com/office/drawing/2014/main" id="{152E4EE8-CCF1-2631-F29C-C4555FF13096}"/>
              </a:ext>
            </a:extLst>
          </p:cNvPr>
          <p:cNvPicPr>
            <a:picLocks noGrp="1" noChangeAspect="1"/>
          </p:cNvPicPr>
          <p:nvPr>
            <p:ph type="pic" sz="quarter" idx="13"/>
          </p:nvPr>
        </p:nvPicPr>
        <p:blipFill>
          <a:blip r:embed="rId2"/>
          <a:srcRect t="69" b="69"/>
          <a:stretch/>
        </p:blipFill>
        <p:spPr>
          <a:xfrm>
            <a:off x="576072" y="950976"/>
            <a:ext cx="4050792" cy="4965192"/>
          </a:xfrm>
        </p:spPr>
      </p:pic>
    </p:spTree>
    <p:extLst>
      <p:ext uri="{BB962C8B-B14F-4D97-AF65-F5344CB8AC3E}">
        <p14:creationId xmlns:p14="http://schemas.microsoft.com/office/powerpoint/2010/main" val="3087350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31B0D7-DAD1-8AD2-F7B4-83A6863C81F5}"/>
              </a:ext>
            </a:extLst>
          </p:cNvPr>
          <p:cNvSpPr>
            <a:spLocks noGrp="1"/>
          </p:cNvSpPr>
          <p:nvPr>
            <p:ph type="title"/>
          </p:nvPr>
        </p:nvSpPr>
        <p:spPr>
          <a:xfrm>
            <a:off x="777240" y="365760"/>
            <a:ext cx="10890504" cy="1545336"/>
          </a:xfrm>
        </p:spPr>
        <p:txBody>
          <a:bodyPr/>
          <a:lstStyle/>
          <a:p>
            <a:r>
              <a:rPr lang="en-US" dirty="0"/>
              <a:t>Future initiatives </a:t>
            </a:r>
          </a:p>
        </p:txBody>
      </p:sp>
      <p:sp>
        <p:nvSpPr>
          <p:cNvPr id="5" name="Content Placeholder 4">
            <a:extLst>
              <a:ext uri="{FF2B5EF4-FFF2-40B4-BE49-F238E27FC236}">
                <a16:creationId xmlns:a16="http://schemas.microsoft.com/office/drawing/2014/main" id="{E17D3A0F-8DE2-B626-823A-0F9F18E331A5}"/>
              </a:ext>
            </a:extLst>
          </p:cNvPr>
          <p:cNvSpPr>
            <a:spLocks noGrp="1"/>
          </p:cNvSpPr>
          <p:nvPr>
            <p:ph idx="1"/>
          </p:nvPr>
        </p:nvSpPr>
        <p:spPr>
          <a:xfrm>
            <a:off x="777240" y="2093976"/>
            <a:ext cx="5833872" cy="3776472"/>
          </a:xfrm>
        </p:spPr>
        <p:txBody>
          <a:bodyPr/>
          <a:lstStyle/>
          <a:p>
            <a:r>
              <a:rPr lang="en-US" b="1" dirty="0"/>
              <a:t>Product enhancement</a:t>
            </a:r>
            <a:r>
              <a:rPr lang="en-US" dirty="0"/>
              <a:t>. Introduce regular updates and features to enhance product offerings.</a:t>
            </a:r>
          </a:p>
          <a:p>
            <a:r>
              <a:rPr lang="en-US" b="1" dirty="0"/>
              <a:t>Technology integration</a:t>
            </a:r>
            <a:r>
              <a:rPr lang="en-US" dirty="0"/>
              <a:t>. Explore emerging technologies for potential integration into our operations.</a:t>
            </a:r>
          </a:p>
          <a:p>
            <a:r>
              <a:rPr lang="en-US" b="1" dirty="0"/>
              <a:t>Collaborative partnerships</a:t>
            </a:r>
            <a:r>
              <a:rPr lang="en-US" dirty="0"/>
              <a:t>. Foster collaborations with tech innovators and industry leaders to drive innovation.</a:t>
            </a:r>
          </a:p>
          <a:p>
            <a:endParaRPr lang="en-US" dirty="0"/>
          </a:p>
          <a:p>
            <a:endParaRPr lang="en-US" dirty="0"/>
          </a:p>
        </p:txBody>
      </p:sp>
      <p:sp>
        <p:nvSpPr>
          <p:cNvPr id="6" name="Content Placeholder 5">
            <a:extLst>
              <a:ext uri="{FF2B5EF4-FFF2-40B4-BE49-F238E27FC236}">
                <a16:creationId xmlns:a16="http://schemas.microsoft.com/office/drawing/2014/main" id="{E3BD9E4F-8FA1-291D-1AFA-EC832A77665A}"/>
              </a:ext>
            </a:extLst>
          </p:cNvPr>
          <p:cNvSpPr>
            <a:spLocks noGrp="1"/>
          </p:cNvSpPr>
          <p:nvPr>
            <p:ph idx="13"/>
          </p:nvPr>
        </p:nvSpPr>
        <p:spPr>
          <a:xfrm>
            <a:off x="7306056" y="2093976"/>
            <a:ext cx="3172968" cy="3776472"/>
          </a:xfrm>
        </p:spPr>
        <p:txBody>
          <a:bodyPr/>
          <a:lstStyle/>
          <a:p>
            <a:r>
              <a:rPr lang="en-US" dirty="0"/>
              <a:t>Green supply chain</a:t>
            </a:r>
          </a:p>
          <a:p>
            <a:r>
              <a:rPr lang="en-US" dirty="0"/>
              <a:t>Reduced carbon footprint</a:t>
            </a:r>
          </a:p>
          <a:p>
            <a:r>
              <a:rPr lang="en-US" dirty="0"/>
              <a:t>Waste reduction</a:t>
            </a:r>
          </a:p>
          <a:p>
            <a:r>
              <a:rPr lang="en-US" dirty="0"/>
              <a:t>Water conservation</a:t>
            </a:r>
          </a:p>
          <a:p>
            <a:endParaRPr lang="en-US" dirty="0"/>
          </a:p>
        </p:txBody>
      </p:sp>
      <p:sp>
        <p:nvSpPr>
          <p:cNvPr id="3" name="Slide Number Placeholder 2">
            <a:extLst>
              <a:ext uri="{FF2B5EF4-FFF2-40B4-BE49-F238E27FC236}">
                <a16:creationId xmlns:a16="http://schemas.microsoft.com/office/drawing/2014/main" id="{F785354A-49B3-6FB4-DAF4-06FC9566C839}"/>
              </a:ext>
            </a:extLst>
          </p:cNvPr>
          <p:cNvSpPr>
            <a:spLocks noGrp="1"/>
          </p:cNvSpPr>
          <p:nvPr>
            <p:ph type="sldNum" sz="quarter" idx="12"/>
          </p:nvPr>
        </p:nvSpPr>
        <p:spPr>
          <a:xfrm>
            <a:off x="8610600" y="6356350"/>
            <a:ext cx="2743200" cy="365125"/>
          </a:xfrm>
        </p:spPr>
        <p:txBody>
          <a:bodyPr/>
          <a:lstStyle/>
          <a:p>
            <a:fld id="{CBD12358-51D2-46B3-9BDE-DF29528B9454}" type="slidenum">
              <a:rPr lang="en-US" smtClean="0"/>
              <a:pPr/>
              <a:t>27</a:t>
            </a:fld>
            <a:endParaRPr lang="en-US" dirty="0"/>
          </a:p>
        </p:txBody>
      </p:sp>
    </p:spTree>
    <p:extLst>
      <p:ext uri="{BB962C8B-B14F-4D97-AF65-F5344CB8AC3E}">
        <p14:creationId xmlns:p14="http://schemas.microsoft.com/office/powerpoint/2010/main" val="20585038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0CCF9-507A-9B33-F360-5F3A97BF4E61}"/>
              </a:ext>
            </a:extLst>
          </p:cNvPr>
          <p:cNvSpPr>
            <a:spLocks noGrp="1"/>
          </p:cNvSpPr>
          <p:nvPr>
            <p:ph type="title"/>
          </p:nvPr>
        </p:nvSpPr>
        <p:spPr>
          <a:xfrm>
            <a:off x="768096" y="667512"/>
            <a:ext cx="5916168" cy="3666744"/>
          </a:xfrm>
        </p:spPr>
        <p:txBody>
          <a:bodyPr/>
          <a:lstStyle/>
          <a:p>
            <a:r>
              <a:rPr lang="en-US" dirty="0"/>
              <a:t>THANK </a:t>
            </a:r>
            <a:br>
              <a:rPr lang="en-US" dirty="0"/>
            </a:br>
            <a:r>
              <a:rPr lang="en-US" dirty="0"/>
              <a:t>YOU</a:t>
            </a:r>
          </a:p>
        </p:txBody>
      </p:sp>
      <p:sp>
        <p:nvSpPr>
          <p:cNvPr id="3" name="Text Placeholder 2">
            <a:extLst>
              <a:ext uri="{FF2B5EF4-FFF2-40B4-BE49-F238E27FC236}">
                <a16:creationId xmlns:a16="http://schemas.microsoft.com/office/drawing/2014/main" id="{FA394F8A-4651-0476-8C8A-075A356960DE}"/>
              </a:ext>
            </a:extLst>
          </p:cNvPr>
          <p:cNvSpPr>
            <a:spLocks noGrp="1"/>
          </p:cNvSpPr>
          <p:nvPr>
            <p:ph type="body" sz="quarter" idx="10"/>
          </p:nvPr>
        </p:nvSpPr>
        <p:spPr>
          <a:xfrm>
            <a:off x="768096" y="4636008"/>
            <a:ext cx="5276088" cy="1554480"/>
          </a:xfrm>
        </p:spPr>
        <p:txBody>
          <a:bodyPr/>
          <a:lstStyle/>
          <a:p>
            <a:r>
              <a:rPr lang="en-US" dirty="0"/>
              <a:t>Mirjam Nilsson </a:t>
            </a:r>
          </a:p>
          <a:p>
            <a:r>
              <a:rPr lang="en-US" dirty="0"/>
              <a:t>mirjam@contoso.com</a:t>
            </a:r>
          </a:p>
          <a:p>
            <a:r>
              <a:rPr lang="en-US" dirty="0"/>
              <a:t>www.contoso.com​</a:t>
            </a:r>
          </a:p>
          <a:p>
            <a:endParaRPr lang="en-US" dirty="0"/>
          </a:p>
          <a:p>
            <a:endParaRPr lang="en-US" dirty="0"/>
          </a:p>
        </p:txBody>
      </p:sp>
      <p:pic>
        <p:nvPicPr>
          <p:cNvPr id="5" name="Picture Placeholder 4" descr="Aerial view of the beach">
            <a:extLst>
              <a:ext uri="{FF2B5EF4-FFF2-40B4-BE49-F238E27FC236}">
                <a16:creationId xmlns:a16="http://schemas.microsoft.com/office/drawing/2014/main" id="{69435B0A-4EE0-1346-7375-E8C7E1ED6C91}"/>
              </a:ext>
            </a:extLst>
          </p:cNvPr>
          <p:cNvPicPr>
            <a:picLocks noGrp="1" noChangeAspect="1"/>
          </p:cNvPicPr>
          <p:nvPr>
            <p:ph type="pic" sz="quarter" idx="11"/>
          </p:nvPr>
        </p:nvPicPr>
        <p:blipFill>
          <a:blip r:embed="rId2"/>
          <a:srcRect t="69" b="69"/>
          <a:stretch/>
        </p:blipFill>
        <p:spPr>
          <a:xfrm>
            <a:off x="7754112" y="947737"/>
            <a:ext cx="4023360" cy="4962525"/>
          </a:xfrm>
        </p:spPr>
      </p:pic>
    </p:spTree>
    <p:extLst>
      <p:ext uri="{BB962C8B-B14F-4D97-AF65-F5344CB8AC3E}">
        <p14:creationId xmlns:p14="http://schemas.microsoft.com/office/powerpoint/2010/main" val="4165655568"/>
      </p:ext>
    </p:extLst>
  </p:cSld>
  <p:clrMapOvr>
    <a:masterClrMapping/>
  </p:clrMapOvr>
</p:sld>
</file>

<file path=ppt/theme/theme1.xml><?xml version="1.0" encoding="utf-8"?>
<a:theme xmlns:a="http://schemas.openxmlformats.org/drawingml/2006/main" name="Custom">
  <a:themeElements>
    <a:clrScheme name="Custom 17">
      <a:dk1>
        <a:sysClr val="windowText" lastClr="000000"/>
      </a:dk1>
      <a:lt1>
        <a:sysClr val="window" lastClr="FFFFFF"/>
      </a:lt1>
      <a:dk2>
        <a:srgbClr val="44546A"/>
      </a:dk2>
      <a:lt2>
        <a:srgbClr val="E7E6E6"/>
      </a:lt2>
      <a:accent1>
        <a:srgbClr val="BED6DA"/>
      </a:accent1>
      <a:accent2>
        <a:srgbClr val="3E7090"/>
      </a:accent2>
      <a:accent3>
        <a:srgbClr val="93A5A8"/>
      </a:accent3>
      <a:accent4>
        <a:srgbClr val="627272"/>
      </a:accent4>
      <a:accent5>
        <a:srgbClr val="BDA07D"/>
      </a:accent5>
      <a:accent6>
        <a:srgbClr val="D8CAB7"/>
      </a:accent6>
      <a:hlink>
        <a:srgbClr val="0563C1"/>
      </a:hlink>
      <a:folHlink>
        <a:srgbClr val="954F72"/>
      </a:folHlink>
    </a:clrScheme>
    <a:fontScheme name="Custom 24">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468121_win32_CP_V3" id="{DB41292E-DA07-4A60-84D2-21F0B686AF93}" vid="{CD2DD4A9-674C-44A3-BA93-D7C3019ED0B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279BBA1-1277-4614-8DDE-B2EB22751222}">
  <ds:schemaRefs>
    <ds:schemaRef ds:uri="http://schemas.microsoft.com/sharepoint/v3/contenttype/forms"/>
  </ds:schemaRefs>
</ds:datastoreItem>
</file>

<file path=customXml/itemProps2.xml><?xml version="1.0" encoding="utf-8"?>
<ds:datastoreItem xmlns:ds="http://schemas.openxmlformats.org/officeDocument/2006/customXml" ds:itemID="{62AF5DA8-6387-4138-BF96-B65D39F2FC2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E47603A-423C-4B8F-AA3D-8E6FA47105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Coastal presentation</Template>
  <TotalTime>1271</TotalTime>
  <Words>2638</Words>
  <Application>Microsoft Office PowerPoint</Application>
  <PresentationFormat>Widescreen</PresentationFormat>
  <Paragraphs>449</Paragraphs>
  <Slides>28</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28</vt:i4>
      </vt:variant>
    </vt:vector>
  </HeadingPairs>
  <TitlesOfParts>
    <vt:vector size="33" baseType="lpstr">
      <vt:lpstr>Arial</vt:lpstr>
      <vt:lpstr>Calibri</vt:lpstr>
      <vt:lpstr>Carlito</vt:lpstr>
      <vt:lpstr>Segoe UI Light</vt:lpstr>
      <vt:lpstr>Custom</vt:lpstr>
      <vt:lpstr>Avaliação da Cavala (Decapterus macarellus) em cabo verde</vt:lpstr>
      <vt:lpstr>Dados e definições:</vt:lpstr>
      <vt:lpstr>Modelos utilizados</vt:lpstr>
      <vt:lpstr>Estimativas iniciais</vt:lpstr>
      <vt:lpstr>Série base de captura</vt:lpstr>
      <vt:lpstr>História de vida</vt:lpstr>
      <vt:lpstr>Estimativas de r e Bt/k</vt:lpstr>
      <vt:lpstr>Visão geral das hipóteses (r e Bt/k)</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Agenda</vt:lpstr>
      <vt:lpstr>STRATEGIES FOR GROWTH</vt:lpstr>
      <vt:lpstr>Current market analysis</vt:lpstr>
      <vt:lpstr>MARKET EXPANSION</vt:lpstr>
      <vt:lpstr>Dynamic delivery</vt:lpstr>
      <vt:lpstr>Marketing strategies</vt:lpstr>
      <vt:lpstr>Financial overview</vt:lpstr>
      <vt:lpstr>Quarterly targets</vt:lpstr>
      <vt:lpstr>Financial snapshot</vt:lpstr>
      <vt:lpstr>INNOVATIVE SOLUTIONS</vt:lpstr>
      <vt:lpstr>Future initiatives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matheus Lourenço</dc:creator>
  <cp:lastModifiedBy>matheus Lourenço</cp:lastModifiedBy>
  <cp:revision>2</cp:revision>
  <dcterms:created xsi:type="dcterms:W3CDTF">2026-09-13T12:02:48Z</dcterms:created>
  <dcterms:modified xsi:type="dcterms:W3CDTF">2026-09-14T09:14:47Z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